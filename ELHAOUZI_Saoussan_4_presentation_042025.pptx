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2764" autoAdjust="0"/>
    <p:restoredTop sz="94660"/>
  </p:normalViewPr>
  <p:slideViewPr>
    <p:cSldViewPr>
      <p:cViewPr varScale="1">
        <p:scale>
          <a:sx n="60" d="100"/>
          <a:sy n="60" d="100"/>
        </p:scale>
        <p:origin x="974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930059" y="2712959"/>
            <a:ext cx="6552565" cy="3835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53B0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623522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4422" y="7383476"/>
            <a:ext cx="104775" cy="10477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4422" y="7802576"/>
            <a:ext cx="104775" cy="10477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4422" y="8221675"/>
            <a:ext cx="104775" cy="1047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55713" y="89214"/>
            <a:ext cx="18399427" cy="18820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google.com/spreadsheets/d/1DUF2isFWsqVSYhbaACYtbgcLi_YjDqpE3GLQIVgkKQg/edit#gid%3D69851113" TargetMode="Externa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1.jp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1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11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1.jp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43A0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861860" y="511"/>
            <a:ext cx="8426450" cy="10287000"/>
            <a:chOff x="9861860" y="511"/>
            <a:chExt cx="8426450" cy="10287000"/>
          </a:xfrm>
        </p:grpSpPr>
        <p:sp>
          <p:nvSpPr>
            <p:cNvPr id="4" name="object 4"/>
            <p:cNvSpPr/>
            <p:nvPr/>
          </p:nvSpPr>
          <p:spPr>
            <a:xfrm>
              <a:off x="10669010" y="511"/>
              <a:ext cx="7619365" cy="10287000"/>
            </a:xfrm>
            <a:custGeom>
              <a:avLst/>
              <a:gdLst/>
              <a:ahLst/>
              <a:cxnLst/>
              <a:rect l="l" t="t" r="r" b="b"/>
              <a:pathLst>
                <a:path w="7619365" h="10287000">
                  <a:moveTo>
                    <a:pt x="7618990" y="10286487"/>
                  </a:moveTo>
                  <a:lnTo>
                    <a:pt x="0" y="10286487"/>
                  </a:lnTo>
                  <a:lnTo>
                    <a:pt x="267920" y="9088604"/>
                  </a:lnTo>
                  <a:lnTo>
                    <a:pt x="2263526" y="184266"/>
                  </a:lnTo>
                  <a:lnTo>
                    <a:pt x="2282861" y="91364"/>
                  </a:lnTo>
                  <a:lnTo>
                    <a:pt x="2294071" y="45261"/>
                  </a:lnTo>
                  <a:lnTo>
                    <a:pt x="2308633" y="0"/>
                  </a:lnTo>
                  <a:lnTo>
                    <a:pt x="7618990" y="0"/>
                  </a:lnTo>
                  <a:lnTo>
                    <a:pt x="7618990" y="10286487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861860" y="747713"/>
              <a:ext cx="2228850" cy="7686675"/>
            </a:xfrm>
            <a:custGeom>
              <a:avLst/>
              <a:gdLst/>
              <a:ahLst/>
              <a:cxnLst/>
              <a:rect l="l" t="t" r="r" b="b"/>
              <a:pathLst>
                <a:path w="2228850" h="7686675">
                  <a:moveTo>
                    <a:pt x="0" y="0"/>
                  </a:moveTo>
                  <a:lnTo>
                    <a:pt x="2228850" y="0"/>
                  </a:lnTo>
                  <a:lnTo>
                    <a:pt x="2228850" y="76864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2A4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12636" y="748012"/>
              <a:ext cx="7348423" cy="8791407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539420"/>
            <a:ext cx="742949" cy="7429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69994" y="280298"/>
            <a:ext cx="1714499" cy="75247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9472" y="2627376"/>
            <a:ext cx="8650224" cy="403250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001433" y="8135543"/>
            <a:ext cx="2284262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FFFFFF"/>
                </a:solidFill>
                <a:latin typeface="Myriad Pro"/>
                <a:cs typeface="Myriad Pro"/>
              </a:rPr>
              <a:t>Saoussan EL </a:t>
            </a:r>
            <a:r>
              <a:rPr sz="1750" spc="-10" dirty="0">
                <a:solidFill>
                  <a:srgbClr val="FFFFFF"/>
                </a:solidFill>
                <a:latin typeface="Myriad Pro"/>
                <a:cs typeface="Myriad Pro"/>
              </a:rPr>
              <a:t>HAOUZI</a:t>
            </a:r>
            <a:endParaRPr sz="1750" dirty="0">
              <a:latin typeface="Myriad Pro"/>
              <a:cs typeface="Myriad Pr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6612" y="8146922"/>
            <a:ext cx="3754899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65"/>
              </a:lnSpc>
              <a:spcBef>
                <a:spcPts val="100"/>
              </a:spcBef>
            </a:pPr>
            <a:r>
              <a:rPr sz="1750" spc="-10" dirty="0">
                <a:solidFill>
                  <a:srgbClr val="FFFFFF"/>
                </a:solidFill>
                <a:latin typeface="Verdana"/>
                <a:cs typeface="Verdana"/>
              </a:rPr>
              <a:t>Mentor</a:t>
            </a:r>
            <a:r>
              <a:rPr sz="17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-45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75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fr-FR" sz="175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dirty="0">
                <a:solidFill>
                  <a:srgbClr val="FFFFFF"/>
                </a:solidFill>
                <a:latin typeface="Myriad Pro"/>
                <a:cs typeface="Myriad Pro"/>
              </a:rPr>
              <a:t>Mohamed</a:t>
            </a:r>
            <a:r>
              <a:rPr sz="1750" spc="-6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Myriad Pro"/>
                <a:cs typeface="Myriad Pro"/>
              </a:rPr>
              <a:t>DERMOUCH</a:t>
            </a:r>
            <a:endParaRPr sz="1750" dirty="0">
              <a:latin typeface="Myriad Pro"/>
              <a:cs typeface="Myriad Pro"/>
            </a:endParaRPr>
          </a:p>
          <a:p>
            <a:pPr marL="74295">
              <a:lnSpc>
                <a:spcPts val="2065"/>
              </a:lnSpc>
            </a:pPr>
            <a:r>
              <a:rPr sz="1750" spc="-65" dirty="0">
                <a:solidFill>
                  <a:srgbClr val="FFFFFF"/>
                </a:solidFill>
                <a:latin typeface="Verdana"/>
                <a:cs typeface="Verdana"/>
              </a:rPr>
              <a:t>Avril</a:t>
            </a:r>
            <a:r>
              <a:rPr sz="175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Myriad Pro"/>
                <a:cs typeface="Myriad Pro"/>
              </a:rPr>
              <a:t>2025</a:t>
            </a:r>
            <a:endParaRPr sz="1750" dirty="0">
              <a:latin typeface="Myriad Pro"/>
              <a:cs typeface="Myriad Pro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34882" y="1413297"/>
            <a:ext cx="22504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2600" b="0" spc="-100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sz="2600" b="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b="0" spc="-25" dirty="0">
                <a:solidFill>
                  <a:srgbClr val="FFFFFF"/>
                </a:solidFill>
                <a:latin typeface="Verdana"/>
                <a:cs typeface="Verdana"/>
              </a:rPr>
              <a:t>Scientist </a:t>
            </a:r>
            <a:r>
              <a:rPr sz="2600" b="0" spc="-55" dirty="0">
                <a:solidFill>
                  <a:srgbClr val="FFFFFF"/>
                </a:solidFill>
                <a:latin typeface="Verdana"/>
                <a:cs typeface="Verdana"/>
              </a:rPr>
              <a:t>Projet</a:t>
            </a:r>
            <a:r>
              <a:rPr sz="2600" b="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b="0" spc="-50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endParaRPr sz="2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99135" y="2139213"/>
            <a:ext cx="2990850" cy="2535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7100"/>
              </a:lnSpc>
              <a:spcBef>
                <a:spcPts val="100"/>
              </a:spcBef>
            </a:pPr>
            <a:r>
              <a:rPr sz="3500" b="1" spc="-55" dirty="0">
                <a:latin typeface="Tahoma"/>
                <a:cs typeface="Tahoma"/>
              </a:rPr>
              <a:t>Evaluation</a:t>
            </a:r>
            <a:r>
              <a:rPr sz="3500" b="1" spc="-195" dirty="0">
                <a:latin typeface="Tahoma"/>
                <a:cs typeface="Tahoma"/>
              </a:rPr>
              <a:t> </a:t>
            </a:r>
            <a:r>
              <a:rPr sz="3500" b="1" spc="-25" dirty="0">
                <a:latin typeface="Tahoma"/>
                <a:cs typeface="Tahoma"/>
              </a:rPr>
              <a:t>du </a:t>
            </a:r>
            <a:r>
              <a:rPr sz="3500" b="1" spc="120" dirty="0">
                <a:latin typeface="Tahoma"/>
                <a:cs typeface="Tahoma"/>
              </a:rPr>
              <a:t>score</a:t>
            </a:r>
            <a:r>
              <a:rPr sz="3500" b="1" spc="-80" dirty="0">
                <a:latin typeface="Tahoma"/>
                <a:cs typeface="Tahoma"/>
              </a:rPr>
              <a:t> </a:t>
            </a:r>
            <a:r>
              <a:rPr sz="3500" b="1" spc="-10" dirty="0">
                <a:latin typeface="Tahoma"/>
                <a:cs typeface="Tahoma"/>
              </a:rPr>
              <a:t>Energy </a:t>
            </a:r>
            <a:r>
              <a:rPr sz="3500" b="1" spc="-20" dirty="0">
                <a:latin typeface="Tahoma"/>
                <a:cs typeface="Tahoma"/>
              </a:rPr>
              <a:t>Star</a:t>
            </a:r>
            <a:endParaRPr sz="3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60"/>
              </a:spcBef>
            </a:pPr>
            <a:r>
              <a:rPr sz="3500" b="1" spc="35" dirty="0">
                <a:latin typeface="Tahoma"/>
                <a:cs typeface="Tahoma"/>
              </a:rPr>
              <a:t>Conclusion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91679" y="2199563"/>
            <a:ext cx="1153795" cy="4798695"/>
          </a:xfrm>
          <a:custGeom>
            <a:avLst/>
            <a:gdLst/>
            <a:ahLst/>
            <a:cxnLst/>
            <a:rect l="l" t="t" r="r" b="b"/>
            <a:pathLst>
              <a:path w="1153795" h="4798695">
                <a:moveTo>
                  <a:pt x="1153617" y="4019143"/>
                </a:moveTo>
                <a:lnTo>
                  <a:pt x="0" y="4019143"/>
                </a:lnTo>
                <a:lnTo>
                  <a:pt x="0" y="4798580"/>
                </a:lnTo>
                <a:lnTo>
                  <a:pt x="658101" y="4798580"/>
                </a:lnTo>
                <a:lnTo>
                  <a:pt x="668705" y="4796409"/>
                </a:lnTo>
                <a:lnTo>
                  <a:pt x="705993" y="4774552"/>
                </a:lnTo>
                <a:lnTo>
                  <a:pt x="1153617" y="4019143"/>
                </a:lnTo>
                <a:close/>
              </a:path>
              <a:path w="1153795" h="4798695">
                <a:moveTo>
                  <a:pt x="1153617" y="1938032"/>
                </a:moveTo>
                <a:lnTo>
                  <a:pt x="0" y="1938032"/>
                </a:lnTo>
                <a:lnTo>
                  <a:pt x="0" y="2717469"/>
                </a:lnTo>
                <a:lnTo>
                  <a:pt x="658101" y="2717469"/>
                </a:lnTo>
                <a:lnTo>
                  <a:pt x="668705" y="2715298"/>
                </a:lnTo>
                <a:lnTo>
                  <a:pt x="705993" y="2693428"/>
                </a:lnTo>
                <a:lnTo>
                  <a:pt x="1153617" y="1938032"/>
                </a:lnTo>
                <a:close/>
              </a:path>
              <a:path w="1153795" h="4798695">
                <a:moveTo>
                  <a:pt x="1153617" y="0"/>
                </a:moveTo>
                <a:lnTo>
                  <a:pt x="0" y="0"/>
                </a:lnTo>
                <a:lnTo>
                  <a:pt x="0" y="779424"/>
                </a:lnTo>
                <a:lnTo>
                  <a:pt x="658101" y="779424"/>
                </a:lnTo>
                <a:lnTo>
                  <a:pt x="668705" y="777252"/>
                </a:lnTo>
                <a:lnTo>
                  <a:pt x="705993" y="755396"/>
                </a:lnTo>
                <a:lnTo>
                  <a:pt x="1153617" y="0"/>
                </a:lnTo>
                <a:close/>
              </a:path>
            </a:pathLst>
          </a:custGeom>
          <a:solidFill>
            <a:srgbClr val="01A5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358227" y="2199551"/>
            <a:ext cx="1153795" cy="779780"/>
          </a:xfrm>
          <a:custGeom>
            <a:avLst/>
            <a:gdLst/>
            <a:ahLst/>
            <a:cxnLst/>
            <a:rect l="l" t="t" r="r" b="b"/>
            <a:pathLst>
              <a:path w="1153794" h="779780">
                <a:moveTo>
                  <a:pt x="658090" y="779433"/>
                </a:moveTo>
                <a:lnTo>
                  <a:pt x="0" y="779433"/>
                </a:lnTo>
                <a:lnTo>
                  <a:pt x="0" y="0"/>
                </a:lnTo>
                <a:lnTo>
                  <a:pt x="1153607" y="0"/>
                </a:lnTo>
                <a:lnTo>
                  <a:pt x="719008" y="737918"/>
                </a:lnTo>
                <a:lnTo>
                  <a:pt x="688774" y="768771"/>
                </a:lnTo>
                <a:lnTo>
                  <a:pt x="658090" y="779433"/>
                </a:lnTo>
                <a:close/>
              </a:path>
            </a:pathLst>
          </a:custGeom>
          <a:solidFill>
            <a:srgbClr val="01A5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357337" y="4137588"/>
            <a:ext cx="1153795" cy="779780"/>
          </a:xfrm>
          <a:custGeom>
            <a:avLst/>
            <a:gdLst/>
            <a:ahLst/>
            <a:cxnLst/>
            <a:rect l="l" t="t" r="r" b="b"/>
            <a:pathLst>
              <a:path w="1153794" h="779779">
                <a:moveTo>
                  <a:pt x="658090" y="779433"/>
                </a:moveTo>
                <a:lnTo>
                  <a:pt x="0" y="779433"/>
                </a:lnTo>
                <a:lnTo>
                  <a:pt x="0" y="0"/>
                </a:lnTo>
                <a:lnTo>
                  <a:pt x="1153608" y="0"/>
                </a:lnTo>
                <a:lnTo>
                  <a:pt x="719009" y="737918"/>
                </a:lnTo>
                <a:lnTo>
                  <a:pt x="688773" y="768771"/>
                </a:lnTo>
                <a:lnTo>
                  <a:pt x="658090" y="779433"/>
                </a:lnTo>
                <a:close/>
              </a:path>
            </a:pathLst>
          </a:custGeom>
          <a:solidFill>
            <a:srgbClr val="01A5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432600" y="2141127"/>
            <a:ext cx="3414395" cy="1539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6900"/>
              </a:lnSpc>
              <a:spcBef>
                <a:spcPts val="95"/>
              </a:spcBef>
            </a:pPr>
            <a:r>
              <a:rPr sz="3100" b="1" spc="-20" dirty="0">
                <a:latin typeface="Tahoma"/>
                <a:cs typeface="Tahoma"/>
              </a:rPr>
              <a:t>Problématique</a:t>
            </a:r>
            <a:r>
              <a:rPr sz="3100" b="1" spc="-155" dirty="0">
                <a:latin typeface="Tahoma"/>
                <a:cs typeface="Tahoma"/>
              </a:rPr>
              <a:t> </a:t>
            </a:r>
            <a:r>
              <a:rPr sz="3100" b="1" spc="-25" dirty="0">
                <a:latin typeface="Tahoma"/>
                <a:cs typeface="Tahoma"/>
              </a:rPr>
              <a:t>et </a:t>
            </a:r>
            <a:r>
              <a:rPr sz="3100" b="1" dirty="0">
                <a:latin typeface="Tahoma"/>
                <a:cs typeface="Tahoma"/>
              </a:rPr>
              <a:t>Découvertes</a:t>
            </a:r>
            <a:r>
              <a:rPr sz="3100" b="1" spc="229" dirty="0">
                <a:latin typeface="Tahoma"/>
                <a:cs typeface="Tahoma"/>
              </a:rPr>
              <a:t> </a:t>
            </a:r>
            <a:r>
              <a:rPr sz="3100" b="1" spc="85" dirty="0">
                <a:latin typeface="Tahoma"/>
                <a:cs typeface="Tahoma"/>
              </a:rPr>
              <a:t>des </a:t>
            </a:r>
            <a:r>
              <a:rPr sz="3100" b="1" spc="-10" dirty="0">
                <a:latin typeface="Tahoma"/>
                <a:cs typeface="Tahoma"/>
              </a:rPr>
              <a:t>données</a:t>
            </a:r>
            <a:endParaRPr sz="3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32600" y="4077251"/>
            <a:ext cx="290893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sz="3500" b="1" spc="-10" dirty="0">
                <a:latin typeface="Tahoma"/>
                <a:cs typeface="Tahoma"/>
              </a:rPr>
              <a:t>Préparation </a:t>
            </a:r>
            <a:r>
              <a:rPr sz="3500" b="1" spc="130" dirty="0">
                <a:latin typeface="Tahoma"/>
                <a:cs typeface="Tahoma"/>
              </a:rPr>
              <a:t>des</a:t>
            </a:r>
            <a:r>
              <a:rPr sz="3500" b="1" spc="-85" dirty="0">
                <a:latin typeface="Tahoma"/>
                <a:cs typeface="Tahoma"/>
              </a:rPr>
              <a:t> </a:t>
            </a:r>
            <a:r>
              <a:rPr sz="3500" b="1" spc="40" dirty="0">
                <a:latin typeface="Tahoma"/>
                <a:cs typeface="Tahoma"/>
              </a:rPr>
              <a:t>données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32600" y="6196545"/>
            <a:ext cx="316547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-10" dirty="0">
                <a:latin typeface="Tahoma"/>
                <a:cs typeface="Tahoma"/>
              </a:rPr>
              <a:t>Modélisations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22222" y="2294387"/>
            <a:ext cx="14986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-76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22222" y="4241948"/>
            <a:ext cx="2743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-740" dirty="0">
                <a:solidFill>
                  <a:srgbClr val="FFFFFF"/>
                </a:solidFill>
                <a:latin typeface="Tahoma"/>
                <a:cs typeface="Tahoma"/>
              </a:rPr>
              <a:t>II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22222" y="6323065"/>
            <a:ext cx="39878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-740" dirty="0">
                <a:solidFill>
                  <a:srgbClr val="FFFFFF"/>
                </a:solidFill>
                <a:latin typeface="Tahoma"/>
                <a:cs typeface="Tahoma"/>
              </a:rPr>
              <a:t>III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06924" y="2303912"/>
            <a:ext cx="46228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-335" dirty="0">
                <a:solidFill>
                  <a:srgbClr val="FFFFFF"/>
                </a:solidFill>
                <a:latin typeface="Tahoma"/>
                <a:cs typeface="Tahoma"/>
              </a:rPr>
              <a:t>IV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06924" y="4241948"/>
            <a:ext cx="3378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40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0"/>
            <a:ext cx="7394575" cy="10286365"/>
          </a:xfrm>
          <a:custGeom>
            <a:avLst/>
            <a:gdLst/>
            <a:ahLst/>
            <a:cxnLst/>
            <a:rect l="l" t="t" r="r" b="b"/>
            <a:pathLst>
              <a:path w="7394575" h="10286365">
                <a:moveTo>
                  <a:pt x="0" y="10285772"/>
                </a:moveTo>
                <a:lnTo>
                  <a:pt x="0" y="0"/>
                </a:lnTo>
                <a:lnTo>
                  <a:pt x="7394004" y="0"/>
                </a:lnTo>
                <a:lnTo>
                  <a:pt x="5291762" y="9381660"/>
                </a:lnTo>
                <a:lnTo>
                  <a:pt x="5088055" y="10285447"/>
                </a:lnTo>
                <a:lnTo>
                  <a:pt x="0" y="10285772"/>
                </a:lnTo>
                <a:close/>
              </a:path>
            </a:pathLst>
          </a:custGeom>
          <a:solidFill>
            <a:srgbClr val="153B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20531" rIns="0" bIns="0" rtlCol="0">
            <a:spAutoFit/>
          </a:bodyPr>
          <a:lstStyle/>
          <a:p>
            <a:pPr marL="1083945">
              <a:lnSpc>
                <a:spcPct val="100000"/>
              </a:lnSpc>
              <a:spcBef>
                <a:spcPts val="100"/>
              </a:spcBef>
            </a:pPr>
            <a:r>
              <a:rPr sz="5400" spc="-40" dirty="0">
                <a:solidFill>
                  <a:srgbClr val="FFFFFF"/>
                </a:solidFill>
                <a:latin typeface="Tahoma"/>
                <a:cs typeface="Tahoma"/>
              </a:rPr>
              <a:t>Sommaire</a:t>
            </a:r>
            <a:endParaRPr sz="5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28700" y="846636"/>
            <a:ext cx="7414895" cy="8810625"/>
            <a:chOff x="1028700" y="846636"/>
            <a:chExt cx="7414895" cy="8810625"/>
          </a:xfrm>
        </p:grpSpPr>
        <p:sp>
          <p:nvSpPr>
            <p:cNvPr id="4" name="object 4"/>
            <p:cNvSpPr/>
            <p:nvPr/>
          </p:nvSpPr>
          <p:spPr>
            <a:xfrm>
              <a:off x="1613916" y="1474229"/>
              <a:ext cx="6829425" cy="8182609"/>
            </a:xfrm>
            <a:custGeom>
              <a:avLst/>
              <a:gdLst/>
              <a:ahLst/>
              <a:cxnLst/>
              <a:rect l="l" t="t" r="r" b="b"/>
              <a:pathLst>
                <a:path w="6829425" h="8182609">
                  <a:moveTo>
                    <a:pt x="19233" y="8181603"/>
                  </a:moveTo>
                  <a:lnTo>
                    <a:pt x="14618" y="8181222"/>
                  </a:lnTo>
                  <a:lnTo>
                    <a:pt x="5669" y="8176752"/>
                  </a:lnTo>
                  <a:lnTo>
                    <a:pt x="1209" y="8167773"/>
                  </a:lnTo>
                  <a:lnTo>
                    <a:pt x="0" y="8153037"/>
                  </a:lnTo>
                  <a:lnTo>
                    <a:pt x="0" y="28791"/>
                  </a:lnTo>
                  <a:lnTo>
                    <a:pt x="1209" y="14054"/>
                  </a:lnTo>
                  <a:lnTo>
                    <a:pt x="5669" y="5076"/>
                  </a:lnTo>
                  <a:lnTo>
                    <a:pt x="14618" y="605"/>
                  </a:lnTo>
                  <a:lnTo>
                    <a:pt x="21953" y="0"/>
                  </a:lnTo>
                  <a:lnTo>
                    <a:pt x="6829303" y="0"/>
                  </a:lnTo>
                  <a:lnTo>
                    <a:pt x="6829303" y="1988"/>
                  </a:lnTo>
                  <a:lnTo>
                    <a:pt x="6824971" y="23475"/>
                  </a:lnTo>
                  <a:lnTo>
                    <a:pt x="5151062" y="7494814"/>
                  </a:lnTo>
                  <a:lnTo>
                    <a:pt x="5106887" y="7691104"/>
                  </a:lnTo>
                  <a:lnTo>
                    <a:pt x="4996337" y="8181222"/>
                  </a:lnTo>
                  <a:lnTo>
                    <a:pt x="19233" y="8181603"/>
                  </a:lnTo>
                  <a:close/>
                </a:path>
                <a:path w="6829425" h="8182609">
                  <a:moveTo>
                    <a:pt x="29296" y="8182435"/>
                  </a:moveTo>
                  <a:lnTo>
                    <a:pt x="0" y="8182435"/>
                  </a:lnTo>
                  <a:lnTo>
                    <a:pt x="0" y="8181603"/>
                  </a:lnTo>
                  <a:lnTo>
                    <a:pt x="19233" y="8181603"/>
                  </a:lnTo>
                  <a:lnTo>
                    <a:pt x="29296" y="8182435"/>
                  </a:lnTo>
                  <a:close/>
                </a:path>
              </a:pathLst>
            </a:custGeom>
            <a:solidFill>
              <a:srgbClr val="143A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846636"/>
              <a:ext cx="6492212" cy="7781873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8994001" y="4665864"/>
            <a:ext cx="8105775" cy="0"/>
          </a:xfrm>
          <a:custGeom>
            <a:avLst/>
            <a:gdLst/>
            <a:ahLst/>
            <a:cxnLst/>
            <a:rect l="l" t="t" r="r" b="b"/>
            <a:pathLst>
              <a:path w="8105775">
                <a:moveTo>
                  <a:pt x="0" y="0"/>
                </a:moveTo>
                <a:lnTo>
                  <a:pt x="81057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751634" y="3787204"/>
            <a:ext cx="620395" cy="716280"/>
            <a:chOff x="8751634" y="3787204"/>
            <a:chExt cx="620395" cy="716280"/>
          </a:xfrm>
        </p:grpSpPr>
        <p:sp>
          <p:nvSpPr>
            <p:cNvPr id="8" name="object 8"/>
            <p:cNvSpPr/>
            <p:nvPr/>
          </p:nvSpPr>
          <p:spPr>
            <a:xfrm>
              <a:off x="8751938" y="3787215"/>
              <a:ext cx="619760" cy="716280"/>
            </a:xfrm>
            <a:custGeom>
              <a:avLst/>
              <a:gdLst/>
              <a:ahLst/>
              <a:cxnLst/>
              <a:rect l="l" t="t" r="r" b="b"/>
              <a:pathLst>
                <a:path w="619759" h="716279">
                  <a:moveTo>
                    <a:pt x="544055" y="253288"/>
                  </a:moveTo>
                  <a:lnTo>
                    <a:pt x="537057" y="218249"/>
                  </a:lnTo>
                  <a:lnTo>
                    <a:pt x="537057" y="272503"/>
                  </a:lnTo>
                  <a:lnTo>
                    <a:pt x="532307" y="318541"/>
                  </a:lnTo>
                  <a:lnTo>
                    <a:pt x="518833" y="368414"/>
                  </a:lnTo>
                  <a:lnTo>
                    <a:pt x="496824" y="420344"/>
                  </a:lnTo>
                  <a:lnTo>
                    <a:pt x="466458" y="472516"/>
                  </a:lnTo>
                  <a:lnTo>
                    <a:pt x="435368" y="514248"/>
                  </a:lnTo>
                  <a:lnTo>
                    <a:pt x="401434" y="550735"/>
                  </a:lnTo>
                  <a:lnTo>
                    <a:pt x="365531" y="581152"/>
                  </a:lnTo>
                  <a:lnTo>
                    <a:pt x="328485" y="604697"/>
                  </a:lnTo>
                  <a:lnTo>
                    <a:pt x="292849" y="619899"/>
                  </a:lnTo>
                  <a:lnTo>
                    <a:pt x="260172" y="626351"/>
                  </a:lnTo>
                  <a:lnTo>
                    <a:pt x="259334" y="626351"/>
                  </a:lnTo>
                  <a:lnTo>
                    <a:pt x="205359" y="613079"/>
                  </a:lnTo>
                  <a:lnTo>
                    <a:pt x="169583" y="556425"/>
                  </a:lnTo>
                  <a:lnTo>
                    <a:pt x="165430" y="516026"/>
                  </a:lnTo>
                  <a:lnTo>
                    <a:pt x="170180" y="470001"/>
                  </a:lnTo>
                  <a:lnTo>
                    <a:pt x="183667" y="420128"/>
                  </a:lnTo>
                  <a:lnTo>
                    <a:pt x="205676" y="368198"/>
                  </a:lnTo>
                  <a:lnTo>
                    <a:pt x="236042" y="316014"/>
                  </a:lnTo>
                  <a:lnTo>
                    <a:pt x="269354" y="271653"/>
                  </a:lnTo>
                  <a:lnTo>
                    <a:pt x="305231" y="233883"/>
                  </a:lnTo>
                  <a:lnTo>
                    <a:pt x="342455" y="203365"/>
                  </a:lnTo>
                  <a:lnTo>
                    <a:pt x="379793" y="180746"/>
                  </a:lnTo>
                  <a:lnTo>
                    <a:pt x="416039" y="166700"/>
                  </a:lnTo>
                  <a:lnTo>
                    <a:pt x="449973" y="161874"/>
                  </a:lnTo>
                  <a:lnTo>
                    <a:pt x="462546" y="162509"/>
                  </a:lnTo>
                  <a:lnTo>
                    <a:pt x="519658" y="199174"/>
                  </a:lnTo>
                  <a:lnTo>
                    <a:pt x="537057" y="272503"/>
                  </a:lnTo>
                  <a:lnTo>
                    <a:pt x="537057" y="218249"/>
                  </a:lnTo>
                  <a:lnTo>
                    <a:pt x="501497" y="168935"/>
                  </a:lnTo>
                  <a:lnTo>
                    <a:pt x="442976" y="154228"/>
                  </a:lnTo>
                  <a:lnTo>
                    <a:pt x="408038" y="160909"/>
                  </a:lnTo>
                  <a:lnTo>
                    <a:pt x="370382" y="176872"/>
                  </a:lnTo>
                  <a:lnTo>
                    <a:pt x="332511" y="200914"/>
                  </a:lnTo>
                  <a:lnTo>
                    <a:pt x="295846" y="231940"/>
                  </a:lnTo>
                  <a:lnTo>
                    <a:pt x="261239" y="269113"/>
                  </a:lnTo>
                  <a:lnTo>
                    <a:pt x="229565" y="311619"/>
                  </a:lnTo>
                  <a:lnTo>
                    <a:pt x="202488" y="357251"/>
                  </a:lnTo>
                  <a:lnTo>
                    <a:pt x="181394" y="403606"/>
                  </a:lnTo>
                  <a:lnTo>
                    <a:pt x="166725" y="449567"/>
                  </a:lnTo>
                  <a:lnTo>
                    <a:pt x="158915" y="494030"/>
                  </a:lnTo>
                  <a:lnTo>
                    <a:pt x="158445" y="535241"/>
                  </a:lnTo>
                  <a:lnTo>
                    <a:pt x="165468" y="570433"/>
                  </a:lnTo>
                  <a:lnTo>
                    <a:pt x="201002" y="619607"/>
                  </a:lnTo>
                  <a:lnTo>
                    <a:pt x="238696" y="633806"/>
                  </a:lnTo>
                  <a:lnTo>
                    <a:pt x="252412" y="634530"/>
                  </a:lnTo>
                  <a:lnTo>
                    <a:pt x="270979" y="633095"/>
                  </a:lnTo>
                  <a:lnTo>
                    <a:pt x="310972" y="621652"/>
                  </a:lnTo>
                  <a:lnTo>
                    <a:pt x="369976" y="587616"/>
                  </a:lnTo>
                  <a:lnTo>
                    <a:pt x="406641" y="556602"/>
                  </a:lnTo>
                  <a:lnTo>
                    <a:pt x="441248" y="519417"/>
                  </a:lnTo>
                  <a:lnTo>
                    <a:pt x="472935" y="476923"/>
                  </a:lnTo>
                  <a:lnTo>
                    <a:pt x="500011" y="431292"/>
                  </a:lnTo>
                  <a:lnTo>
                    <a:pt x="521093" y="384937"/>
                  </a:lnTo>
                  <a:lnTo>
                    <a:pt x="535762" y="338975"/>
                  </a:lnTo>
                  <a:lnTo>
                    <a:pt x="543585" y="294513"/>
                  </a:lnTo>
                  <a:lnTo>
                    <a:pt x="544055" y="253288"/>
                  </a:lnTo>
                  <a:close/>
                </a:path>
                <a:path w="619759" h="716279">
                  <a:moveTo>
                    <a:pt x="619467" y="256413"/>
                  </a:moveTo>
                  <a:lnTo>
                    <a:pt x="619442" y="255930"/>
                  </a:lnTo>
                  <a:lnTo>
                    <a:pt x="617664" y="198894"/>
                  </a:lnTo>
                  <a:lnTo>
                    <a:pt x="611657" y="174574"/>
                  </a:lnTo>
                  <a:lnTo>
                    <a:pt x="611657" y="255930"/>
                  </a:lnTo>
                  <a:lnTo>
                    <a:pt x="611606" y="256413"/>
                  </a:lnTo>
                  <a:lnTo>
                    <a:pt x="605650" y="304482"/>
                  </a:lnTo>
                  <a:lnTo>
                    <a:pt x="593318" y="354330"/>
                  </a:lnTo>
                  <a:lnTo>
                    <a:pt x="574967" y="404685"/>
                  </a:lnTo>
                  <a:lnTo>
                    <a:pt x="550875" y="454787"/>
                  </a:lnTo>
                  <a:lnTo>
                    <a:pt x="521322" y="503847"/>
                  </a:lnTo>
                  <a:lnTo>
                    <a:pt x="487426" y="549960"/>
                  </a:lnTo>
                  <a:lnTo>
                    <a:pt x="450507" y="591350"/>
                  </a:lnTo>
                  <a:lnTo>
                    <a:pt x="411200" y="627481"/>
                  </a:lnTo>
                  <a:lnTo>
                    <a:pt x="370090" y="657771"/>
                  </a:lnTo>
                  <a:lnTo>
                    <a:pt x="327799" y="681685"/>
                  </a:lnTo>
                  <a:lnTo>
                    <a:pt x="276288" y="701001"/>
                  </a:lnTo>
                  <a:lnTo>
                    <a:pt x="228206" y="708101"/>
                  </a:lnTo>
                  <a:lnTo>
                    <a:pt x="184658" y="702945"/>
                  </a:lnTo>
                  <a:lnTo>
                    <a:pt x="146773" y="685507"/>
                  </a:lnTo>
                  <a:lnTo>
                    <a:pt x="116509" y="656640"/>
                  </a:lnTo>
                  <a:lnTo>
                    <a:pt x="95377" y="617880"/>
                  </a:lnTo>
                  <a:lnTo>
                    <a:pt x="83769" y="570242"/>
                  </a:lnTo>
                  <a:lnTo>
                    <a:pt x="82105" y="514807"/>
                  </a:lnTo>
                  <a:lnTo>
                    <a:pt x="82156" y="514350"/>
                  </a:lnTo>
                  <a:lnTo>
                    <a:pt x="88112" y="466267"/>
                  </a:lnTo>
                  <a:lnTo>
                    <a:pt x="100444" y="416420"/>
                  </a:lnTo>
                  <a:lnTo>
                    <a:pt x="118795" y="366052"/>
                  </a:lnTo>
                  <a:lnTo>
                    <a:pt x="142887" y="315963"/>
                  </a:lnTo>
                  <a:lnTo>
                    <a:pt x="172453" y="266903"/>
                  </a:lnTo>
                  <a:lnTo>
                    <a:pt x="206349" y="220789"/>
                  </a:lnTo>
                  <a:lnTo>
                    <a:pt x="243255" y="179400"/>
                  </a:lnTo>
                  <a:lnTo>
                    <a:pt x="282575" y="143268"/>
                  </a:lnTo>
                  <a:lnTo>
                    <a:pt x="323684" y="112979"/>
                  </a:lnTo>
                  <a:lnTo>
                    <a:pt x="365975" y="89065"/>
                  </a:lnTo>
                  <a:lnTo>
                    <a:pt x="419455" y="69240"/>
                  </a:lnTo>
                  <a:lnTo>
                    <a:pt x="469163" y="62636"/>
                  </a:lnTo>
                  <a:lnTo>
                    <a:pt x="490550" y="64033"/>
                  </a:lnTo>
                  <a:lnTo>
                    <a:pt x="529577" y="75336"/>
                  </a:lnTo>
                  <a:lnTo>
                    <a:pt x="577265" y="114109"/>
                  </a:lnTo>
                  <a:lnTo>
                    <a:pt x="598398" y="152869"/>
                  </a:lnTo>
                  <a:lnTo>
                    <a:pt x="609993" y="200494"/>
                  </a:lnTo>
                  <a:lnTo>
                    <a:pt x="611657" y="255930"/>
                  </a:lnTo>
                  <a:lnTo>
                    <a:pt x="611657" y="174574"/>
                  </a:lnTo>
                  <a:lnTo>
                    <a:pt x="605434" y="149377"/>
                  </a:lnTo>
                  <a:lnTo>
                    <a:pt x="583196" y="108966"/>
                  </a:lnTo>
                  <a:lnTo>
                    <a:pt x="552627" y="79933"/>
                  </a:lnTo>
                  <a:lnTo>
                    <a:pt x="552323" y="79413"/>
                  </a:lnTo>
                  <a:lnTo>
                    <a:pt x="551370" y="78727"/>
                  </a:lnTo>
                  <a:lnTo>
                    <a:pt x="544042" y="73355"/>
                  </a:lnTo>
                  <a:lnTo>
                    <a:pt x="536536" y="67729"/>
                  </a:lnTo>
                  <a:lnTo>
                    <a:pt x="517296" y="53124"/>
                  </a:lnTo>
                  <a:lnTo>
                    <a:pt x="517296" y="62979"/>
                  </a:lnTo>
                  <a:lnTo>
                    <a:pt x="516534" y="62623"/>
                  </a:lnTo>
                  <a:lnTo>
                    <a:pt x="511619" y="60350"/>
                  </a:lnTo>
                  <a:lnTo>
                    <a:pt x="466140" y="54775"/>
                  </a:lnTo>
                  <a:lnTo>
                    <a:pt x="416090" y="61988"/>
                  </a:lnTo>
                  <a:lnTo>
                    <a:pt x="362610" y="81965"/>
                  </a:lnTo>
                  <a:lnTo>
                    <a:pt x="319595" y="106273"/>
                  </a:lnTo>
                  <a:lnTo>
                    <a:pt x="277799" y="137045"/>
                  </a:lnTo>
                  <a:lnTo>
                    <a:pt x="237858" y="173723"/>
                  </a:lnTo>
                  <a:lnTo>
                    <a:pt x="200380" y="215734"/>
                  </a:lnTo>
                  <a:lnTo>
                    <a:pt x="165976" y="262509"/>
                  </a:lnTo>
                  <a:lnTo>
                    <a:pt x="135991" y="312280"/>
                  </a:lnTo>
                  <a:lnTo>
                    <a:pt x="111556" y="363143"/>
                  </a:lnTo>
                  <a:lnTo>
                    <a:pt x="92925" y="414312"/>
                  </a:lnTo>
                  <a:lnTo>
                    <a:pt x="80429" y="464972"/>
                  </a:lnTo>
                  <a:lnTo>
                    <a:pt x="74320" y="514350"/>
                  </a:lnTo>
                  <a:lnTo>
                    <a:pt x="74333" y="514807"/>
                  </a:lnTo>
                  <a:lnTo>
                    <a:pt x="76123" y="571868"/>
                  </a:lnTo>
                  <a:lnTo>
                    <a:pt x="88353" y="621385"/>
                  </a:lnTo>
                  <a:lnTo>
                    <a:pt x="107696" y="656564"/>
                  </a:lnTo>
                  <a:lnTo>
                    <a:pt x="91605" y="644461"/>
                  </a:lnTo>
                  <a:lnTo>
                    <a:pt x="81978" y="637336"/>
                  </a:lnTo>
                  <a:lnTo>
                    <a:pt x="71869" y="629996"/>
                  </a:lnTo>
                  <a:lnTo>
                    <a:pt x="42011" y="600265"/>
                  </a:lnTo>
                  <a:lnTo>
                    <a:pt x="21107" y="561022"/>
                  </a:lnTo>
                  <a:lnTo>
                    <a:pt x="9575" y="513334"/>
                  </a:lnTo>
                  <a:lnTo>
                    <a:pt x="7797" y="458228"/>
                  </a:lnTo>
                  <a:lnTo>
                    <a:pt x="13677" y="409879"/>
                  </a:lnTo>
                  <a:lnTo>
                    <a:pt x="25857" y="360248"/>
                  </a:lnTo>
                  <a:lnTo>
                    <a:pt x="44069" y="310095"/>
                  </a:lnTo>
                  <a:lnTo>
                    <a:pt x="68033" y="260184"/>
                  </a:lnTo>
                  <a:lnTo>
                    <a:pt x="97459" y="211315"/>
                  </a:lnTo>
                  <a:lnTo>
                    <a:pt x="132168" y="164249"/>
                  </a:lnTo>
                  <a:lnTo>
                    <a:pt x="169557" y="122605"/>
                  </a:lnTo>
                  <a:lnTo>
                    <a:pt x="208851" y="86753"/>
                  </a:lnTo>
                  <a:lnTo>
                    <a:pt x="249275" y="57073"/>
                  </a:lnTo>
                  <a:lnTo>
                    <a:pt x="290042" y="33934"/>
                  </a:lnTo>
                  <a:lnTo>
                    <a:pt x="330403" y="17729"/>
                  </a:lnTo>
                  <a:lnTo>
                    <a:pt x="369544" y="8813"/>
                  </a:lnTo>
                  <a:lnTo>
                    <a:pt x="406717" y="7581"/>
                  </a:lnTo>
                  <a:lnTo>
                    <a:pt x="441134" y="14414"/>
                  </a:lnTo>
                  <a:lnTo>
                    <a:pt x="483069" y="37388"/>
                  </a:lnTo>
                  <a:lnTo>
                    <a:pt x="517296" y="62979"/>
                  </a:lnTo>
                  <a:lnTo>
                    <a:pt x="517296" y="53124"/>
                  </a:lnTo>
                  <a:lnTo>
                    <a:pt x="476364" y="23126"/>
                  </a:lnTo>
                  <a:lnTo>
                    <a:pt x="408800" y="0"/>
                  </a:lnTo>
                  <a:lnTo>
                    <a:pt x="370446" y="990"/>
                  </a:lnTo>
                  <a:lnTo>
                    <a:pt x="330085" y="9855"/>
                  </a:lnTo>
                  <a:lnTo>
                    <a:pt x="288544" y="26212"/>
                  </a:lnTo>
                  <a:lnTo>
                    <a:pt x="246621" y="49669"/>
                  </a:lnTo>
                  <a:lnTo>
                    <a:pt x="205092" y="79844"/>
                  </a:lnTo>
                  <a:lnTo>
                    <a:pt x="164782" y="116370"/>
                  </a:lnTo>
                  <a:lnTo>
                    <a:pt x="126479" y="158864"/>
                  </a:lnTo>
                  <a:lnTo>
                    <a:pt x="90982" y="206921"/>
                  </a:lnTo>
                  <a:lnTo>
                    <a:pt x="61125" y="256514"/>
                  </a:lnTo>
                  <a:lnTo>
                    <a:pt x="36817" y="307187"/>
                  </a:lnTo>
                  <a:lnTo>
                    <a:pt x="18338" y="358140"/>
                  </a:lnTo>
                  <a:lnTo>
                    <a:pt x="5969" y="408609"/>
                  </a:lnTo>
                  <a:lnTo>
                    <a:pt x="0" y="457784"/>
                  </a:lnTo>
                  <a:lnTo>
                    <a:pt x="1917" y="514908"/>
                  </a:lnTo>
                  <a:lnTo>
                    <a:pt x="14046" y="564451"/>
                  </a:lnTo>
                  <a:lnTo>
                    <a:pt x="35991" y="605307"/>
                  </a:lnTo>
                  <a:lnTo>
                    <a:pt x="67348" y="636409"/>
                  </a:lnTo>
                  <a:lnTo>
                    <a:pt x="77406" y="643712"/>
                  </a:lnTo>
                  <a:lnTo>
                    <a:pt x="86982" y="650811"/>
                  </a:lnTo>
                  <a:lnTo>
                    <a:pt x="121183" y="676516"/>
                  </a:lnTo>
                  <a:lnTo>
                    <a:pt x="129159" y="682421"/>
                  </a:lnTo>
                  <a:lnTo>
                    <a:pt x="137934" y="688809"/>
                  </a:lnTo>
                  <a:lnTo>
                    <a:pt x="138684" y="689063"/>
                  </a:lnTo>
                  <a:lnTo>
                    <a:pt x="139280" y="689063"/>
                  </a:lnTo>
                  <a:lnTo>
                    <a:pt x="142417" y="692035"/>
                  </a:lnTo>
                  <a:lnTo>
                    <a:pt x="160858" y="702538"/>
                  </a:lnTo>
                  <a:lnTo>
                    <a:pt x="180771" y="710031"/>
                  </a:lnTo>
                  <a:lnTo>
                    <a:pt x="202044" y="714514"/>
                  </a:lnTo>
                  <a:lnTo>
                    <a:pt x="224548" y="716013"/>
                  </a:lnTo>
                  <a:lnTo>
                    <a:pt x="249732" y="714311"/>
                  </a:lnTo>
                  <a:lnTo>
                    <a:pt x="303199" y="700697"/>
                  </a:lnTo>
                  <a:lnTo>
                    <a:pt x="374180" y="664489"/>
                  </a:lnTo>
                  <a:lnTo>
                    <a:pt x="415975" y="633717"/>
                  </a:lnTo>
                  <a:lnTo>
                    <a:pt x="455917" y="597039"/>
                  </a:lnTo>
                  <a:lnTo>
                    <a:pt x="493407" y="555040"/>
                  </a:lnTo>
                  <a:lnTo>
                    <a:pt x="527799" y="508266"/>
                  </a:lnTo>
                  <a:lnTo>
                    <a:pt x="557784" y="458482"/>
                  </a:lnTo>
                  <a:lnTo>
                    <a:pt x="582218" y="407619"/>
                  </a:lnTo>
                  <a:lnTo>
                    <a:pt x="600849" y="356463"/>
                  </a:lnTo>
                  <a:lnTo>
                    <a:pt x="613346" y="305790"/>
                  </a:lnTo>
                  <a:lnTo>
                    <a:pt x="619467" y="256413"/>
                  </a:lnTo>
                  <a:close/>
                </a:path>
              </a:pathLst>
            </a:custGeom>
            <a:solidFill>
              <a:srgbClr val="0080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4019" y="3797721"/>
              <a:ext cx="259467" cy="16694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51633" y="3985932"/>
              <a:ext cx="180340" cy="347980"/>
            </a:xfrm>
            <a:custGeom>
              <a:avLst/>
              <a:gdLst/>
              <a:ahLst/>
              <a:cxnLst/>
              <a:rect l="l" t="t" r="r" b="b"/>
              <a:pathLst>
                <a:path w="180340" h="347979">
                  <a:moveTo>
                    <a:pt x="82372" y="343052"/>
                  </a:moveTo>
                  <a:lnTo>
                    <a:pt x="81876" y="341579"/>
                  </a:lnTo>
                  <a:lnTo>
                    <a:pt x="5359" y="288023"/>
                  </a:lnTo>
                  <a:lnTo>
                    <a:pt x="4394" y="287807"/>
                  </a:lnTo>
                  <a:lnTo>
                    <a:pt x="2273" y="288188"/>
                  </a:lnTo>
                  <a:lnTo>
                    <a:pt x="1435" y="288734"/>
                  </a:lnTo>
                  <a:lnTo>
                    <a:pt x="203" y="290525"/>
                  </a:lnTo>
                  <a:lnTo>
                    <a:pt x="0" y="291503"/>
                  </a:lnTo>
                  <a:lnTo>
                    <a:pt x="381" y="293636"/>
                  </a:lnTo>
                  <a:lnTo>
                    <a:pt x="914" y="294487"/>
                  </a:lnTo>
                  <a:lnTo>
                    <a:pt x="76530" y="347421"/>
                  </a:lnTo>
                  <a:lnTo>
                    <a:pt x="77266" y="347649"/>
                  </a:lnTo>
                  <a:lnTo>
                    <a:pt x="78079" y="347649"/>
                  </a:lnTo>
                  <a:lnTo>
                    <a:pt x="79997" y="347649"/>
                  </a:lnTo>
                  <a:lnTo>
                    <a:pt x="81229" y="346735"/>
                  </a:lnTo>
                  <a:lnTo>
                    <a:pt x="82372" y="343052"/>
                  </a:lnTo>
                  <a:close/>
                </a:path>
                <a:path w="180340" h="347979">
                  <a:moveTo>
                    <a:pt x="94234" y="239547"/>
                  </a:moveTo>
                  <a:lnTo>
                    <a:pt x="93738" y="238086"/>
                  </a:lnTo>
                  <a:lnTo>
                    <a:pt x="16344" y="183896"/>
                  </a:lnTo>
                  <a:lnTo>
                    <a:pt x="15379" y="183692"/>
                  </a:lnTo>
                  <a:lnTo>
                    <a:pt x="13258" y="184073"/>
                  </a:lnTo>
                  <a:lnTo>
                    <a:pt x="12420" y="184619"/>
                  </a:lnTo>
                  <a:lnTo>
                    <a:pt x="11188" y="186410"/>
                  </a:lnTo>
                  <a:lnTo>
                    <a:pt x="10985" y="187388"/>
                  </a:lnTo>
                  <a:lnTo>
                    <a:pt x="11366" y="189522"/>
                  </a:lnTo>
                  <a:lnTo>
                    <a:pt x="11899" y="190373"/>
                  </a:lnTo>
                  <a:lnTo>
                    <a:pt x="88392" y="243916"/>
                  </a:lnTo>
                  <a:lnTo>
                    <a:pt x="89141" y="244157"/>
                  </a:lnTo>
                  <a:lnTo>
                    <a:pt x="89941" y="244157"/>
                  </a:lnTo>
                  <a:lnTo>
                    <a:pt x="91859" y="244157"/>
                  </a:lnTo>
                  <a:lnTo>
                    <a:pt x="93103" y="243230"/>
                  </a:lnTo>
                  <a:lnTo>
                    <a:pt x="94234" y="239547"/>
                  </a:lnTo>
                  <a:close/>
                </a:path>
                <a:path w="180340" h="347979">
                  <a:moveTo>
                    <a:pt x="128282" y="136842"/>
                  </a:moveTo>
                  <a:lnTo>
                    <a:pt x="127787" y="135369"/>
                  </a:lnTo>
                  <a:lnTo>
                    <a:pt x="53035" y="83032"/>
                  </a:lnTo>
                  <a:lnTo>
                    <a:pt x="52070" y="82816"/>
                  </a:lnTo>
                  <a:lnTo>
                    <a:pt x="49949" y="83210"/>
                  </a:lnTo>
                  <a:lnTo>
                    <a:pt x="49110" y="83756"/>
                  </a:lnTo>
                  <a:lnTo>
                    <a:pt x="47879" y="85534"/>
                  </a:lnTo>
                  <a:lnTo>
                    <a:pt x="47675" y="86525"/>
                  </a:lnTo>
                  <a:lnTo>
                    <a:pt x="48056" y="88658"/>
                  </a:lnTo>
                  <a:lnTo>
                    <a:pt x="48590" y="89509"/>
                  </a:lnTo>
                  <a:lnTo>
                    <a:pt x="122440" y="141198"/>
                  </a:lnTo>
                  <a:lnTo>
                    <a:pt x="123177" y="141439"/>
                  </a:lnTo>
                  <a:lnTo>
                    <a:pt x="123990" y="141439"/>
                  </a:lnTo>
                  <a:lnTo>
                    <a:pt x="125895" y="141439"/>
                  </a:lnTo>
                  <a:lnTo>
                    <a:pt x="127139" y="140512"/>
                  </a:lnTo>
                  <a:lnTo>
                    <a:pt x="128282" y="136842"/>
                  </a:lnTo>
                  <a:close/>
                </a:path>
                <a:path w="180340" h="347979">
                  <a:moveTo>
                    <a:pt x="179997" y="56959"/>
                  </a:moveTo>
                  <a:lnTo>
                    <a:pt x="179501" y="55486"/>
                  </a:lnTo>
                  <a:lnTo>
                    <a:pt x="100533" y="215"/>
                  </a:lnTo>
                  <a:lnTo>
                    <a:pt x="99568" y="0"/>
                  </a:lnTo>
                  <a:lnTo>
                    <a:pt x="97447" y="393"/>
                  </a:lnTo>
                  <a:lnTo>
                    <a:pt x="96608" y="927"/>
                  </a:lnTo>
                  <a:lnTo>
                    <a:pt x="95377" y="2717"/>
                  </a:lnTo>
                  <a:lnTo>
                    <a:pt x="95173" y="3695"/>
                  </a:lnTo>
                  <a:lnTo>
                    <a:pt x="95554" y="5842"/>
                  </a:lnTo>
                  <a:lnTo>
                    <a:pt x="96088" y="6680"/>
                  </a:lnTo>
                  <a:lnTo>
                    <a:pt x="174142" y="61328"/>
                  </a:lnTo>
                  <a:lnTo>
                    <a:pt x="174879" y="61556"/>
                  </a:lnTo>
                  <a:lnTo>
                    <a:pt x="177609" y="61556"/>
                  </a:lnTo>
                  <a:lnTo>
                    <a:pt x="178854" y="60642"/>
                  </a:lnTo>
                  <a:lnTo>
                    <a:pt x="179997" y="56959"/>
                  </a:lnTo>
                  <a:close/>
                </a:path>
              </a:pathLst>
            </a:custGeom>
            <a:solidFill>
              <a:srgbClr val="0080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57602" y="4057687"/>
              <a:ext cx="103105" cy="225656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8653713" y="6922985"/>
            <a:ext cx="780415" cy="714375"/>
            <a:chOff x="8653713" y="6922985"/>
            <a:chExt cx="780415" cy="714375"/>
          </a:xfrm>
        </p:grpSpPr>
        <p:sp>
          <p:nvSpPr>
            <p:cNvPr id="13" name="object 13"/>
            <p:cNvSpPr/>
            <p:nvPr/>
          </p:nvSpPr>
          <p:spPr>
            <a:xfrm>
              <a:off x="8653957" y="6922985"/>
              <a:ext cx="779780" cy="714375"/>
            </a:xfrm>
            <a:custGeom>
              <a:avLst/>
              <a:gdLst/>
              <a:ahLst/>
              <a:cxnLst/>
              <a:rect l="l" t="t" r="r" b="b"/>
              <a:pathLst>
                <a:path w="779779" h="714375">
                  <a:moveTo>
                    <a:pt x="779767" y="315252"/>
                  </a:moveTo>
                  <a:lnTo>
                    <a:pt x="779411" y="314413"/>
                  </a:lnTo>
                  <a:lnTo>
                    <a:pt x="779056" y="314071"/>
                  </a:lnTo>
                  <a:lnTo>
                    <a:pt x="778979" y="313918"/>
                  </a:lnTo>
                  <a:lnTo>
                    <a:pt x="778548" y="313474"/>
                  </a:lnTo>
                  <a:lnTo>
                    <a:pt x="778357" y="313372"/>
                  </a:lnTo>
                  <a:lnTo>
                    <a:pt x="778002" y="313004"/>
                  </a:lnTo>
                  <a:lnTo>
                    <a:pt x="777163" y="312674"/>
                  </a:lnTo>
                  <a:lnTo>
                    <a:pt x="772541" y="309968"/>
                  </a:lnTo>
                  <a:lnTo>
                    <a:pt x="772541" y="322491"/>
                  </a:lnTo>
                  <a:lnTo>
                    <a:pt x="772541" y="403377"/>
                  </a:lnTo>
                  <a:lnTo>
                    <a:pt x="616661" y="489534"/>
                  </a:lnTo>
                  <a:lnTo>
                    <a:pt x="616038" y="490588"/>
                  </a:lnTo>
                  <a:lnTo>
                    <a:pt x="616038" y="668401"/>
                  </a:lnTo>
                  <a:lnTo>
                    <a:pt x="551916" y="704596"/>
                  </a:lnTo>
                  <a:lnTo>
                    <a:pt x="551916" y="530885"/>
                  </a:lnTo>
                  <a:lnTo>
                    <a:pt x="551319" y="529856"/>
                  </a:lnTo>
                  <a:lnTo>
                    <a:pt x="548894" y="528472"/>
                  </a:lnTo>
                  <a:lnTo>
                    <a:pt x="547687" y="528472"/>
                  </a:lnTo>
                  <a:lnTo>
                    <a:pt x="544690" y="530212"/>
                  </a:lnTo>
                  <a:lnTo>
                    <a:pt x="544690" y="538505"/>
                  </a:lnTo>
                  <a:lnTo>
                    <a:pt x="544690" y="704608"/>
                  </a:lnTo>
                  <a:lnTo>
                    <a:pt x="406742" y="626706"/>
                  </a:lnTo>
                  <a:lnTo>
                    <a:pt x="399376" y="622554"/>
                  </a:lnTo>
                  <a:lnTo>
                    <a:pt x="544690" y="538505"/>
                  </a:lnTo>
                  <a:lnTo>
                    <a:pt x="544690" y="530212"/>
                  </a:lnTo>
                  <a:lnTo>
                    <a:pt x="395732" y="616381"/>
                  </a:lnTo>
                  <a:lnTo>
                    <a:pt x="395109" y="537070"/>
                  </a:lnTo>
                  <a:lnTo>
                    <a:pt x="544639" y="451637"/>
                  </a:lnTo>
                  <a:lnTo>
                    <a:pt x="545528" y="451637"/>
                  </a:lnTo>
                  <a:lnTo>
                    <a:pt x="546684" y="450761"/>
                  </a:lnTo>
                  <a:lnTo>
                    <a:pt x="546823" y="450253"/>
                  </a:lnTo>
                  <a:lnTo>
                    <a:pt x="547293" y="449440"/>
                  </a:lnTo>
                  <a:lnTo>
                    <a:pt x="547281" y="448551"/>
                  </a:lnTo>
                  <a:lnTo>
                    <a:pt x="547649" y="447243"/>
                  </a:lnTo>
                  <a:lnTo>
                    <a:pt x="547281" y="446354"/>
                  </a:lnTo>
                  <a:lnTo>
                    <a:pt x="546989" y="269519"/>
                  </a:lnTo>
                  <a:lnTo>
                    <a:pt x="558114" y="263283"/>
                  </a:lnTo>
                  <a:lnTo>
                    <a:pt x="617042" y="230263"/>
                  </a:lnTo>
                  <a:lnTo>
                    <a:pt x="617054" y="231584"/>
                  </a:lnTo>
                  <a:lnTo>
                    <a:pt x="618032" y="406488"/>
                  </a:lnTo>
                  <a:lnTo>
                    <a:pt x="618388" y="407339"/>
                  </a:lnTo>
                  <a:lnTo>
                    <a:pt x="619798" y="408724"/>
                  </a:lnTo>
                  <a:lnTo>
                    <a:pt x="620649" y="409079"/>
                  </a:lnTo>
                  <a:lnTo>
                    <a:pt x="622287" y="409079"/>
                  </a:lnTo>
                  <a:lnTo>
                    <a:pt x="622896" y="408914"/>
                  </a:lnTo>
                  <a:lnTo>
                    <a:pt x="639584" y="399275"/>
                  </a:lnTo>
                  <a:lnTo>
                    <a:pt x="772541" y="322491"/>
                  </a:lnTo>
                  <a:lnTo>
                    <a:pt x="772541" y="309968"/>
                  </a:lnTo>
                  <a:lnTo>
                    <a:pt x="769010" y="307911"/>
                  </a:lnTo>
                  <a:lnTo>
                    <a:pt x="769010" y="316230"/>
                  </a:lnTo>
                  <a:lnTo>
                    <a:pt x="625221" y="399275"/>
                  </a:lnTo>
                  <a:lnTo>
                    <a:pt x="624281" y="231584"/>
                  </a:lnTo>
                  <a:lnTo>
                    <a:pt x="769010" y="316230"/>
                  </a:lnTo>
                  <a:lnTo>
                    <a:pt x="769010" y="307911"/>
                  </a:lnTo>
                  <a:lnTo>
                    <a:pt x="638505" y="231584"/>
                  </a:lnTo>
                  <a:lnTo>
                    <a:pt x="624230" y="223240"/>
                  </a:lnTo>
                  <a:lnTo>
                    <a:pt x="624217" y="222262"/>
                  </a:lnTo>
                  <a:lnTo>
                    <a:pt x="623265" y="52057"/>
                  </a:lnTo>
                  <a:lnTo>
                    <a:pt x="623252" y="51460"/>
                  </a:lnTo>
                  <a:lnTo>
                    <a:pt x="623252" y="49682"/>
                  </a:lnTo>
                  <a:lnTo>
                    <a:pt x="623201" y="49187"/>
                  </a:lnTo>
                  <a:lnTo>
                    <a:pt x="622642" y="48247"/>
                  </a:lnTo>
                  <a:lnTo>
                    <a:pt x="621842" y="47802"/>
                  </a:lnTo>
                  <a:lnTo>
                    <a:pt x="621487" y="47447"/>
                  </a:lnTo>
                  <a:lnTo>
                    <a:pt x="620636" y="47104"/>
                  </a:lnTo>
                  <a:lnTo>
                    <a:pt x="616978" y="45085"/>
                  </a:lnTo>
                  <a:lnTo>
                    <a:pt x="616978" y="219062"/>
                  </a:lnTo>
                  <a:lnTo>
                    <a:pt x="477989" y="139446"/>
                  </a:lnTo>
                  <a:lnTo>
                    <a:pt x="475615" y="138010"/>
                  </a:lnTo>
                  <a:lnTo>
                    <a:pt x="616064" y="56896"/>
                  </a:lnTo>
                  <a:lnTo>
                    <a:pt x="616978" y="219062"/>
                  </a:lnTo>
                  <a:lnTo>
                    <a:pt x="616978" y="45085"/>
                  </a:lnTo>
                  <a:lnTo>
                    <a:pt x="612394" y="42519"/>
                  </a:lnTo>
                  <a:lnTo>
                    <a:pt x="612394" y="50723"/>
                  </a:lnTo>
                  <a:lnTo>
                    <a:pt x="465328" y="135636"/>
                  </a:lnTo>
                  <a:lnTo>
                    <a:pt x="464731" y="136677"/>
                  </a:lnTo>
                  <a:lnTo>
                    <a:pt x="464731" y="139446"/>
                  </a:lnTo>
                  <a:lnTo>
                    <a:pt x="465328" y="140474"/>
                  </a:lnTo>
                  <a:lnTo>
                    <a:pt x="612355" y="224688"/>
                  </a:lnTo>
                  <a:lnTo>
                    <a:pt x="543445" y="263283"/>
                  </a:lnTo>
                  <a:lnTo>
                    <a:pt x="540054" y="261251"/>
                  </a:lnTo>
                  <a:lnTo>
                    <a:pt x="540054" y="441782"/>
                  </a:lnTo>
                  <a:lnTo>
                    <a:pt x="536511" y="439712"/>
                  </a:lnTo>
                  <a:lnTo>
                    <a:pt x="536511" y="448017"/>
                  </a:lnTo>
                  <a:lnTo>
                    <a:pt x="391452" y="530885"/>
                  </a:lnTo>
                  <a:lnTo>
                    <a:pt x="388505" y="529234"/>
                  </a:lnTo>
                  <a:lnTo>
                    <a:pt x="388505" y="616419"/>
                  </a:lnTo>
                  <a:lnTo>
                    <a:pt x="384886" y="614375"/>
                  </a:lnTo>
                  <a:lnTo>
                    <a:pt x="384886" y="622592"/>
                  </a:lnTo>
                  <a:lnTo>
                    <a:pt x="240715" y="704570"/>
                  </a:lnTo>
                  <a:lnTo>
                    <a:pt x="240715" y="541172"/>
                  </a:lnTo>
                  <a:lnTo>
                    <a:pt x="384886" y="622592"/>
                  </a:lnTo>
                  <a:lnTo>
                    <a:pt x="384886" y="614375"/>
                  </a:lnTo>
                  <a:lnTo>
                    <a:pt x="255308" y="541172"/>
                  </a:lnTo>
                  <a:lnTo>
                    <a:pt x="238328" y="531583"/>
                  </a:lnTo>
                  <a:lnTo>
                    <a:pt x="237731" y="531431"/>
                  </a:lnTo>
                  <a:lnTo>
                    <a:pt x="236461" y="531431"/>
                  </a:lnTo>
                  <a:lnTo>
                    <a:pt x="233489" y="534365"/>
                  </a:lnTo>
                  <a:lnTo>
                    <a:pt x="233489" y="704761"/>
                  </a:lnTo>
                  <a:lnTo>
                    <a:pt x="162255" y="666775"/>
                  </a:lnTo>
                  <a:lnTo>
                    <a:pt x="163220" y="487705"/>
                  </a:lnTo>
                  <a:lnTo>
                    <a:pt x="162610" y="486664"/>
                  </a:lnTo>
                  <a:lnTo>
                    <a:pt x="7226" y="399288"/>
                  </a:lnTo>
                  <a:lnTo>
                    <a:pt x="7315" y="318528"/>
                  </a:lnTo>
                  <a:lnTo>
                    <a:pt x="160134" y="412178"/>
                  </a:lnTo>
                  <a:lnTo>
                    <a:pt x="161353" y="412203"/>
                  </a:lnTo>
                  <a:lnTo>
                    <a:pt x="163817" y="410845"/>
                  </a:lnTo>
                  <a:lnTo>
                    <a:pt x="164439" y="409803"/>
                  </a:lnTo>
                  <a:lnTo>
                    <a:pt x="165633" y="233680"/>
                  </a:lnTo>
                  <a:lnTo>
                    <a:pt x="233489" y="269582"/>
                  </a:lnTo>
                  <a:lnTo>
                    <a:pt x="233489" y="446697"/>
                  </a:lnTo>
                  <a:lnTo>
                    <a:pt x="233489" y="449046"/>
                  </a:lnTo>
                  <a:lnTo>
                    <a:pt x="233502" y="449453"/>
                  </a:lnTo>
                  <a:lnTo>
                    <a:pt x="234099" y="450481"/>
                  </a:lnTo>
                  <a:lnTo>
                    <a:pt x="234873" y="450926"/>
                  </a:lnTo>
                  <a:lnTo>
                    <a:pt x="235254" y="451294"/>
                  </a:lnTo>
                  <a:lnTo>
                    <a:pt x="236105" y="451637"/>
                  </a:lnTo>
                  <a:lnTo>
                    <a:pt x="387883" y="537108"/>
                  </a:lnTo>
                  <a:lnTo>
                    <a:pt x="388505" y="616419"/>
                  </a:lnTo>
                  <a:lnTo>
                    <a:pt x="388505" y="529234"/>
                  </a:lnTo>
                  <a:lnTo>
                    <a:pt x="244348" y="448017"/>
                  </a:lnTo>
                  <a:lnTo>
                    <a:pt x="391452" y="363131"/>
                  </a:lnTo>
                  <a:lnTo>
                    <a:pt x="536511" y="448017"/>
                  </a:lnTo>
                  <a:lnTo>
                    <a:pt x="536511" y="439712"/>
                  </a:lnTo>
                  <a:lnTo>
                    <a:pt x="395058" y="356895"/>
                  </a:lnTo>
                  <a:lnTo>
                    <a:pt x="392595" y="181102"/>
                  </a:lnTo>
                  <a:lnTo>
                    <a:pt x="539762" y="269468"/>
                  </a:lnTo>
                  <a:lnTo>
                    <a:pt x="540054" y="441782"/>
                  </a:lnTo>
                  <a:lnTo>
                    <a:pt x="540054" y="261251"/>
                  </a:lnTo>
                  <a:lnTo>
                    <a:pt x="402844" y="178879"/>
                  </a:lnTo>
                  <a:lnTo>
                    <a:pt x="391172" y="171869"/>
                  </a:lnTo>
                  <a:lnTo>
                    <a:pt x="390702" y="171411"/>
                  </a:lnTo>
                  <a:lnTo>
                    <a:pt x="389851" y="171069"/>
                  </a:lnTo>
                  <a:lnTo>
                    <a:pt x="389509" y="170865"/>
                  </a:lnTo>
                  <a:lnTo>
                    <a:pt x="388264" y="170865"/>
                  </a:lnTo>
                  <a:lnTo>
                    <a:pt x="387883" y="171094"/>
                  </a:lnTo>
                  <a:lnTo>
                    <a:pt x="387832" y="356920"/>
                  </a:lnTo>
                  <a:lnTo>
                    <a:pt x="240715" y="441833"/>
                  </a:lnTo>
                  <a:lnTo>
                    <a:pt x="240715" y="269430"/>
                  </a:lnTo>
                  <a:lnTo>
                    <a:pt x="250774" y="263283"/>
                  </a:lnTo>
                  <a:lnTo>
                    <a:pt x="385368" y="181051"/>
                  </a:lnTo>
                  <a:lnTo>
                    <a:pt x="387832" y="356920"/>
                  </a:lnTo>
                  <a:lnTo>
                    <a:pt x="387832" y="171107"/>
                  </a:lnTo>
                  <a:lnTo>
                    <a:pt x="387007" y="171462"/>
                  </a:lnTo>
                  <a:lnTo>
                    <a:pt x="386575" y="171894"/>
                  </a:lnTo>
                  <a:lnTo>
                    <a:pt x="237007" y="263283"/>
                  </a:lnTo>
                  <a:lnTo>
                    <a:pt x="170700" y="228231"/>
                  </a:lnTo>
                  <a:lnTo>
                    <a:pt x="325882" y="138010"/>
                  </a:lnTo>
                  <a:lnTo>
                    <a:pt x="326478" y="136969"/>
                  </a:lnTo>
                  <a:lnTo>
                    <a:pt x="326440" y="134188"/>
                  </a:lnTo>
                  <a:lnTo>
                    <a:pt x="325818" y="133159"/>
                  </a:lnTo>
                  <a:lnTo>
                    <a:pt x="315658" y="127571"/>
                  </a:lnTo>
                  <a:lnTo>
                    <a:pt x="315658" y="135636"/>
                  </a:lnTo>
                  <a:lnTo>
                    <a:pt x="165709" y="222808"/>
                  </a:lnTo>
                  <a:lnTo>
                    <a:pt x="166865" y="53822"/>
                  </a:lnTo>
                  <a:lnTo>
                    <a:pt x="315429" y="135636"/>
                  </a:lnTo>
                  <a:lnTo>
                    <a:pt x="315658" y="135636"/>
                  </a:lnTo>
                  <a:lnTo>
                    <a:pt x="315658" y="127571"/>
                  </a:lnTo>
                  <a:lnTo>
                    <a:pt x="170573" y="47650"/>
                  </a:lnTo>
                  <a:lnTo>
                    <a:pt x="238340" y="7975"/>
                  </a:lnTo>
                  <a:lnTo>
                    <a:pt x="388264" y="94246"/>
                  </a:lnTo>
                  <a:lnTo>
                    <a:pt x="389470" y="94246"/>
                  </a:lnTo>
                  <a:lnTo>
                    <a:pt x="403910" y="86334"/>
                  </a:lnTo>
                  <a:lnTo>
                    <a:pt x="541350" y="11036"/>
                  </a:lnTo>
                  <a:lnTo>
                    <a:pt x="612394" y="50723"/>
                  </a:lnTo>
                  <a:lnTo>
                    <a:pt x="612394" y="42519"/>
                  </a:lnTo>
                  <a:lnTo>
                    <a:pt x="556082" y="11036"/>
                  </a:lnTo>
                  <a:lnTo>
                    <a:pt x="541972" y="3149"/>
                  </a:lnTo>
                  <a:lnTo>
                    <a:pt x="540804" y="3149"/>
                  </a:lnTo>
                  <a:lnTo>
                    <a:pt x="388950" y="86334"/>
                  </a:lnTo>
                  <a:lnTo>
                    <a:pt x="252768" y="7975"/>
                  </a:lnTo>
                  <a:lnTo>
                    <a:pt x="238925" y="0"/>
                  </a:lnTo>
                  <a:lnTo>
                    <a:pt x="237718" y="0"/>
                  </a:lnTo>
                  <a:lnTo>
                    <a:pt x="162331" y="44183"/>
                  </a:lnTo>
                  <a:lnTo>
                    <a:pt x="161455" y="44513"/>
                  </a:lnTo>
                  <a:lnTo>
                    <a:pt x="161023" y="44945"/>
                  </a:lnTo>
                  <a:lnTo>
                    <a:pt x="160274" y="45377"/>
                  </a:lnTo>
                  <a:lnTo>
                    <a:pt x="159677" y="46418"/>
                  </a:lnTo>
                  <a:lnTo>
                    <a:pt x="159677" y="47155"/>
                  </a:lnTo>
                  <a:lnTo>
                    <a:pt x="157276" y="401993"/>
                  </a:lnTo>
                  <a:lnTo>
                    <a:pt x="4406" y="308330"/>
                  </a:lnTo>
                  <a:lnTo>
                    <a:pt x="3187" y="308292"/>
                  </a:lnTo>
                  <a:lnTo>
                    <a:pt x="711" y="309664"/>
                  </a:lnTo>
                  <a:lnTo>
                    <a:pt x="88" y="310705"/>
                  </a:lnTo>
                  <a:lnTo>
                    <a:pt x="0" y="402767"/>
                  </a:lnTo>
                  <a:lnTo>
                    <a:pt x="609" y="403809"/>
                  </a:lnTo>
                  <a:lnTo>
                    <a:pt x="155994" y="491172"/>
                  </a:lnTo>
                  <a:lnTo>
                    <a:pt x="155016" y="670318"/>
                  </a:lnTo>
                  <a:lnTo>
                    <a:pt x="155651" y="671385"/>
                  </a:lnTo>
                  <a:lnTo>
                    <a:pt x="235534" y="713994"/>
                  </a:lnTo>
                  <a:lnTo>
                    <a:pt x="235839" y="714171"/>
                  </a:lnTo>
                  <a:lnTo>
                    <a:pt x="236054" y="714235"/>
                  </a:lnTo>
                  <a:lnTo>
                    <a:pt x="236423" y="714324"/>
                  </a:lnTo>
                  <a:lnTo>
                    <a:pt x="237096" y="714336"/>
                  </a:lnTo>
                  <a:lnTo>
                    <a:pt x="238963" y="714336"/>
                  </a:lnTo>
                  <a:lnTo>
                    <a:pt x="240131" y="713435"/>
                  </a:lnTo>
                  <a:lnTo>
                    <a:pt x="240207" y="713117"/>
                  </a:lnTo>
                  <a:lnTo>
                    <a:pt x="255244" y="704570"/>
                  </a:lnTo>
                  <a:lnTo>
                    <a:pt x="392176" y="626706"/>
                  </a:lnTo>
                  <a:lnTo>
                    <a:pt x="546087" y="713625"/>
                  </a:lnTo>
                  <a:lnTo>
                    <a:pt x="546455" y="713981"/>
                  </a:lnTo>
                  <a:lnTo>
                    <a:pt x="547306" y="714336"/>
                  </a:lnTo>
                  <a:lnTo>
                    <a:pt x="548297" y="714336"/>
                  </a:lnTo>
                  <a:lnTo>
                    <a:pt x="548944" y="714336"/>
                  </a:lnTo>
                  <a:lnTo>
                    <a:pt x="550138" y="714324"/>
                  </a:lnTo>
                  <a:lnTo>
                    <a:pt x="551307" y="713447"/>
                  </a:lnTo>
                  <a:lnTo>
                    <a:pt x="551383" y="713130"/>
                  </a:lnTo>
                  <a:lnTo>
                    <a:pt x="622655" y="672896"/>
                  </a:lnTo>
                  <a:lnTo>
                    <a:pt x="623265" y="671868"/>
                  </a:lnTo>
                  <a:lnTo>
                    <a:pt x="623265" y="494093"/>
                  </a:lnTo>
                  <a:lnTo>
                    <a:pt x="779145" y="407936"/>
                  </a:lnTo>
                  <a:lnTo>
                    <a:pt x="779767" y="406895"/>
                  </a:lnTo>
                  <a:lnTo>
                    <a:pt x="779767" y="316890"/>
                  </a:lnTo>
                  <a:lnTo>
                    <a:pt x="779767" y="315620"/>
                  </a:lnTo>
                  <a:lnTo>
                    <a:pt x="779767" y="315252"/>
                  </a:lnTo>
                  <a:close/>
                </a:path>
              </a:pathLst>
            </a:custGeom>
            <a:solidFill>
              <a:srgbClr val="0080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53713" y="7147581"/>
              <a:ext cx="167388" cy="91092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9539423"/>
            <a:ext cx="742949" cy="7429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24067" y="846060"/>
            <a:ext cx="1619249" cy="6286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91487" y="2608215"/>
            <a:ext cx="762753" cy="715254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8686375" y="1473623"/>
            <a:ext cx="1153795" cy="779780"/>
          </a:xfrm>
          <a:custGeom>
            <a:avLst/>
            <a:gdLst/>
            <a:ahLst/>
            <a:cxnLst/>
            <a:rect l="l" t="t" r="r" b="b"/>
            <a:pathLst>
              <a:path w="1153795" h="779780">
                <a:moveTo>
                  <a:pt x="658090" y="779433"/>
                </a:moveTo>
                <a:lnTo>
                  <a:pt x="1" y="779433"/>
                </a:lnTo>
                <a:lnTo>
                  <a:pt x="0" y="0"/>
                </a:lnTo>
                <a:lnTo>
                  <a:pt x="1153607" y="0"/>
                </a:lnTo>
                <a:lnTo>
                  <a:pt x="719008" y="737917"/>
                </a:lnTo>
                <a:lnTo>
                  <a:pt x="688772" y="768772"/>
                </a:lnTo>
                <a:lnTo>
                  <a:pt x="658090" y="779433"/>
                </a:lnTo>
                <a:close/>
              </a:path>
            </a:pathLst>
          </a:custGeom>
          <a:solidFill>
            <a:srgbClr val="02A44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8674223" y="5459608"/>
            <a:ext cx="780415" cy="714375"/>
            <a:chOff x="8674223" y="5459608"/>
            <a:chExt cx="780415" cy="714375"/>
          </a:xfrm>
        </p:grpSpPr>
        <p:sp>
          <p:nvSpPr>
            <p:cNvPr id="20" name="object 20"/>
            <p:cNvSpPr/>
            <p:nvPr/>
          </p:nvSpPr>
          <p:spPr>
            <a:xfrm>
              <a:off x="8674468" y="5459615"/>
              <a:ext cx="779780" cy="714375"/>
            </a:xfrm>
            <a:custGeom>
              <a:avLst/>
              <a:gdLst/>
              <a:ahLst/>
              <a:cxnLst/>
              <a:rect l="l" t="t" r="r" b="b"/>
              <a:pathLst>
                <a:path w="779779" h="714375">
                  <a:moveTo>
                    <a:pt x="779767" y="315252"/>
                  </a:moveTo>
                  <a:lnTo>
                    <a:pt x="779411" y="314401"/>
                  </a:lnTo>
                  <a:lnTo>
                    <a:pt x="779043" y="314058"/>
                  </a:lnTo>
                  <a:lnTo>
                    <a:pt x="778979" y="313918"/>
                  </a:lnTo>
                  <a:lnTo>
                    <a:pt x="778548" y="313474"/>
                  </a:lnTo>
                  <a:lnTo>
                    <a:pt x="778370" y="313372"/>
                  </a:lnTo>
                  <a:lnTo>
                    <a:pt x="778002" y="313004"/>
                  </a:lnTo>
                  <a:lnTo>
                    <a:pt x="777151" y="312648"/>
                  </a:lnTo>
                  <a:lnTo>
                    <a:pt x="772541" y="309968"/>
                  </a:lnTo>
                  <a:lnTo>
                    <a:pt x="772541" y="322478"/>
                  </a:lnTo>
                  <a:lnTo>
                    <a:pt x="772541" y="403377"/>
                  </a:lnTo>
                  <a:lnTo>
                    <a:pt x="616648" y="489534"/>
                  </a:lnTo>
                  <a:lnTo>
                    <a:pt x="616038" y="490575"/>
                  </a:lnTo>
                  <a:lnTo>
                    <a:pt x="616038" y="668388"/>
                  </a:lnTo>
                  <a:lnTo>
                    <a:pt x="551916" y="704596"/>
                  </a:lnTo>
                  <a:lnTo>
                    <a:pt x="551916" y="530885"/>
                  </a:lnTo>
                  <a:lnTo>
                    <a:pt x="551307" y="529844"/>
                  </a:lnTo>
                  <a:lnTo>
                    <a:pt x="548894" y="528459"/>
                  </a:lnTo>
                  <a:lnTo>
                    <a:pt x="547687" y="528459"/>
                  </a:lnTo>
                  <a:lnTo>
                    <a:pt x="544690" y="530199"/>
                  </a:lnTo>
                  <a:lnTo>
                    <a:pt x="544690" y="538492"/>
                  </a:lnTo>
                  <a:lnTo>
                    <a:pt x="544690" y="704596"/>
                  </a:lnTo>
                  <a:lnTo>
                    <a:pt x="406742" y="626694"/>
                  </a:lnTo>
                  <a:lnTo>
                    <a:pt x="399389" y="622554"/>
                  </a:lnTo>
                  <a:lnTo>
                    <a:pt x="544690" y="538492"/>
                  </a:lnTo>
                  <a:lnTo>
                    <a:pt x="544690" y="530199"/>
                  </a:lnTo>
                  <a:lnTo>
                    <a:pt x="395732" y="616369"/>
                  </a:lnTo>
                  <a:lnTo>
                    <a:pt x="395109" y="537070"/>
                  </a:lnTo>
                  <a:lnTo>
                    <a:pt x="544664" y="451624"/>
                  </a:lnTo>
                  <a:lnTo>
                    <a:pt x="545515" y="451624"/>
                  </a:lnTo>
                  <a:lnTo>
                    <a:pt x="546684" y="450748"/>
                  </a:lnTo>
                  <a:lnTo>
                    <a:pt x="546811" y="450265"/>
                  </a:lnTo>
                  <a:lnTo>
                    <a:pt x="547293" y="449427"/>
                  </a:lnTo>
                  <a:lnTo>
                    <a:pt x="547281" y="448538"/>
                  </a:lnTo>
                  <a:lnTo>
                    <a:pt x="547649" y="447230"/>
                  </a:lnTo>
                  <a:lnTo>
                    <a:pt x="547281" y="446341"/>
                  </a:lnTo>
                  <a:lnTo>
                    <a:pt x="546989" y="269519"/>
                  </a:lnTo>
                  <a:lnTo>
                    <a:pt x="558114" y="263283"/>
                  </a:lnTo>
                  <a:lnTo>
                    <a:pt x="617042" y="230263"/>
                  </a:lnTo>
                  <a:lnTo>
                    <a:pt x="617054" y="231571"/>
                  </a:lnTo>
                  <a:lnTo>
                    <a:pt x="618032" y="406488"/>
                  </a:lnTo>
                  <a:lnTo>
                    <a:pt x="618388" y="407327"/>
                  </a:lnTo>
                  <a:lnTo>
                    <a:pt x="619798" y="408724"/>
                  </a:lnTo>
                  <a:lnTo>
                    <a:pt x="620649" y="409067"/>
                  </a:lnTo>
                  <a:lnTo>
                    <a:pt x="622287" y="409067"/>
                  </a:lnTo>
                  <a:lnTo>
                    <a:pt x="622896" y="408901"/>
                  </a:lnTo>
                  <a:lnTo>
                    <a:pt x="639584" y="399262"/>
                  </a:lnTo>
                  <a:lnTo>
                    <a:pt x="772541" y="322478"/>
                  </a:lnTo>
                  <a:lnTo>
                    <a:pt x="772541" y="309968"/>
                  </a:lnTo>
                  <a:lnTo>
                    <a:pt x="769010" y="307911"/>
                  </a:lnTo>
                  <a:lnTo>
                    <a:pt x="769010" y="316217"/>
                  </a:lnTo>
                  <a:lnTo>
                    <a:pt x="625221" y="399262"/>
                  </a:lnTo>
                  <a:lnTo>
                    <a:pt x="624281" y="231571"/>
                  </a:lnTo>
                  <a:lnTo>
                    <a:pt x="769010" y="316217"/>
                  </a:lnTo>
                  <a:lnTo>
                    <a:pt x="769010" y="307911"/>
                  </a:lnTo>
                  <a:lnTo>
                    <a:pt x="638505" y="231571"/>
                  </a:lnTo>
                  <a:lnTo>
                    <a:pt x="624230" y="223227"/>
                  </a:lnTo>
                  <a:lnTo>
                    <a:pt x="624217" y="222262"/>
                  </a:lnTo>
                  <a:lnTo>
                    <a:pt x="623265" y="52057"/>
                  </a:lnTo>
                  <a:lnTo>
                    <a:pt x="623252" y="51460"/>
                  </a:lnTo>
                  <a:lnTo>
                    <a:pt x="623252" y="49669"/>
                  </a:lnTo>
                  <a:lnTo>
                    <a:pt x="623201" y="49174"/>
                  </a:lnTo>
                  <a:lnTo>
                    <a:pt x="622642" y="48234"/>
                  </a:lnTo>
                  <a:lnTo>
                    <a:pt x="621817" y="47777"/>
                  </a:lnTo>
                  <a:lnTo>
                    <a:pt x="621487" y="47447"/>
                  </a:lnTo>
                  <a:lnTo>
                    <a:pt x="620636" y="47091"/>
                  </a:lnTo>
                  <a:lnTo>
                    <a:pt x="616978" y="45085"/>
                  </a:lnTo>
                  <a:lnTo>
                    <a:pt x="616978" y="219062"/>
                  </a:lnTo>
                  <a:lnTo>
                    <a:pt x="477977" y="139433"/>
                  </a:lnTo>
                  <a:lnTo>
                    <a:pt x="475615" y="138010"/>
                  </a:lnTo>
                  <a:lnTo>
                    <a:pt x="616064" y="56896"/>
                  </a:lnTo>
                  <a:lnTo>
                    <a:pt x="616978" y="219062"/>
                  </a:lnTo>
                  <a:lnTo>
                    <a:pt x="616978" y="45085"/>
                  </a:lnTo>
                  <a:lnTo>
                    <a:pt x="612394" y="42519"/>
                  </a:lnTo>
                  <a:lnTo>
                    <a:pt x="612394" y="50723"/>
                  </a:lnTo>
                  <a:lnTo>
                    <a:pt x="465328" y="135636"/>
                  </a:lnTo>
                  <a:lnTo>
                    <a:pt x="464731" y="136677"/>
                  </a:lnTo>
                  <a:lnTo>
                    <a:pt x="464731" y="139433"/>
                  </a:lnTo>
                  <a:lnTo>
                    <a:pt x="465328" y="140474"/>
                  </a:lnTo>
                  <a:lnTo>
                    <a:pt x="612355" y="224688"/>
                  </a:lnTo>
                  <a:lnTo>
                    <a:pt x="543445" y="263283"/>
                  </a:lnTo>
                  <a:lnTo>
                    <a:pt x="540054" y="261251"/>
                  </a:lnTo>
                  <a:lnTo>
                    <a:pt x="540054" y="441769"/>
                  </a:lnTo>
                  <a:lnTo>
                    <a:pt x="536511" y="439699"/>
                  </a:lnTo>
                  <a:lnTo>
                    <a:pt x="536511" y="448005"/>
                  </a:lnTo>
                  <a:lnTo>
                    <a:pt x="391452" y="530872"/>
                  </a:lnTo>
                  <a:lnTo>
                    <a:pt x="388493" y="529209"/>
                  </a:lnTo>
                  <a:lnTo>
                    <a:pt x="388493" y="616394"/>
                  </a:lnTo>
                  <a:lnTo>
                    <a:pt x="384886" y="614362"/>
                  </a:lnTo>
                  <a:lnTo>
                    <a:pt x="384886" y="622579"/>
                  </a:lnTo>
                  <a:lnTo>
                    <a:pt x="240715" y="704557"/>
                  </a:lnTo>
                  <a:lnTo>
                    <a:pt x="240715" y="541172"/>
                  </a:lnTo>
                  <a:lnTo>
                    <a:pt x="384886" y="622579"/>
                  </a:lnTo>
                  <a:lnTo>
                    <a:pt x="384886" y="614362"/>
                  </a:lnTo>
                  <a:lnTo>
                    <a:pt x="255308" y="541172"/>
                  </a:lnTo>
                  <a:lnTo>
                    <a:pt x="238328" y="531583"/>
                  </a:lnTo>
                  <a:lnTo>
                    <a:pt x="237731" y="531418"/>
                  </a:lnTo>
                  <a:lnTo>
                    <a:pt x="236461" y="531418"/>
                  </a:lnTo>
                  <a:lnTo>
                    <a:pt x="233489" y="534365"/>
                  </a:lnTo>
                  <a:lnTo>
                    <a:pt x="233489" y="704761"/>
                  </a:lnTo>
                  <a:lnTo>
                    <a:pt x="162255" y="666762"/>
                  </a:lnTo>
                  <a:lnTo>
                    <a:pt x="163220" y="487705"/>
                  </a:lnTo>
                  <a:lnTo>
                    <a:pt x="162610" y="486651"/>
                  </a:lnTo>
                  <a:lnTo>
                    <a:pt x="7226" y="399288"/>
                  </a:lnTo>
                  <a:lnTo>
                    <a:pt x="7315" y="318528"/>
                  </a:lnTo>
                  <a:lnTo>
                    <a:pt x="160134" y="412165"/>
                  </a:lnTo>
                  <a:lnTo>
                    <a:pt x="161353" y="412191"/>
                  </a:lnTo>
                  <a:lnTo>
                    <a:pt x="163817" y="410845"/>
                  </a:lnTo>
                  <a:lnTo>
                    <a:pt x="164439" y="409803"/>
                  </a:lnTo>
                  <a:lnTo>
                    <a:pt x="165633" y="233680"/>
                  </a:lnTo>
                  <a:lnTo>
                    <a:pt x="233489" y="269582"/>
                  </a:lnTo>
                  <a:lnTo>
                    <a:pt x="233489" y="446671"/>
                  </a:lnTo>
                  <a:lnTo>
                    <a:pt x="233489" y="448068"/>
                  </a:lnTo>
                  <a:lnTo>
                    <a:pt x="233489" y="449033"/>
                  </a:lnTo>
                  <a:lnTo>
                    <a:pt x="233502" y="449453"/>
                  </a:lnTo>
                  <a:lnTo>
                    <a:pt x="234099" y="450481"/>
                  </a:lnTo>
                  <a:lnTo>
                    <a:pt x="234899" y="450938"/>
                  </a:lnTo>
                  <a:lnTo>
                    <a:pt x="235254" y="451281"/>
                  </a:lnTo>
                  <a:lnTo>
                    <a:pt x="236105" y="451624"/>
                  </a:lnTo>
                  <a:lnTo>
                    <a:pt x="387870" y="537095"/>
                  </a:lnTo>
                  <a:lnTo>
                    <a:pt x="388493" y="616394"/>
                  </a:lnTo>
                  <a:lnTo>
                    <a:pt x="388493" y="529209"/>
                  </a:lnTo>
                  <a:lnTo>
                    <a:pt x="244348" y="448005"/>
                  </a:lnTo>
                  <a:lnTo>
                    <a:pt x="391452" y="363118"/>
                  </a:lnTo>
                  <a:lnTo>
                    <a:pt x="536511" y="448005"/>
                  </a:lnTo>
                  <a:lnTo>
                    <a:pt x="536511" y="439699"/>
                  </a:lnTo>
                  <a:lnTo>
                    <a:pt x="395058" y="356895"/>
                  </a:lnTo>
                  <a:lnTo>
                    <a:pt x="392595" y="181089"/>
                  </a:lnTo>
                  <a:lnTo>
                    <a:pt x="539762" y="269455"/>
                  </a:lnTo>
                  <a:lnTo>
                    <a:pt x="540054" y="441769"/>
                  </a:lnTo>
                  <a:lnTo>
                    <a:pt x="540054" y="261251"/>
                  </a:lnTo>
                  <a:lnTo>
                    <a:pt x="402844" y="178866"/>
                  </a:lnTo>
                  <a:lnTo>
                    <a:pt x="391172" y="171856"/>
                  </a:lnTo>
                  <a:lnTo>
                    <a:pt x="390702" y="171399"/>
                  </a:lnTo>
                  <a:lnTo>
                    <a:pt x="389915" y="171107"/>
                  </a:lnTo>
                  <a:lnTo>
                    <a:pt x="389509" y="170853"/>
                  </a:lnTo>
                  <a:lnTo>
                    <a:pt x="388264" y="170853"/>
                  </a:lnTo>
                  <a:lnTo>
                    <a:pt x="387858" y="171094"/>
                  </a:lnTo>
                  <a:lnTo>
                    <a:pt x="387832" y="356908"/>
                  </a:lnTo>
                  <a:lnTo>
                    <a:pt x="240715" y="441820"/>
                  </a:lnTo>
                  <a:lnTo>
                    <a:pt x="240715" y="269430"/>
                  </a:lnTo>
                  <a:lnTo>
                    <a:pt x="250774" y="263283"/>
                  </a:lnTo>
                  <a:lnTo>
                    <a:pt x="385368" y="181038"/>
                  </a:lnTo>
                  <a:lnTo>
                    <a:pt x="387832" y="356908"/>
                  </a:lnTo>
                  <a:lnTo>
                    <a:pt x="387832" y="171107"/>
                  </a:lnTo>
                  <a:lnTo>
                    <a:pt x="386994" y="171450"/>
                  </a:lnTo>
                  <a:lnTo>
                    <a:pt x="386562" y="171894"/>
                  </a:lnTo>
                  <a:lnTo>
                    <a:pt x="237007" y="263283"/>
                  </a:lnTo>
                  <a:lnTo>
                    <a:pt x="170700" y="228231"/>
                  </a:lnTo>
                  <a:lnTo>
                    <a:pt x="325882" y="138010"/>
                  </a:lnTo>
                  <a:lnTo>
                    <a:pt x="326478" y="136956"/>
                  </a:lnTo>
                  <a:lnTo>
                    <a:pt x="326440" y="134188"/>
                  </a:lnTo>
                  <a:lnTo>
                    <a:pt x="325818" y="133159"/>
                  </a:lnTo>
                  <a:lnTo>
                    <a:pt x="315658" y="127571"/>
                  </a:lnTo>
                  <a:lnTo>
                    <a:pt x="315658" y="135636"/>
                  </a:lnTo>
                  <a:lnTo>
                    <a:pt x="165709" y="222808"/>
                  </a:lnTo>
                  <a:lnTo>
                    <a:pt x="166865" y="53809"/>
                  </a:lnTo>
                  <a:lnTo>
                    <a:pt x="315429" y="135636"/>
                  </a:lnTo>
                  <a:lnTo>
                    <a:pt x="315658" y="135636"/>
                  </a:lnTo>
                  <a:lnTo>
                    <a:pt x="315658" y="127571"/>
                  </a:lnTo>
                  <a:lnTo>
                    <a:pt x="170573" y="47650"/>
                  </a:lnTo>
                  <a:lnTo>
                    <a:pt x="238340" y="7962"/>
                  </a:lnTo>
                  <a:lnTo>
                    <a:pt x="388264" y="94234"/>
                  </a:lnTo>
                  <a:lnTo>
                    <a:pt x="389470" y="94234"/>
                  </a:lnTo>
                  <a:lnTo>
                    <a:pt x="403910" y="86334"/>
                  </a:lnTo>
                  <a:lnTo>
                    <a:pt x="541350" y="11036"/>
                  </a:lnTo>
                  <a:lnTo>
                    <a:pt x="612394" y="50723"/>
                  </a:lnTo>
                  <a:lnTo>
                    <a:pt x="612394" y="42519"/>
                  </a:lnTo>
                  <a:lnTo>
                    <a:pt x="556082" y="11036"/>
                  </a:lnTo>
                  <a:lnTo>
                    <a:pt x="541959" y="3149"/>
                  </a:lnTo>
                  <a:lnTo>
                    <a:pt x="540804" y="3149"/>
                  </a:lnTo>
                  <a:lnTo>
                    <a:pt x="388950" y="86334"/>
                  </a:lnTo>
                  <a:lnTo>
                    <a:pt x="252768" y="7962"/>
                  </a:lnTo>
                  <a:lnTo>
                    <a:pt x="238925" y="0"/>
                  </a:lnTo>
                  <a:lnTo>
                    <a:pt x="237718" y="0"/>
                  </a:lnTo>
                  <a:lnTo>
                    <a:pt x="162293" y="44170"/>
                  </a:lnTo>
                  <a:lnTo>
                    <a:pt x="161455" y="44513"/>
                  </a:lnTo>
                  <a:lnTo>
                    <a:pt x="161061" y="44894"/>
                  </a:lnTo>
                  <a:lnTo>
                    <a:pt x="160261" y="45364"/>
                  </a:lnTo>
                  <a:lnTo>
                    <a:pt x="159677" y="46418"/>
                  </a:lnTo>
                  <a:lnTo>
                    <a:pt x="159677" y="47142"/>
                  </a:lnTo>
                  <a:lnTo>
                    <a:pt x="157264" y="401980"/>
                  </a:lnTo>
                  <a:lnTo>
                    <a:pt x="4394" y="308317"/>
                  </a:lnTo>
                  <a:lnTo>
                    <a:pt x="3175" y="308292"/>
                  </a:lnTo>
                  <a:lnTo>
                    <a:pt x="711" y="309651"/>
                  </a:lnTo>
                  <a:lnTo>
                    <a:pt x="88" y="310692"/>
                  </a:lnTo>
                  <a:lnTo>
                    <a:pt x="0" y="402755"/>
                  </a:lnTo>
                  <a:lnTo>
                    <a:pt x="609" y="403796"/>
                  </a:lnTo>
                  <a:lnTo>
                    <a:pt x="155994" y="491159"/>
                  </a:lnTo>
                  <a:lnTo>
                    <a:pt x="155016" y="670318"/>
                  </a:lnTo>
                  <a:lnTo>
                    <a:pt x="155651" y="671372"/>
                  </a:lnTo>
                  <a:lnTo>
                    <a:pt x="235419" y="713917"/>
                  </a:lnTo>
                  <a:lnTo>
                    <a:pt x="235839" y="714171"/>
                  </a:lnTo>
                  <a:lnTo>
                    <a:pt x="236423" y="714324"/>
                  </a:lnTo>
                  <a:lnTo>
                    <a:pt x="237096" y="714324"/>
                  </a:lnTo>
                  <a:lnTo>
                    <a:pt x="237769" y="714324"/>
                  </a:lnTo>
                  <a:lnTo>
                    <a:pt x="238963" y="714324"/>
                  </a:lnTo>
                  <a:lnTo>
                    <a:pt x="240131" y="713422"/>
                  </a:lnTo>
                  <a:lnTo>
                    <a:pt x="240207" y="713117"/>
                  </a:lnTo>
                  <a:lnTo>
                    <a:pt x="255244" y="704557"/>
                  </a:lnTo>
                  <a:lnTo>
                    <a:pt x="392176" y="626694"/>
                  </a:lnTo>
                  <a:lnTo>
                    <a:pt x="546074" y="713625"/>
                  </a:lnTo>
                  <a:lnTo>
                    <a:pt x="546455" y="713981"/>
                  </a:lnTo>
                  <a:lnTo>
                    <a:pt x="547306" y="714324"/>
                  </a:lnTo>
                  <a:lnTo>
                    <a:pt x="547649" y="714324"/>
                  </a:lnTo>
                  <a:lnTo>
                    <a:pt x="548297" y="714324"/>
                  </a:lnTo>
                  <a:lnTo>
                    <a:pt x="548932" y="714324"/>
                  </a:lnTo>
                  <a:lnTo>
                    <a:pt x="550138" y="714324"/>
                  </a:lnTo>
                  <a:lnTo>
                    <a:pt x="551307" y="713435"/>
                  </a:lnTo>
                  <a:lnTo>
                    <a:pt x="551383" y="713130"/>
                  </a:lnTo>
                  <a:lnTo>
                    <a:pt x="622655" y="672896"/>
                  </a:lnTo>
                  <a:lnTo>
                    <a:pt x="623265" y="671855"/>
                  </a:lnTo>
                  <a:lnTo>
                    <a:pt x="623265" y="494080"/>
                  </a:lnTo>
                  <a:lnTo>
                    <a:pt x="779145" y="407936"/>
                  </a:lnTo>
                  <a:lnTo>
                    <a:pt x="779767" y="406882"/>
                  </a:lnTo>
                  <a:lnTo>
                    <a:pt x="779767" y="316890"/>
                  </a:lnTo>
                  <a:lnTo>
                    <a:pt x="779767" y="315607"/>
                  </a:lnTo>
                  <a:lnTo>
                    <a:pt x="779767" y="315252"/>
                  </a:lnTo>
                  <a:close/>
                </a:path>
              </a:pathLst>
            </a:custGeom>
            <a:solidFill>
              <a:srgbClr val="0080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223" y="5684205"/>
              <a:ext cx="167388" cy="91092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521044" y="6922971"/>
            <a:ext cx="1085849" cy="1114424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827283" y="1320589"/>
            <a:ext cx="726376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0" spc="-30" dirty="0">
                <a:solidFill>
                  <a:srgbClr val="143A0D"/>
                </a:solidFill>
                <a:latin typeface="Tahoma"/>
                <a:cs typeface="Tahoma"/>
              </a:rPr>
              <a:t>PROBLEMATIQUE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827283" y="2648869"/>
            <a:ext cx="6407150" cy="1692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sz="2000" b="1" dirty="0">
                <a:latin typeface="Tahoma"/>
                <a:cs typeface="Tahoma"/>
              </a:rPr>
              <a:t>La</a:t>
            </a:r>
            <a:r>
              <a:rPr sz="2000" b="1" spc="-3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ville</a:t>
            </a:r>
            <a:r>
              <a:rPr sz="2000" b="1" spc="-25" dirty="0">
                <a:latin typeface="Tahoma"/>
                <a:cs typeface="Tahoma"/>
              </a:rPr>
              <a:t> </a:t>
            </a:r>
            <a:r>
              <a:rPr sz="2000" b="1" spc="70" dirty="0">
                <a:latin typeface="Tahoma"/>
                <a:cs typeface="Tahoma"/>
              </a:rPr>
              <a:t>de</a:t>
            </a:r>
            <a:r>
              <a:rPr sz="2000" b="1" spc="-2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Seattle</a:t>
            </a:r>
            <a:r>
              <a:rPr sz="2000" b="1" spc="-2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souhaite</a:t>
            </a:r>
            <a:r>
              <a:rPr sz="2000" b="1" spc="-2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atteindre</a:t>
            </a:r>
            <a:r>
              <a:rPr sz="2000" b="1" spc="-2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en</a:t>
            </a:r>
            <a:r>
              <a:rPr sz="2000" b="1" spc="-25" dirty="0">
                <a:latin typeface="Tahoma"/>
                <a:cs typeface="Tahoma"/>
              </a:rPr>
              <a:t> </a:t>
            </a:r>
            <a:r>
              <a:rPr sz="2000" b="1" spc="50" dirty="0">
                <a:latin typeface="Tahoma"/>
                <a:cs typeface="Tahoma"/>
              </a:rPr>
              <a:t>2050</a:t>
            </a:r>
            <a:r>
              <a:rPr sz="2000" b="1" spc="-30" dirty="0">
                <a:latin typeface="Tahoma"/>
                <a:cs typeface="Tahoma"/>
              </a:rPr>
              <a:t> </a:t>
            </a:r>
            <a:r>
              <a:rPr sz="2000" b="1" spc="-25" dirty="0">
                <a:latin typeface="Tahoma"/>
                <a:cs typeface="Tahoma"/>
              </a:rPr>
              <a:t>son </a:t>
            </a:r>
            <a:r>
              <a:rPr sz="2000" b="1" dirty="0">
                <a:latin typeface="Tahoma"/>
                <a:cs typeface="Tahoma"/>
              </a:rPr>
              <a:t>objectif</a:t>
            </a:r>
            <a:r>
              <a:rPr sz="2000" b="1" spc="-35" dirty="0">
                <a:latin typeface="Tahoma"/>
                <a:cs typeface="Tahoma"/>
              </a:rPr>
              <a:t> </a:t>
            </a:r>
            <a:r>
              <a:rPr sz="2000" b="1" spc="70" dirty="0">
                <a:latin typeface="Tahoma"/>
                <a:cs typeface="Tahoma"/>
              </a:rPr>
              <a:t>de</a:t>
            </a:r>
            <a:r>
              <a:rPr sz="2000" b="1" spc="-3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ville</a:t>
            </a:r>
            <a:r>
              <a:rPr sz="2000" b="1" spc="-30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neutre.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spc="65" dirty="0">
                <a:latin typeface="Verdana"/>
                <a:cs typeface="Verdana"/>
              </a:rPr>
              <a:t>L</a:t>
            </a:r>
            <a:r>
              <a:rPr sz="2000" b="1" spc="65" dirty="0">
                <a:latin typeface="Tahoma"/>
                <a:cs typeface="Tahoma"/>
              </a:rPr>
              <a:t>es</a:t>
            </a:r>
            <a:r>
              <a:rPr sz="2000" b="1" spc="1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relevés</a:t>
            </a:r>
            <a:r>
              <a:rPr sz="2000" b="1" spc="20" dirty="0">
                <a:latin typeface="Tahoma"/>
                <a:cs typeface="Tahoma"/>
              </a:rPr>
              <a:t> </a:t>
            </a:r>
            <a:r>
              <a:rPr sz="2000" b="1" spc="70" dirty="0">
                <a:latin typeface="Tahoma"/>
                <a:cs typeface="Tahoma"/>
              </a:rPr>
              <a:t>de</a:t>
            </a:r>
            <a:r>
              <a:rPr sz="2000" b="1" spc="20" dirty="0">
                <a:latin typeface="Tahoma"/>
                <a:cs typeface="Tahoma"/>
              </a:rPr>
              <a:t> </a:t>
            </a:r>
            <a:r>
              <a:rPr sz="2000" b="1" spc="-30" dirty="0">
                <a:latin typeface="Tahoma"/>
                <a:cs typeface="Tahoma"/>
              </a:rPr>
              <a:t>terrain</a:t>
            </a:r>
            <a:r>
              <a:rPr sz="2000" b="1" spc="2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sont</a:t>
            </a:r>
            <a:r>
              <a:rPr sz="2000" b="1" spc="20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coûteux.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827283" y="5315866"/>
            <a:ext cx="6226175" cy="235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  <a:tabLst>
                <a:tab pos="4378325" algn="l"/>
              </a:tabLst>
            </a:pPr>
            <a:r>
              <a:rPr sz="2000" b="1" spc="-20" dirty="0">
                <a:latin typeface="Tahoma"/>
                <a:cs typeface="Tahoma"/>
              </a:rPr>
              <a:t>Peut-</a:t>
            </a:r>
            <a:r>
              <a:rPr sz="2000" b="1" dirty="0">
                <a:latin typeface="Tahoma"/>
                <a:cs typeface="Tahoma"/>
              </a:rPr>
              <a:t>on</a:t>
            </a:r>
            <a:r>
              <a:rPr sz="2000" b="1" spc="5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prédire</a:t>
            </a:r>
            <a:r>
              <a:rPr sz="2000" b="1" spc="55" dirty="0">
                <a:latin typeface="Tahoma"/>
                <a:cs typeface="Tahoma"/>
              </a:rPr>
              <a:t> </a:t>
            </a:r>
            <a:r>
              <a:rPr sz="2000" b="1" spc="80" dirty="0">
                <a:latin typeface="Tahoma"/>
                <a:cs typeface="Tahoma"/>
              </a:rPr>
              <a:t>les</a:t>
            </a:r>
            <a:r>
              <a:rPr sz="2000" b="1" spc="5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émissions</a:t>
            </a:r>
            <a:r>
              <a:rPr sz="2000" b="1" spc="55" dirty="0">
                <a:latin typeface="Tahoma"/>
                <a:cs typeface="Tahoma"/>
              </a:rPr>
              <a:t> </a:t>
            </a:r>
            <a:r>
              <a:rPr sz="2000" b="1" spc="45" dirty="0">
                <a:latin typeface="Tahoma"/>
                <a:cs typeface="Tahoma"/>
              </a:rPr>
              <a:t>de</a:t>
            </a:r>
            <a:r>
              <a:rPr sz="2000" b="1" dirty="0">
                <a:latin typeface="Tahoma"/>
                <a:cs typeface="Tahoma"/>
              </a:rPr>
              <a:t>	</a:t>
            </a:r>
            <a:r>
              <a:rPr sz="2000" b="1" spc="120" dirty="0">
                <a:latin typeface="Tahoma"/>
                <a:cs typeface="Tahoma"/>
              </a:rPr>
              <a:t>CO2</a:t>
            </a:r>
            <a:r>
              <a:rPr sz="2000" b="1" spc="-2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et</a:t>
            </a:r>
            <a:r>
              <a:rPr sz="2000" b="1" spc="-20" dirty="0">
                <a:latin typeface="Tahoma"/>
                <a:cs typeface="Tahoma"/>
              </a:rPr>
              <a:t> </a:t>
            </a:r>
            <a:r>
              <a:rPr sz="2000" b="1" spc="-25" dirty="0">
                <a:latin typeface="Tahoma"/>
                <a:cs typeface="Tahoma"/>
              </a:rPr>
              <a:t>la </a:t>
            </a:r>
            <a:r>
              <a:rPr sz="2000" b="1" dirty="0">
                <a:latin typeface="Tahoma"/>
                <a:cs typeface="Tahoma"/>
              </a:rPr>
              <a:t>consommation</a:t>
            </a:r>
            <a:r>
              <a:rPr sz="2000" b="1" spc="-2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totale</a:t>
            </a:r>
            <a:r>
              <a:rPr sz="2000" b="1" spc="-2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d'énergie</a:t>
            </a:r>
            <a:r>
              <a:rPr sz="2000" b="1" spc="-25" dirty="0">
                <a:latin typeface="Tahoma"/>
                <a:cs typeface="Tahoma"/>
              </a:rPr>
              <a:t> </a:t>
            </a:r>
            <a:r>
              <a:rPr sz="2000" b="1" spc="90" dirty="0">
                <a:latin typeface="Tahoma"/>
                <a:cs typeface="Tahoma"/>
              </a:rPr>
              <a:t>des</a:t>
            </a:r>
            <a:r>
              <a:rPr sz="2000" b="1" spc="-2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bâtiments</a:t>
            </a:r>
            <a:r>
              <a:rPr sz="2000" b="1" spc="-25" dirty="0">
                <a:latin typeface="Tahoma"/>
                <a:cs typeface="Tahoma"/>
              </a:rPr>
              <a:t> </a:t>
            </a:r>
            <a:r>
              <a:rPr sz="2000" b="1" spc="-50" dirty="0">
                <a:latin typeface="Tahoma"/>
                <a:cs typeface="Tahoma"/>
              </a:rPr>
              <a:t>à </a:t>
            </a:r>
            <a:r>
              <a:rPr sz="2000" b="1" spc="-10" dirty="0">
                <a:latin typeface="Tahoma"/>
                <a:cs typeface="Tahoma"/>
              </a:rPr>
              <a:t>l'aide</a:t>
            </a:r>
            <a:r>
              <a:rPr sz="2000" b="1" spc="-5" dirty="0">
                <a:latin typeface="Tahoma"/>
                <a:cs typeface="Tahoma"/>
              </a:rPr>
              <a:t> </a:t>
            </a:r>
            <a:r>
              <a:rPr sz="2000" b="1" spc="90" dirty="0">
                <a:latin typeface="Tahoma"/>
                <a:cs typeface="Tahoma"/>
              </a:rPr>
              <a:t>des</a:t>
            </a:r>
            <a:r>
              <a:rPr sz="2000" b="1" dirty="0">
                <a:latin typeface="Tahoma"/>
                <a:cs typeface="Tahoma"/>
              </a:rPr>
              <a:t> déclarations</a:t>
            </a:r>
            <a:r>
              <a:rPr sz="2000" b="1" spc="-5" dirty="0">
                <a:latin typeface="Tahoma"/>
                <a:cs typeface="Tahoma"/>
              </a:rPr>
              <a:t> </a:t>
            </a:r>
            <a:r>
              <a:rPr sz="2000" b="1" spc="90" dirty="0">
                <a:latin typeface="Tahoma"/>
                <a:cs typeface="Tahoma"/>
              </a:rPr>
              <a:t>des</a:t>
            </a:r>
            <a:r>
              <a:rPr sz="2000" b="1" dirty="0">
                <a:latin typeface="Tahoma"/>
                <a:cs typeface="Tahoma"/>
              </a:rPr>
              <a:t> permis</a:t>
            </a:r>
            <a:r>
              <a:rPr sz="2000" b="1" spc="-5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d'exploitation </a:t>
            </a:r>
            <a:r>
              <a:rPr sz="2000" b="1" dirty="0">
                <a:latin typeface="Tahoma"/>
                <a:cs typeface="Tahoma"/>
              </a:rPr>
              <a:t>commerciale</a:t>
            </a:r>
            <a:r>
              <a:rPr sz="2000" b="1" spc="335" dirty="0">
                <a:latin typeface="Tahoma"/>
                <a:cs typeface="Tahoma"/>
              </a:rPr>
              <a:t> </a:t>
            </a:r>
            <a:r>
              <a:rPr sz="2000" b="1" spc="-50" dirty="0">
                <a:latin typeface="Tahoma"/>
                <a:cs typeface="Tahoma"/>
              </a:rPr>
              <a:t>?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2000">
              <a:latin typeface="Tahoma"/>
              <a:cs typeface="Tahoma"/>
            </a:endParaRPr>
          </a:p>
          <a:p>
            <a:pPr marL="12700" marR="918844">
              <a:lnSpc>
                <a:spcPct val="109400"/>
              </a:lnSpc>
              <a:spcBef>
                <a:spcPts val="5"/>
              </a:spcBef>
            </a:pPr>
            <a:r>
              <a:rPr sz="2000" b="1" dirty="0">
                <a:latin typeface="Tahoma"/>
                <a:cs typeface="Tahoma"/>
              </a:rPr>
              <a:t>Le</a:t>
            </a:r>
            <a:r>
              <a:rPr sz="2000" b="1" spc="55" dirty="0">
                <a:latin typeface="Tahoma"/>
                <a:cs typeface="Tahoma"/>
              </a:rPr>
              <a:t> </a:t>
            </a:r>
            <a:r>
              <a:rPr sz="2000" b="1" spc="85" dirty="0">
                <a:latin typeface="Tahoma"/>
                <a:cs typeface="Tahoma"/>
              </a:rPr>
              <a:t>score</a:t>
            </a:r>
            <a:r>
              <a:rPr sz="2000" b="1" spc="6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ENERGY</a:t>
            </a:r>
            <a:r>
              <a:rPr sz="2000" b="1" spc="5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STAR</a:t>
            </a:r>
            <a:r>
              <a:rPr sz="2000" b="1" spc="60" dirty="0">
                <a:latin typeface="Tahoma"/>
                <a:cs typeface="Tahoma"/>
              </a:rPr>
              <a:t> </a:t>
            </a:r>
            <a:r>
              <a:rPr sz="2000" b="1" spc="-30" dirty="0">
                <a:latin typeface="Tahoma"/>
                <a:cs typeface="Tahoma"/>
              </a:rPr>
              <a:t>apporte-</a:t>
            </a:r>
            <a:r>
              <a:rPr sz="2000" b="1" spc="-25" dirty="0">
                <a:latin typeface="Tahoma"/>
                <a:cs typeface="Tahoma"/>
              </a:rPr>
              <a:t>t-</a:t>
            </a:r>
            <a:r>
              <a:rPr sz="2000" b="1" dirty="0">
                <a:latin typeface="Tahoma"/>
                <a:cs typeface="Tahoma"/>
              </a:rPr>
              <a:t>il</a:t>
            </a:r>
            <a:r>
              <a:rPr sz="2000" b="1" spc="60" dirty="0">
                <a:latin typeface="Tahoma"/>
                <a:cs typeface="Tahoma"/>
              </a:rPr>
              <a:t> </a:t>
            </a:r>
            <a:r>
              <a:rPr sz="2000" b="1" spc="65" dirty="0">
                <a:latin typeface="Tahoma"/>
                <a:cs typeface="Tahoma"/>
              </a:rPr>
              <a:t>des </a:t>
            </a:r>
            <a:r>
              <a:rPr sz="2000" b="1" spc="-20" dirty="0">
                <a:latin typeface="Tahoma"/>
                <a:cs typeface="Tahoma"/>
              </a:rPr>
              <a:t>informations</a:t>
            </a:r>
            <a:r>
              <a:rPr sz="2000" b="1" spc="-1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utiles</a:t>
            </a:r>
            <a:r>
              <a:rPr sz="2000" b="1" spc="-1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dans</a:t>
            </a:r>
            <a:r>
              <a:rPr sz="2000" b="1" spc="-10" dirty="0">
                <a:latin typeface="Tahoma"/>
                <a:cs typeface="Tahoma"/>
              </a:rPr>
              <a:t> </a:t>
            </a:r>
            <a:r>
              <a:rPr sz="2000" b="1" spc="150" dirty="0">
                <a:latin typeface="Tahoma"/>
                <a:cs typeface="Tahoma"/>
              </a:rPr>
              <a:t>ces</a:t>
            </a:r>
            <a:r>
              <a:rPr sz="2000" b="1" spc="-10" dirty="0">
                <a:latin typeface="Tahoma"/>
                <a:cs typeface="Tahoma"/>
              </a:rPr>
              <a:t> prédictions?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843343" y="1577982"/>
            <a:ext cx="14986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-76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endParaRPr sz="3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607669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18288000" y="5692030"/>
                </a:moveTo>
                <a:lnTo>
                  <a:pt x="0" y="569203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5692030"/>
                </a:lnTo>
                <a:close/>
              </a:path>
            </a:pathLst>
          </a:custGeom>
          <a:solidFill>
            <a:srgbClr val="143A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317" rIns="0" bIns="0" rtlCol="0">
            <a:spAutoFit/>
          </a:bodyPr>
          <a:lstStyle/>
          <a:p>
            <a:pPr marL="1083945">
              <a:lnSpc>
                <a:spcPct val="100000"/>
              </a:lnSpc>
              <a:spcBef>
                <a:spcPts val="100"/>
              </a:spcBef>
            </a:pPr>
            <a:r>
              <a:rPr spc="-370" dirty="0"/>
              <a:t>Quelles </a:t>
            </a:r>
            <a:r>
              <a:rPr spc="-185" dirty="0"/>
              <a:t>sont</a:t>
            </a:r>
            <a:r>
              <a:rPr spc="-370" dirty="0"/>
              <a:t> </a:t>
            </a:r>
            <a:r>
              <a:rPr spc="-270" dirty="0"/>
              <a:t>les</a:t>
            </a:r>
            <a:r>
              <a:rPr spc="-370" dirty="0"/>
              <a:t> </a:t>
            </a:r>
            <a:r>
              <a:rPr spc="-215" dirty="0"/>
              <a:t>pistes</a:t>
            </a:r>
            <a:r>
              <a:rPr spc="-370" dirty="0"/>
              <a:t> </a:t>
            </a:r>
            <a:r>
              <a:rPr spc="-320" dirty="0"/>
              <a:t>de</a:t>
            </a:r>
            <a:r>
              <a:rPr spc="-370" dirty="0"/>
              <a:t> </a:t>
            </a:r>
            <a:r>
              <a:rPr spc="-160" dirty="0"/>
              <a:t>recherches</a:t>
            </a:r>
            <a:r>
              <a:rPr spc="-370" dirty="0"/>
              <a:t> </a:t>
            </a:r>
            <a:r>
              <a:rPr spc="-470" dirty="0"/>
              <a:t>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34879" y="4870443"/>
            <a:ext cx="5161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Prédiction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80" dirty="0">
                <a:solidFill>
                  <a:srgbClr val="FFFFFF"/>
                </a:solidFill>
                <a:latin typeface="Tahoma"/>
                <a:cs typeface="Tahoma"/>
              </a:rPr>
              <a:t>des</a:t>
            </a:r>
            <a:r>
              <a:rPr sz="24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émissions</a:t>
            </a:r>
            <a:r>
              <a:rPr sz="24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5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Tahoma"/>
                <a:cs typeface="Tahoma"/>
              </a:rPr>
              <a:t>CO2: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6565" y="5594343"/>
            <a:ext cx="4354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FFFFFF"/>
                </a:solidFill>
                <a:latin typeface="Tahoma"/>
                <a:cs typeface="Tahoma"/>
              </a:rPr>
              <a:t>variable</a:t>
            </a:r>
            <a:r>
              <a:rPr sz="24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TotalGHGEmissions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80902" y="4870443"/>
            <a:ext cx="7381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Prédiction</a:t>
            </a:r>
            <a:r>
              <a:rPr sz="24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5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4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sz="24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consommation</a:t>
            </a:r>
            <a:r>
              <a:rPr sz="24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totale</a:t>
            </a:r>
            <a:r>
              <a:rPr sz="24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Tahoma"/>
                <a:cs typeface="Tahoma"/>
              </a:rPr>
              <a:t>d'énergie</a:t>
            </a:r>
            <a:r>
              <a:rPr sz="24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360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80902" y="5594343"/>
            <a:ext cx="3569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FFFFFF"/>
                </a:solidFill>
                <a:latin typeface="Tahoma"/>
                <a:cs typeface="Tahoma"/>
              </a:rPr>
              <a:t>variable</a:t>
            </a:r>
            <a:r>
              <a:rPr sz="24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SiteEnergyUse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8633" y="2518178"/>
            <a:ext cx="15106015" cy="114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2840" marR="5080" indent="-1120775">
              <a:lnSpc>
                <a:spcPct val="115199"/>
              </a:lnSpc>
              <a:spcBef>
                <a:spcPts val="100"/>
              </a:spcBef>
            </a:pPr>
            <a:r>
              <a:rPr sz="3200" spc="-85" dirty="0">
                <a:latin typeface="Verdana"/>
                <a:cs typeface="Verdana"/>
              </a:rPr>
              <a:t>Afin</a:t>
            </a:r>
            <a:r>
              <a:rPr sz="3200" spc="-220" dirty="0">
                <a:latin typeface="Verdana"/>
                <a:cs typeface="Verdana"/>
              </a:rPr>
              <a:t> </a:t>
            </a:r>
            <a:r>
              <a:rPr sz="3200" spc="55" dirty="0">
                <a:latin typeface="Verdana"/>
                <a:cs typeface="Verdana"/>
              </a:rPr>
              <a:t>de</a:t>
            </a:r>
            <a:r>
              <a:rPr sz="3200" spc="-215" dirty="0">
                <a:latin typeface="Verdana"/>
                <a:cs typeface="Verdana"/>
              </a:rPr>
              <a:t> </a:t>
            </a:r>
            <a:r>
              <a:rPr sz="3200" spc="-45" dirty="0">
                <a:latin typeface="Verdana"/>
                <a:cs typeface="Verdana"/>
              </a:rPr>
              <a:t>réaliser</a:t>
            </a:r>
            <a:r>
              <a:rPr sz="3200" spc="-215" dirty="0">
                <a:latin typeface="Verdana"/>
                <a:cs typeface="Verdana"/>
              </a:rPr>
              <a:t> </a:t>
            </a:r>
            <a:r>
              <a:rPr sz="3200" spc="70" dirty="0">
                <a:latin typeface="Verdana"/>
                <a:cs typeface="Verdana"/>
              </a:rPr>
              <a:t>les</a:t>
            </a:r>
            <a:r>
              <a:rPr sz="3200" spc="-215" dirty="0">
                <a:latin typeface="Verdana"/>
                <a:cs typeface="Verdana"/>
              </a:rPr>
              <a:t> </a:t>
            </a:r>
            <a:r>
              <a:rPr sz="3200" spc="-20" dirty="0">
                <a:latin typeface="Verdana"/>
                <a:cs typeface="Verdana"/>
              </a:rPr>
              <a:t>prédictions</a:t>
            </a:r>
            <a:r>
              <a:rPr sz="3200" spc="-21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et</a:t>
            </a:r>
            <a:r>
              <a:rPr sz="3200" spc="-215" dirty="0">
                <a:latin typeface="Verdana"/>
                <a:cs typeface="Verdana"/>
              </a:rPr>
              <a:t> </a:t>
            </a:r>
            <a:r>
              <a:rPr sz="3200" spc="-100" dirty="0">
                <a:latin typeface="Verdana"/>
                <a:cs typeface="Verdana"/>
              </a:rPr>
              <a:t>vérifier</a:t>
            </a:r>
            <a:r>
              <a:rPr sz="3200" spc="-215" dirty="0">
                <a:latin typeface="Verdana"/>
                <a:cs typeface="Verdana"/>
              </a:rPr>
              <a:t> </a:t>
            </a:r>
            <a:r>
              <a:rPr sz="3200" spc="-70" dirty="0">
                <a:latin typeface="Verdana"/>
                <a:cs typeface="Verdana"/>
              </a:rPr>
              <a:t>l'importance</a:t>
            </a:r>
            <a:r>
              <a:rPr sz="3200" spc="-215" dirty="0">
                <a:latin typeface="Verdana"/>
                <a:cs typeface="Verdana"/>
              </a:rPr>
              <a:t> </a:t>
            </a:r>
            <a:r>
              <a:rPr sz="3200" spc="-85" dirty="0">
                <a:latin typeface="Verdana"/>
                <a:cs typeface="Verdana"/>
              </a:rPr>
              <a:t>du</a:t>
            </a:r>
            <a:r>
              <a:rPr sz="3200" spc="-215" dirty="0">
                <a:latin typeface="Verdana"/>
                <a:cs typeface="Verdana"/>
              </a:rPr>
              <a:t> </a:t>
            </a:r>
            <a:r>
              <a:rPr sz="3200" spc="70" dirty="0">
                <a:latin typeface="Verdana"/>
                <a:cs typeface="Verdana"/>
              </a:rPr>
              <a:t>score</a:t>
            </a:r>
            <a:r>
              <a:rPr sz="3200" spc="-215" dirty="0">
                <a:latin typeface="Verdana"/>
                <a:cs typeface="Verdana"/>
              </a:rPr>
              <a:t> </a:t>
            </a:r>
            <a:r>
              <a:rPr sz="3200" spc="-75" dirty="0">
                <a:latin typeface="Verdana"/>
                <a:cs typeface="Verdana"/>
              </a:rPr>
              <a:t>Energy</a:t>
            </a:r>
            <a:r>
              <a:rPr sz="3200" spc="-220" dirty="0">
                <a:latin typeface="Verdana"/>
                <a:cs typeface="Verdana"/>
              </a:rPr>
              <a:t> </a:t>
            </a:r>
            <a:r>
              <a:rPr sz="3200" spc="-125" dirty="0">
                <a:latin typeface="Verdana"/>
                <a:cs typeface="Verdana"/>
              </a:rPr>
              <a:t>Star</a:t>
            </a:r>
            <a:r>
              <a:rPr sz="3200" spc="-215" dirty="0">
                <a:latin typeface="Verdana"/>
                <a:cs typeface="Verdana"/>
              </a:rPr>
              <a:t> </a:t>
            </a:r>
            <a:r>
              <a:rPr sz="3200" spc="-25" dirty="0">
                <a:latin typeface="Verdana"/>
                <a:cs typeface="Verdana"/>
              </a:rPr>
              <a:t>il </a:t>
            </a:r>
            <a:r>
              <a:rPr sz="3200" spc="-105" dirty="0">
                <a:latin typeface="Verdana"/>
                <a:cs typeface="Verdana"/>
              </a:rPr>
              <a:t>faut</a:t>
            </a:r>
            <a:r>
              <a:rPr sz="3200" spc="-200" dirty="0">
                <a:latin typeface="Verdana"/>
                <a:cs typeface="Verdana"/>
              </a:rPr>
              <a:t> </a:t>
            </a:r>
            <a:r>
              <a:rPr sz="3200" spc="-30" dirty="0">
                <a:latin typeface="Verdana"/>
                <a:cs typeface="Verdana"/>
              </a:rPr>
              <a:t>tester</a:t>
            </a:r>
            <a:r>
              <a:rPr sz="3200" spc="-200" dirty="0">
                <a:latin typeface="Verdana"/>
                <a:cs typeface="Verdana"/>
              </a:rPr>
              <a:t> </a:t>
            </a:r>
            <a:r>
              <a:rPr sz="3200" spc="-50" dirty="0">
                <a:latin typeface="Verdana"/>
                <a:cs typeface="Verdana"/>
              </a:rPr>
              <a:t>plusieurs</a:t>
            </a:r>
            <a:r>
              <a:rPr sz="3200" spc="-20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modèles</a:t>
            </a:r>
            <a:r>
              <a:rPr sz="3200" spc="-195" dirty="0">
                <a:latin typeface="Verdana"/>
                <a:cs typeface="Verdana"/>
              </a:rPr>
              <a:t> </a:t>
            </a:r>
            <a:r>
              <a:rPr sz="3200" spc="55" dirty="0">
                <a:latin typeface="Verdana"/>
                <a:cs typeface="Verdana"/>
              </a:rPr>
              <a:t>de</a:t>
            </a:r>
            <a:r>
              <a:rPr sz="3200" spc="-200" dirty="0">
                <a:latin typeface="Verdana"/>
                <a:cs typeface="Verdana"/>
              </a:rPr>
              <a:t> </a:t>
            </a:r>
            <a:r>
              <a:rPr sz="3200" spc="-20" dirty="0">
                <a:latin typeface="Verdana"/>
                <a:cs typeface="Verdana"/>
              </a:rPr>
              <a:t>régression</a:t>
            </a:r>
            <a:r>
              <a:rPr sz="3200" spc="-200" dirty="0">
                <a:latin typeface="Verdana"/>
                <a:cs typeface="Verdana"/>
              </a:rPr>
              <a:t> </a:t>
            </a:r>
            <a:r>
              <a:rPr sz="3200" spc="55" dirty="0">
                <a:latin typeface="Verdana"/>
                <a:cs typeface="Verdana"/>
              </a:rPr>
              <a:t>de</a:t>
            </a:r>
            <a:r>
              <a:rPr sz="3200" spc="-200" dirty="0">
                <a:latin typeface="Verdana"/>
                <a:cs typeface="Verdana"/>
              </a:rPr>
              <a:t> </a:t>
            </a:r>
            <a:r>
              <a:rPr sz="3200" spc="-80" dirty="0">
                <a:latin typeface="Verdana"/>
                <a:cs typeface="Verdana"/>
              </a:rPr>
              <a:t>machine</a:t>
            </a:r>
            <a:r>
              <a:rPr sz="3200" spc="-195" dirty="0">
                <a:latin typeface="Verdana"/>
                <a:cs typeface="Verdana"/>
              </a:rPr>
              <a:t> </a:t>
            </a:r>
            <a:r>
              <a:rPr sz="3200" spc="-10" dirty="0">
                <a:latin typeface="Verdana"/>
                <a:cs typeface="Verdana"/>
              </a:rPr>
              <a:t>learning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01587" y="7395959"/>
            <a:ext cx="11052613" cy="17018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520"/>
              </a:spcBef>
            </a:pPr>
            <a:r>
              <a:rPr lang="fr-FR" sz="2400" b="1" spc="-505" dirty="0">
                <a:solidFill>
                  <a:srgbClr val="FFFFFF"/>
                </a:solidFill>
                <a:latin typeface="Tahoma"/>
                <a:cs typeface="Tahoma"/>
              </a:rPr>
              <a:t>-    </a:t>
            </a:r>
            <a:r>
              <a:rPr sz="2400" b="1" dirty="0" err="1">
                <a:solidFill>
                  <a:srgbClr val="FFFFFF"/>
                </a:solidFill>
                <a:latin typeface="Tahoma"/>
                <a:cs typeface="Tahoma"/>
              </a:rPr>
              <a:t>Comparaison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5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 différents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modèles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d'apprentissage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 supervisé</a:t>
            </a:r>
            <a:endParaRPr sz="2400" dirty="0">
              <a:latin typeface="Tahoma"/>
              <a:cs typeface="Tahoma"/>
            </a:endParaRPr>
          </a:p>
          <a:p>
            <a:pPr algn="l">
              <a:lnSpc>
                <a:spcPct val="100000"/>
              </a:lnSpc>
              <a:spcBef>
                <a:spcPts val="420"/>
              </a:spcBef>
            </a:pPr>
            <a:r>
              <a:rPr lang="fr-FR" sz="2400" b="1" spc="-505" dirty="0">
                <a:solidFill>
                  <a:srgbClr val="FFFFFF"/>
                </a:solidFill>
                <a:latin typeface="Tahoma"/>
                <a:cs typeface="Tahoma"/>
              </a:rPr>
              <a:t>--  </a:t>
            </a:r>
            <a:r>
              <a:rPr sz="2400" b="1" spc="-25" dirty="0" err="1">
                <a:solidFill>
                  <a:srgbClr val="FFFFFF"/>
                </a:solidFill>
                <a:latin typeface="Tahoma"/>
                <a:cs typeface="Tahoma"/>
              </a:rPr>
              <a:t>Amélioration</a:t>
            </a:r>
            <a:r>
              <a:rPr sz="24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80" dirty="0">
                <a:solidFill>
                  <a:srgbClr val="FFFFFF"/>
                </a:solidFill>
                <a:latin typeface="Tahoma"/>
                <a:cs typeface="Tahoma"/>
              </a:rPr>
              <a:t>des</a:t>
            </a:r>
            <a:r>
              <a:rPr sz="240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hyperparamètres</a:t>
            </a:r>
            <a:r>
              <a:rPr sz="240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80" dirty="0">
                <a:solidFill>
                  <a:srgbClr val="FFFFFF"/>
                </a:solidFill>
                <a:latin typeface="Tahoma"/>
                <a:cs typeface="Tahoma"/>
              </a:rPr>
              <a:t>des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modèles</a:t>
            </a:r>
            <a:endParaRPr sz="2400" dirty="0">
              <a:latin typeface="Tahoma"/>
              <a:cs typeface="Tahoma"/>
            </a:endParaRPr>
          </a:p>
          <a:p>
            <a:pPr algn="l">
              <a:lnSpc>
                <a:spcPct val="100000"/>
              </a:lnSpc>
              <a:spcBef>
                <a:spcPts val="420"/>
              </a:spcBef>
            </a:pPr>
            <a:r>
              <a:rPr lang="fr-FR" sz="2400" b="1" spc="-80" dirty="0">
                <a:solidFill>
                  <a:srgbClr val="FFFFFF"/>
                </a:solidFill>
                <a:latin typeface="Tahoma"/>
                <a:cs typeface="Tahoma"/>
              </a:rPr>
              <a:t>- C</a:t>
            </a:r>
            <a:r>
              <a:rPr sz="2400" b="1" spc="-80" dirty="0" err="1">
                <a:solidFill>
                  <a:srgbClr val="FFFFFF"/>
                </a:solidFill>
                <a:latin typeface="Tahoma"/>
                <a:cs typeface="Tahoma"/>
              </a:rPr>
              <a:t>hoix</a:t>
            </a:r>
            <a:r>
              <a:rPr sz="24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du</a:t>
            </a:r>
            <a:r>
              <a:rPr sz="24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Tahoma"/>
                <a:cs typeface="Tahoma"/>
              </a:rPr>
              <a:t>meilleur</a:t>
            </a:r>
            <a:r>
              <a:rPr sz="2400" b="1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modèle</a:t>
            </a:r>
            <a:endParaRPr sz="2400" dirty="0">
              <a:latin typeface="Tahoma"/>
              <a:cs typeface="Tahoma"/>
            </a:endParaRPr>
          </a:p>
          <a:p>
            <a:pPr marR="73660" algn="l">
              <a:lnSpc>
                <a:spcPct val="100000"/>
              </a:lnSpc>
              <a:spcBef>
                <a:spcPts val="420"/>
              </a:spcBef>
            </a:pPr>
            <a:r>
              <a:rPr lang="fr-FR" sz="2400" b="1" spc="-40" dirty="0">
                <a:solidFill>
                  <a:srgbClr val="FFFFFF"/>
                </a:solidFill>
                <a:latin typeface="Tahoma"/>
                <a:cs typeface="Tahoma"/>
              </a:rPr>
              <a:t>-C</a:t>
            </a:r>
            <a:r>
              <a:rPr sz="2400" b="1" spc="-40" dirty="0" err="1">
                <a:solidFill>
                  <a:srgbClr val="FFFFFF"/>
                </a:solidFill>
                <a:latin typeface="Tahoma"/>
                <a:cs typeface="Tahoma"/>
              </a:rPr>
              <a:t>omparaison</a:t>
            </a:r>
            <a:r>
              <a:rPr sz="240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5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prédiction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55" dirty="0">
                <a:solidFill>
                  <a:srgbClr val="FFFFFF"/>
                </a:solidFill>
                <a:latin typeface="Tahoma"/>
                <a:cs typeface="Tahoma"/>
              </a:rPr>
              <a:t>avec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90" dirty="0">
                <a:solidFill>
                  <a:srgbClr val="FFFFFF"/>
                </a:solidFill>
                <a:latin typeface="Tahoma"/>
                <a:cs typeface="Tahoma"/>
              </a:rPr>
              <a:t>score</a:t>
            </a:r>
            <a:r>
              <a:rPr sz="240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EnergyStar</a:t>
            </a:r>
            <a:endParaRPr sz="2400" dirty="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29233" y="2509176"/>
            <a:ext cx="780415" cy="714375"/>
            <a:chOff x="1029233" y="2509176"/>
            <a:chExt cx="780415" cy="714375"/>
          </a:xfrm>
        </p:grpSpPr>
        <p:sp>
          <p:nvSpPr>
            <p:cNvPr id="12" name="object 12"/>
            <p:cNvSpPr/>
            <p:nvPr/>
          </p:nvSpPr>
          <p:spPr>
            <a:xfrm>
              <a:off x="1029474" y="2509176"/>
              <a:ext cx="779780" cy="714375"/>
            </a:xfrm>
            <a:custGeom>
              <a:avLst/>
              <a:gdLst/>
              <a:ahLst/>
              <a:cxnLst/>
              <a:rect l="l" t="t" r="r" b="b"/>
              <a:pathLst>
                <a:path w="779780" h="714375">
                  <a:moveTo>
                    <a:pt x="779780" y="315620"/>
                  </a:moveTo>
                  <a:lnTo>
                    <a:pt x="779767" y="315252"/>
                  </a:lnTo>
                  <a:lnTo>
                    <a:pt x="779411" y="314413"/>
                  </a:lnTo>
                  <a:lnTo>
                    <a:pt x="779056" y="314071"/>
                  </a:lnTo>
                  <a:lnTo>
                    <a:pt x="778979" y="313918"/>
                  </a:lnTo>
                  <a:lnTo>
                    <a:pt x="778548" y="313474"/>
                  </a:lnTo>
                  <a:lnTo>
                    <a:pt x="778357" y="313372"/>
                  </a:lnTo>
                  <a:lnTo>
                    <a:pt x="778002" y="313004"/>
                  </a:lnTo>
                  <a:lnTo>
                    <a:pt x="777163" y="312674"/>
                  </a:lnTo>
                  <a:lnTo>
                    <a:pt x="772541" y="309968"/>
                  </a:lnTo>
                  <a:lnTo>
                    <a:pt x="772541" y="322491"/>
                  </a:lnTo>
                  <a:lnTo>
                    <a:pt x="772541" y="403377"/>
                  </a:lnTo>
                  <a:lnTo>
                    <a:pt x="616661" y="489534"/>
                  </a:lnTo>
                  <a:lnTo>
                    <a:pt x="616038" y="490588"/>
                  </a:lnTo>
                  <a:lnTo>
                    <a:pt x="616038" y="668401"/>
                  </a:lnTo>
                  <a:lnTo>
                    <a:pt x="551916" y="704596"/>
                  </a:lnTo>
                  <a:lnTo>
                    <a:pt x="551916" y="530885"/>
                  </a:lnTo>
                  <a:lnTo>
                    <a:pt x="551319" y="529844"/>
                  </a:lnTo>
                  <a:lnTo>
                    <a:pt x="548894" y="528472"/>
                  </a:lnTo>
                  <a:lnTo>
                    <a:pt x="547687" y="528472"/>
                  </a:lnTo>
                  <a:lnTo>
                    <a:pt x="544690" y="530212"/>
                  </a:lnTo>
                  <a:lnTo>
                    <a:pt x="544690" y="538505"/>
                  </a:lnTo>
                  <a:lnTo>
                    <a:pt x="544690" y="704608"/>
                  </a:lnTo>
                  <a:lnTo>
                    <a:pt x="406755" y="626706"/>
                  </a:lnTo>
                  <a:lnTo>
                    <a:pt x="399389" y="622554"/>
                  </a:lnTo>
                  <a:lnTo>
                    <a:pt x="544690" y="538505"/>
                  </a:lnTo>
                  <a:lnTo>
                    <a:pt x="544690" y="530212"/>
                  </a:lnTo>
                  <a:lnTo>
                    <a:pt x="395744" y="616381"/>
                  </a:lnTo>
                  <a:lnTo>
                    <a:pt x="395109" y="537070"/>
                  </a:lnTo>
                  <a:lnTo>
                    <a:pt x="544639" y="451637"/>
                  </a:lnTo>
                  <a:lnTo>
                    <a:pt x="545528" y="451637"/>
                  </a:lnTo>
                  <a:lnTo>
                    <a:pt x="546684" y="450761"/>
                  </a:lnTo>
                  <a:lnTo>
                    <a:pt x="546823" y="450253"/>
                  </a:lnTo>
                  <a:lnTo>
                    <a:pt x="547306" y="449440"/>
                  </a:lnTo>
                  <a:lnTo>
                    <a:pt x="547293" y="448538"/>
                  </a:lnTo>
                  <a:lnTo>
                    <a:pt x="547662" y="447243"/>
                  </a:lnTo>
                  <a:lnTo>
                    <a:pt x="547293" y="446379"/>
                  </a:lnTo>
                  <a:lnTo>
                    <a:pt x="547001" y="269519"/>
                  </a:lnTo>
                  <a:lnTo>
                    <a:pt x="558114" y="263283"/>
                  </a:lnTo>
                  <a:lnTo>
                    <a:pt x="617042" y="230276"/>
                  </a:lnTo>
                  <a:lnTo>
                    <a:pt x="617054" y="231584"/>
                  </a:lnTo>
                  <a:lnTo>
                    <a:pt x="618032" y="406488"/>
                  </a:lnTo>
                  <a:lnTo>
                    <a:pt x="618388" y="407339"/>
                  </a:lnTo>
                  <a:lnTo>
                    <a:pt x="619798" y="408724"/>
                  </a:lnTo>
                  <a:lnTo>
                    <a:pt x="620649" y="409067"/>
                  </a:lnTo>
                  <a:lnTo>
                    <a:pt x="622287" y="409067"/>
                  </a:lnTo>
                  <a:lnTo>
                    <a:pt x="622896" y="408914"/>
                  </a:lnTo>
                  <a:lnTo>
                    <a:pt x="639584" y="399275"/>
                  </a:lnTo>
                  <a:lnTo>
                    <a:pt x="772541" y="322491"/>
                  </a:lnTo>
                  <a:lnTo>
                    <a:pt x="772541" y="309968"/>
                  </a:lnTo>
                  <a:lnTo>
                    <a:pt x="769010" y="307911"/>
                  </a:lnTo>
                  <a:lnTo>
                    <a:pt x="769010" y="316230"/>
                  </a:lnTo>
                  <a:lnTo>
                    <a:pt x="625221" y="399275"/>
                  </a:lnTo>
                  <a:lnTo>
                    <a:pt x="624281" y="231584"/>
                  </a:lnTo>
                  <a:lnTo>
                    <a:pt x="769010" y="316230"/>
                  </a:lnTo>
                  <a:lnTo>
                    <a:pt x="769010" y="307911"/>
                  </a:lnTo>
                  <a:lnTo>
                    <a:pt x="638505" y="231584"/>
                  </a:lnTo>
                  <a:lnTo>
                    <a:pt x="624230" y="223240"/>
                  </a:lnTo>
                  <a:lnTo>
                    <a:pt x="624230" y="222262"/>
                  </a:lnTo>
                  <a:lnTo>
                    <a:pt x="623277" y="52031"/>
                  </a:lnTo>
                  <a:lnTo>
                    <a:pt x="623265" y="49682"/>
                  </a:lnTo>
                  <a:lnTo>
                    <a:pt x="623201" y="49187"/>
                  </a:lnTo>
                  <a:lnTo>
                    <a:pt x="622642" y="48247"/>
                  </a:lnTo>
                  <a:lnTo>
                    <a:pt x="621868" y="47828"/>
                  </a:lnTo>
                  <a:lnTo>
                    <a:pt x="621499" y="47447"/>
                  </a:lnTo>
                  <a:lnTo>
                    <a:pt x="620649" y="47104"/>
                  </a:lnTo>
                  <a:lnTo>
                    <a:pt x="616978" y="45085"/>
                  </a:lnTo>
                  <a:lnTo>
                    <a:pt x="616978" y="219062"/>
                  </a:lnTo>
                  <a:lnTo>
                    <a:pt x="477989" y="139446"/>
                  </a:lnTo>
                  <a:lnTo>
                    <a:pt x="475615" y="138010"/>
                  </a:lnTo>
                  <a:lnTo>
                    <a:pt x="616064" y="56896"/>
                  </a:lnTo>
                  <a:lnTo>
                    <a:pt x="616978" y="219062"/>
                  </a:lnTo>
                  <a:lnTo>
                    <a:pt x="616978" y="45085"/>
                  </a:lnTo>
                  <a:lnTo>
                    <a:pt x="612394" y="42519"/>
                  </a:lnTo>
                  <a:lnTo>
                    <a:pt x="612394" y="50723"/>
                  </a:lnTo>
                  <a:lnTo>
                    <a:pt x="465340" y="135636"/>
                  </a:lnTo>
                  <a:lnTo>
                    <a:pt x="464731" y="136677"/>
                  </a:lnTo>
                  <a:lnTo>
                    <a:pt x="464731" y="139446"/>
                  </a:lnTo>
                  <a:lnTo>
                    <a:pt x="465340" y="140474"/>
                  </a:lnTo>
                  <a:lnTo>
                    <a:pt x="612355" y="224688"/>
                  </a:lnTo>
                  <a:lnTo>
                    <a:pt x="543445" y="263283"/>
                  </a:lnTo>
                  <a:lnTo>
                    <a:pt x="540054" y="261251"/>
                  </a:lnTo>
                  <a:lnTo>
                    <a:pt x="540054" y="441782"/>
                  </a:lnTo>
                  <a:lnTo>
                    <a:pt x="536511" y="439712"/>
                  </a:lnTo>
                  <a:lnTo>
                    <a:pt x="536511" y="448017"/>
                  </a:lnTo>
                  <a:lnTo>
                    <a:pt x="391464" y="530885"/>
                  </a:lnTo>
                  <a:lnTo>
                    <a:pt x="388505" y="529221"/>
                  </a:lnTo>
                  <a:lnTo>
                    <a:pt x="388505" y="616407"/>
                  </a:lnTo>
                  <a:lnTo>
                    <a:pt x="384886" y="614375"/>
                  </a:lnTo>
                  <a:lnTo>
                    <a:pt x="384886" y="622592"/>
                  </a:lnTo>
                  <a:lnTo>
                    <a:pt x="240715" y="704570"/>
                  </a:lnTo>
                  <a:lnTo>
                    <a:pt x="240715" y="541172"/>
                  </a:lnTo>
                  <a:lnTo>
                    <a:pt x="384886" y="622592"/>
                  </a:lnTo>
                  <a:lnTo>
                    <a:pt x="384886" y="614375"/>
                  </a:lnTo>
                  <a:lnTo>
                    <a:pt x="255308" y="541172"/>
                  </a:lnTo>
                  <a:lnTo>
                    <a:pt x="238328" y="531583"/>
                  </a:lnTo>
                  <a:lnTo>
                    <a:pt x="237731" y="531431"/>
                  </a:lnTo>
                  <a:lnTo>
                    <a:pt x="236461" y="531431"/>
                  </a:lnTo>
                  <a:lnTo>
                    <a:pt x="233489" y="534365"/>
                  </a:lnTo>
                  <a:lnTo>
                    <a:pt x="233489" y="704761"/>
                  </a:lnTo>
                  <a:lnTo>
                    <a:pt x="162255" y="666775"/>
                  </a:lnTo>
                  <a:lnTo>
                    <a:pt x="163233" y="487705"/>
                  </a:lnTo>
                  <a:lnTo>
                    <a:pt x="162623" y="486664"/>
                  </a:lnTo>
                  <a:lnTo>
                    <a:pt x="7226" y="399288"/>
                  </a:lnTo>
                  <a:lnTo>
                    <a:pt x="7315" y="318528"/>
                  </a:lnTo>
                  <a:lnTo>
                    <a:pt x="160147" y="412178"/>
                  </a:lnTo>
                  <a:lnTo>
                    <a:pt x="161366" y="412203"/>
                  </a:lnTo>
                  <a:lnTo>
                    <a:pt x="163830" y="410845"/>
                  </a:lnTo>
                  <a:lnTo>
                    <a:pt x="164439" y="409803"/>
                  </a:lnTo>
                  <a:lnTo>
                    <a:pt x="165633" y="233680"/>
                  </a:lnTo>
                  <a:lnTo>
                    <a:pt x="233489" y="269582"/>
                  </a:lnTo>
                  <a:lnTo>
                    <a:pt x="233489" y="446697"/>
                  </a:lnTo>
                  <a:lnTo>
                    <a:pt x="233489" y="449046"/>
                  </a:lnTo>
                  <a:lnTo>
                    <a:pt x="233502" y="449453"/>
                  </a:lnTo>
                  <a:lnTo>
                    <a:pt x="234111" y="450481"/>
                  </a:lnTo>
                  <a:lnTo>
                    <a:pt x="234886" y="450926"/>
                  </a:lnTo>
                  <a:lnTo>
                    <a:pt x="235254" y="451281"/>
                  </a:lnTo>
                  <a:lnTo>
                    <a:pt x="236105" y="451637"/>
                  </a:lnTo>
                  <a:lnTo>
                    <a:pt x="387883" y="537108"/>
                  </a:lnTo>
                  <a:lnTo>
                    <a:pt x="388505" y="616407"/>
                  </a:lnTo>
                  <a:lnTo>
                    <a:pt x="388505" y="529221"/>
                  </a:lnTo>
                  <a:lnTo>
                    <a:pt x="244360" y="448017"/>
                  </a:lnTo>
                  <a:lnTo>
                    <a:pt x="391464" y="363118"/>
                  </a:lnTo>
                  <a:lnTo>
                    <a:pt x="536511" y="448017"/>
                  </a:lnTo>
                  <a:lnTo>
                    <a:pt x="536511" y="439712"/>
                  </a:lnTo>
                  <a:lnTo>
                    <a:pt x="395058" y="356895"/>
                  </a:lnTo>
                  <a:lnTo>
                    <a:pt x="392607" y="181102"/>
                  </a:lnTo>
                  <a:lnTo>
                    <a:pt x="539775" y="269468"/>
                  </a:lnTo>
                  <a:lnTo>
                    <a:pt x="540054" y="441782"/>
                  </a:lnTo>
                  <a:lnTo>
                    <a:pt x="540054" y="261251"/>
                  </a:lnTo>
                  <a:lnTo>
                    <a:pt x="402856" y="178879"/>
                  </a:lnTo>
                  <a:lnTo>
                    <a:pt x="391160" y="171869"/>
                  </a:lnTo>
                  <a:lnTo>
                    <a:pt x="390702" y="171411"/>
                  </a:lnTo>
                  <a:lnTo>
                    <a:pt x="389851" y="171069"/>
                  </a:lnTo>
                  <a:lnTo>
                    <a:pt x="389509" y="170865"/>
                  </a:lnTo>
                  <a:lnTo>
                    <a:pt x="388264" y="170865"/>
                  </a:lnTo>
                  <a:lnTo>
                    <a:pt x="387883" y="171094"/>
                  </a:lnTo>
                  <a:lnTo>
                    <a:pt x="387832" y="356920"/>
                  </a:lnTo>
                  <a:lnTo>
                    <a:pt x="240715" y="441833"/>
                  </a:lnTo>
                  <a:lnTo>
                    <a:pt x="240715" y="269430"/>
                  </a:lnTo>
                  <a:lnTo>
                    <a:pt x="250774" y="263283"/>
                  </a:lnTo>
                  <a:lnTo>
                    <a:pt x="385368" y="181051"/>
                  </a:lnTo>
                  <a:lnTo>
                    <a:pt x="387832" y="356920"/>
                  </a:lnTo>
                  <a:lnTo>
                    <a:pt x="387832" y="171107"/>
                  </a:lnTo>
                  <a:lnTo>
                    <a:pt x="387007" y="171462"/>
                  </a:lnTo>
                  <a:lnTo>
                    <a:pt x="386575" y="171894"/>
                  </a:lnTo>
                  <a:lnTo>
                    <a:pt x="237007" y="263283"/>
                  </a:lnTo>
                  <a:lnTo>
                    <a:pt x="170700" y="228231"/>
                  </a:lnTo>
                  <a:lnTo>
                    <a:pt x="325882" y="138010"/>
                  </a:lnTo>
                  <a:lnTo>
                    <a:pt x="326478" y="136969"/>
                  </a:lnTo>
                  <a:lnTo>
                    <a:pt x="326440" y="134188"/>
                  </a:lnTo>
                  <a:lnTo>
                    <a:pt x="325831" y="133159"/>
                  </a:lnTo>
                  <a:lnTo>
                    <a:pt x="315658" y="127558"/>
                  </a:lnTo>
                  <a:lnTo>
                    <a:pt x="315658" y="135636"/>
                  </a:lnTo>
                  <a:lnTo>
                    <a:pt x="165709" y="222821"/>
                  </a:lnTo>
                  <a:lnTo>
                    <a:pt x="166865" y="53822"/>
                  </a:lnTo>
                  <a:lnTo>
                    <a:pt x="315429" y="135636"/>
                  </a:lnTo>
                  <a:lnTo>
                    <a:pt x="315658" y="135636"/>
                  </a:lnTo>
                  <a:lnTo>
                    <a:pt x="315658" y="127558"/>
                  </a:lnTo>
                  <a:lnTo>
                    <a:pt x="170573" y="47650"/>
                  </a:lnTo>
                  <a:lnTo>
                    <a:pt x="238353" y="7962"/>
                  </a:lnTo>
                  <a:lnTo>
                    <a:pt x="388264" y="94246"/>
                  </a:lnTo>
                  <a:lnTo>
                    <a:pt x="389483" y="94246"/>
                  </a:lnTo>
                  <a:lnTo>
                    <a:pt x="403910" y="86334"/>
                  </a:lnTo>
                  <a:lnTo>
                    <a:pt x="541362" y="11036"/>
                  </a:lnTo>
                  <a:lnTo>
                    <a:pt x="612394" y="50723"/>
                  </a:lnTo>
                  <a:lnTo>
                    <a:pt x="612394" y="42519"/>
                  </a:lnTo>
                  <a:lnTo>
                    <a:pt x="556082" y="11036"/>
                  </a:lnTo>
                  <a:lnTo>
                    <a:pt x="541972" y="3149"/>
                  </a:lnTo>
                  <a:lnTo>
                    <a:pt x="540804" y="3149"/>
                  </a:lnTo>
                  <a:lnTo>
                    <a:pt x="388950" y="86334"/>
                  </a:lnTo>
                  <a:lnTo>
                    <a:pt x="252768" y="7962"/>
                  </a:lnTo>
                  <a:lnTo>
                    <a:pt x="238937" y="0"/>
                  </a:lnTo>
                  <a:lnTo>
                    <a:pt x="237718" y="0"/>
                  </a:lnTo>
                  <a:lnTo>
                    <a:pt x="162331" y="44183"/>
                  </a:lnTo>
                  <a:lnTo>
                    <a:pt x="161455" y="44513"/>
                  </a:lnTo>
                  <a:lnTo>
                    <a:pt x="161023" y="44945"/>
                  </a:lnTo>
                  <a:lnTo>
                    <a:pt x="160274" y="45377"/>
                  </a:lnTo>
                  <a:lnTo>
                    <a:pt x="159677" y="46418"/>
                  </a:lnTo>
                  <a:lnTo>
                    <a:pt x="159677" y="47155"/>
                  </a:lnTo>
                  <a:lnTo>
                    <a:pt x="157276" y="401993"/>
                  </a:lnTo>
                  <a:lnTo>
                    <a:pt x="4406" y="308330"/>
                  </a:lnTo>
                  <a:lnTo>
                    <a:pt x="3187" y="308292"/>
                  </a:lnTo>
                  <a:lnTo>
                    <a:pt x="711" y="309664"/>
                  </a:lnTo>
                  <a:lnTo>
                    <a:pt x="101" y="310705"/>
                  </a:lnTo>
                  <a:lnTo>
                    <a:pt x="0" y="402767"/>
                  </a:lnTo>
                  <a:lnTo>
                    <a:pt x="609" y="403809"/>
                  </a:lnTo>
                  <a:lnTo>
                    <a:pt x="155994" y="491172"/>
                  </a:lnTo>
                  <a:lnTo>
                    <a:pt x="155028" y="670318"/>
                  </a:lnTo>
                  <a:lnTo>
                    <a:pt x="155663" y="671385"/>
                  </a:lnTo>
                  <a:lnTo>
                    <a:pt x="235648" y="714057"/>
                  </a:lnTo>
                  <a:lnTo>
                    <a:pt x="235851" y="714171"/>
                  </a:lnTo>
                  <a:lnTo>
                    <a:pt x="236156" y="714260"/>
                  </a:lnTo>
                  <a:lnTo>
                    <a:pt x="236423" y="714324"/>
                  </a:lnTo>
                  <a:lnTo>
                    <a:pt x="237096" y="714336"/>
                  </a:lnTo>
                  <a:lnTo>
                    <a:pt x="238963" y="714336"/>
                  </a:lnTo>
                  <a:lnTo>
                    <a:pt x="240131" y="713435"/>
                  </a:lnTo>
                  <a:lnTo>
                    <a:pt x="240207" y="713117"/>
                  </a:lnTo>
                  <a:lnTo>
                    <a:pt x="255244" y="704570"/>
                  </a:lnTo>
                  <a:lnTo>
                    <a:pt x="392176" y="626706"/>
                  </a:lnTo>
                  <a:lnTo>
                    <a:pt x="546087" y="713625"/>
                  </a:lnTo>
                  <a:lnTo>
                    <a:pt x="546455" y="713981"/>
                  </a:lnTo>
                  <a:lnTo>
                    <a:pt x="547306" y="714336"/>
                  </a:lnTo>
                  <a:lnTo>
                    <a:pt x="548309" y="714336"/>
                  </a:lnTo>
                  <a:lnTo>
                    <a:pt x="548944" y="714336"/>
                  </a:lnTo>
                  <a:lnTo>
                    <a:pt x="550151" y="714324"/>
                  </a:lnTo>
                  <a:lnTo>
                    <a:pt x="551307" y="713435"/>
                  </a:lnTo>
                  <a:lnTo>
                    <a:pt x="551383" y="713143"/>
                  </a:lnTo>
                  <a:lnTo>
                    <a:pt x="622655" y="672896"/>
                  </a:lnTo>
                  <a:lnTo>
                    <a:pt x="623265" y="671868"/>
                  </a:lnTo>
                  <a:lnTo>
                    <a:pt x="623265" y="494093"/>
                  </a:lnTo>
                  <a:lnTo>
                    <a:pt x="779157" y="407936"/>
                  </a:lnTo>
                  <a:lnTo>
                    <a:pt x="779767" y="406895"/>
                  </a:lnTo>
                  <a:lnTo>
                    <a:pt x="779767" y="316890"/>
                  </a:lnTo>
                  <a:lnTo>
                    <a:pt x="779780" y="315620"/>
                  </a:lnTo>
                  <a:close/>
                </a:path>
              </a:pathLst>
            </a:custGeom>
            <a:solidFill>
              <a:srgbClr val="0080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9233" y="2733773"/>
              <a:ext cx="167388" cy="91092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539418"/>
            <a:ext cx="742949" cy="74294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68066" y="0"/>
            <a:ext cx="1619249" cy="6286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3082"/>
            <a:ext cx="18288000" cy="3190875"/>
          </a:xfrm>
          <a:custGeom>
            <a:avLst/>
            <a:gdLst/>
            <a:ahLst/>
            <a:cxnLst/>
            <a:rect l="l" t="t" r="r" b="b"/>
            <a:pathLst>
              <a:path w="18288000" h="3190875">
                <a:moveTo>
                  <a:pt x="18288000" y="3190875"/>
                </a:moveTo>
                <a:lnTo>
                  <a:pt x="0" y="3190875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3190875"/>
                </a:lnTo>
                <a:close/>
              </a:path>
            </a:pathLst>
          </a:custGeom>
          <a:solidFill>
            <a:srgbClr val="143A0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39421"/>
            <a:ext cx="742949" cy="7429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8498" y="3077099"/>
            <a:ext cx="13582648" cy="72099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68066" y="33084"/>
            <a:ext cx="1619249" cy="62864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113236" y="955021"/>
            <a:ext cx="3876675" cy="2019300"/>
          </a:xfrm>
          <a:custGeom>
            <a:avLst/>
            <a:gdLst/>
            <a:ahLst/>
            <a:cxnLst/>
            <a:rect l="l" t="t" r="r" b="b"/>
            <a:pathLst>
              <a:path w="3876675" h="2019300">
                <a:moveTo>
                  <a:pt x="3603752" y="2019297"/>
                </a:moveTo>
                <a:lnTo>
                  <a:pt x="272917" y="2019297"/>
                </a:lnTo>
                <a:lnTo>
                  <a:pt x="0" y="1745775"/>
                </a:lnTo>
                <a:lnTo>
                  <a:pt x="0" y="273521"/>
                </a:lnTo>
                <a:lnTo>
                  <a:pt x="272917" y="0"/>
                </a:lnTo>
                <a:lnTo>
                  <a:pt x="3603752" y="0"/>
                </a:lnTo>
                <a:lnTo>
                  <a:pt x="3876670" y="273521"/>
                </a:lnTo>
                <a:lnTo>
                  <a:pt x="3876670" y="1746552"/>
                </a:lnTo>
                <a:lnTo>
                  <a:pt x="3603752" y="2019297"/>
                </a:lnTo>
                <a:close/>
              </a:path>
            </a:pathLst>
          </a:custGeom>
          <a:solidFill>
            <a:srgbClr val="008037">
              <a:alpha val="7568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61270" y="1062120"/>
            <a:ext cx="3688715" cy="1459865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R="100330" algn="ctr">
              <a:lnSpc>
                <a:spcPct val="100000"/>
              </a:lnSpc>
              <a:spcBef>
                <a:spcPts val="1160"/>
              </a:spcBef>
            </a:pPr>
            <a:r>
              <a:rPr sz="2400" b="1" spc="-20" dirty="0">
                <a:solidFill>
                  <a:srgbClr val="FFFFFF"/>
                </a:solidFill>
                <a:latin typeface="Tahoma"/>
                <a:cs typeface="Tahoma"/>
              </a:rPr>
              <a:t>2016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2100" dirty="0">
                <a:solidFill>
                  <a:srgbClr val="FFFFFF"/>
                </a:solidFill>
                <a:latin typeface="Verdana"/>
                <a:cs typeface="Verdana"/>
                <a:hlinkClick r:id="rId5"/>
              </a:rPr>
              <a:t>3376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bâtiments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/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propriétés</a:t>
            </a:r>
            <a:endParaRPr sz="2100">
              <a:latin typeface="Verdana"/>
              <a:cs typeface="Verdana"/>
            </a:endParaRPr>
          </a:p>
          <a:p>
            <a:pPr marL="950594">
              <a:lnSpc>
                <a:spcPct val="100000"/>
              </a:lnSpc>
              <a:spcBef>
                <a:spcPts val="1380"/>
              </a:spcBef>
            </a:pPr>
            <a:r>
              <a:rPr sz="2100" dirty="0">
                <a:solidFill>
                  <a:srgbClr val="FFFFFF"/>
                </a:solidFill>
                <a:latin typeface="Verdana"/>
                <a:cs typeface="Verdana"/>
                <a:hlinkClick r:id="rId5"/>
              </a:rPr>
              <a:t>46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variables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-55713" y="89214"/>
            <a:ext cx="165163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3200" b="0" spc="-180" dirty="0">
                <a:solidFill>
                  <a:srgbClr val="FFFFFF"/>
                </a:solidFill>
                <a:latin typeface="Palatino Linotype"/>
                <a:cs typeface="Palatino Linotype"/>
              </a:rPr>
              <a:t>Un </a:t>
            </a:r>
            <a:r>
              <a:rPr lang="fr-FR" sz="3200" b="0" spc="-180" dirty="0" err="1">
                <a:solidFill>
                  <a:srgbClr val="FFFFFF"/>
                </a:solidFill>
                <a:latin typeface="Palatino Linotype"/>
                <a:cs typeface="Palatino Linotype"/>
              </a:rPr>
              <a:t>DataSet</a:t>
            </a:r>
            <a:r>
              <a:rPr lang="fr-FR" sz="3200" b="0" spc="-180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3200" b="0" spc="-80" dirty="0" err="1">
                <a:solidFill>
                  <a:srgbClr val="FFFFFF"/>
                </a:solidFill>
                <a:latin typeface="Palatino Linotype"/>
                <a:cs typeface="Palatino Linotype"/>
              </a:rPr>
              <a:t>contentant</a:t>
            </a:r>
            <a:r>
              <a:rPr sz="3200" b="0" spc="-135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3200" b="0" spc="-125" dirty="0">
                <a:solidFill>
                  <a:srgbClr val="FFFFFF"/>
                </a:solidFill>
                <a:latin typeface="Palatino Linotype"/>
                <a:cs typeface="Palatino Linotype"/>
              </a:rPr>
              <a:t>les</a:t>
            </a:r>
            <a:r>
              <a:rPr sz="3200" b="0" spc="-140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3200" b="0" spc="-95" dirty="0">
                <a:solidFill>
                  <a:srgbClr val="FFFFFF"/>
                </a:solidFill>
                <a:latin typeface="Palatino Linotype"/>
                <a:cs typeface="Palatino Linotype"/>
              </a:rPr>
              <a:t>informations</a:t>
            </a:r>
            <a:r>
              <a:rPr sz="3200" b="0" spc="-140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3200" b="0" spc="-114" dirty="0">
                <a:solidFill>
                  <a:srgbClr val="FFFFFF"/>
                </a:solidFill>
                <a:latin typeface="Palatino Linotype"/>
                <a:cs typeface="Palatino Linotype"/>
              </a:rPr>
              <a:t>sur</a:t>
            </a:r>
            <a:r>
              <a:rPr sz="3200" b="0" spc="-135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3200" b="0" spc="-125" dirty="0">
                <a:solidFill>
                  <a:srgbClr val="FFFFFF"/>
                </a:solidFill>
                <a:latin typeface="Palatino Linotype"/>
                <a:cs typeface="Palatino Linotype"/>
              </a:rPr>
              <a:t>les</a:t>
            </a:r>
            <a:r>
              <a:rPr sz="3200" b="0" spc="-140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3200" b="0" spc="-155" dirty="0">
                <a:solidFill>
                  <a:srgbClr val="FFFFFF"/>
                </a:solidFill>
                <a:latin typeface="Palatino Linotype"/>
                <a:cs typeface="Palatino Linotype"/>
              </a:rPr>
              <a:t>types</a:t>
            </a:r>
            <a:r>
              <a:rPr sz="3200" b="0" spc="-140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3200" b="0" spc="-60" dirty="0">
                <a:solidFill>
                  <a:srgbClr val="FFFFFF"/>
                </a:solidFill>
                <a:latin typeface="Palatino Linotype"/>
                <a:cs typeface="Palatino Linotype"/>
              </a:rPr>
              <a:t>et</a:t>
            </a:r>
            <a:r>
              <a:rPr sz="3200" b="0" spc="-135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3200" b="0" spc="-125" dirty="0">
                <a:solidFill>
                  <a:srgbClr val="FFFFFF"/>
                </a:solidFill>
                <a:latin typeface="Palatino Linotype"/>
                <a:cs typeface="Palatino Linotype"/>
              </a:rPr>
              <a:t>consommations</a:t>
            </a:r>
            <a:r>
              <a:rPr sz="3200" b="0" spc="-140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3200" b="0" spc="-125" dirty="0">
                <a:solidFill>
                  <a:srgbClr val="FFFFFF"/>
                </a:solidFill>
                <a:latin typeface="Palatino Linotype"/>
                <a:cs typeface="Palatino Linotype"/>
              </a:rPr>
              <a:t>en</a:t>
            </a:r>
            <a:r>
              <a:rPr sz="3200" b="0" spc="-135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3200" b="0" spc="-110" dirty="0">
                <a:solidFill>
                  <a:srgbClr val="FFFFFF"/>
                </a:solidFill>
                <a:latin typeface="Palatino Linotype"/>
                <a:cs typeface="Palatino Linotype"/>
              </a:rPr>
              <a:t>énergie</a:t>
            </a:r>
            <a:r>
              <a:rPr sz="3200" b="0" spc="-140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3200" b="0" spc="-155" dirty="0">
                <a:solidFill>
                  <a:srgbClr val="FFFFFF"/>
                </a:solidFill>
                <a:latin typeface="Palatino Linotype"/>
                <a:cs typeface="Palatino Linotype"/>
              </a:rPr>
              <a:t>des</a:t>
            </a:r>
            <a:r>
              <a:rPr sz="3200" b="0" spc="-140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3200" b="0" spc="-10" dirty="0">
                <a:solidFill>
                  <a:srgbClr val="FFFFFF"/>
                </a:solidFill>
                <a:latin typeface="Palatino Linotype"/>
                <a:cs typeface="Palatino Linotype"/>
              </a:rPr>
              <a:t>bâtiments</a:t>
            </a:r>
            <a:endParaRPr sz="3200" dirty="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31644" y="3457329"/>
            <a:ext cx="3314700" cy="628650"/>
          </a:xfrm>
          <a:custGeom>
            <a:avLst/>
            <a:gdLst/>
            <a:ahLst/>
            <a:cxnLst/>
            <a:rect l="l" t="t" r="r" b="b"/>
            <a:pathLst>
              <a:path w="3314700" h="628650">
                <a:moveTo>
                  <a:pt x="3040884" y="628647"/>
                </a:moveTo>
                <a:lnTo>
                  <a:pt x="272141" y="628647"/>
                </a:lnTo>
                <a:lnTo>
                  <a:pt x="0" y="353815"/>
                </a:lnTo>
                <a:lnTo>
                  <a:pt x="0" y="274832"/>
                </a:lnTo>
                <a:lnTo>
                  <a:pt x="272141" y="0"/>
                </a:lnTo>
                <a:lnTo>
                  <a:pt x="3040884" y="0"/>
                </a:lnTo>
                <a:lnTo>
                  <a:pt x="3314393" y="274832"/>
                </a:lnTo>
                <a:lnTo>
                  <a:pt x="3314393" y="354596"/>
                </a:lnTo>
                <a:lnTo>
                  <a:pt x="3040884" y="628647"/>
                </a:lnTo>
                <a:close/>
              </a:path>
            </a:pathLst>
          </a:custGeom>
          <a:solidFill>
            <a:srgbClr val="008037">
              <a:alpha val="7568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86670" y="3644654"/>
            <a:ext cx="12433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latin typeface="Lucida Sans Unicode"/>
                <a:cs typeface="Lucida Sans Unicode"/>
              </a:rPr>
              <a:t>Matrice</a:t>
            </a:r>
            <a:r>
              <a:rPr sz="1500" spc="-60" dirty="0">
                <a:latin typeface="Lucida Sans Unicode"/>
                <a:cs typeface="Lucida Sans Unicode"/>
              </a:rPr>
              <a:t> </a:t>
            </a:r>
            <a:r>
              <a:rPr sz="1500" spc="-20" dirty="0">
                <a:latin typeface="Lucida Sans Unicode"/>
                <a:cs typeface="Lucida Sans Unicode"/>
              </a:rPr>
              <a:t>msno</a:t>
            </a:r>
            <a:endParaRPr sz="1500" dirty="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6854" y="4404736"/>
            <a:ext cx="5030355" cy="365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210185">
              <a:lnSpc>
                <a:spcPct val="114100"/>
              </a:lnSpc>
              <a:spcBef>
                <a:spcPts val="100"/>
              </a:spcBef>
            </a:pPr>
            <a:r>
              <a:rPr sz="2300" b="1" i="1" dirty="0">
                <a:latin typeface="Arial"/>
                <a:cs typeface="Arial"/>
              </a:rPr>
              <a:t>Deux</a:t>
            </a:r>
            <a:r>
              <a:rPr sz="2300" b="1" i="1" spc="15" dirty="0">
                <a:latin typeface="Arial"/>
                <a:cs typeface="Arial"/>
              </a:rPr>
              <a:t> </a:t>
            </a:r>
            <a:r>
              <a:rPr sz="2300" b="1" i="1" dirty="0">
                <a:latin typeface="Arial"/>
                <a:cs typeface="Arial"/>
              </a:rPr>
              <a:t>types</a:t>
            </a:r>
            <a:r>
              <a:rPr sz="2300" b="1" i="1" spc="20" dirty="0">
                <a:latin typeface="Arial"/>
                <a:cs typeface="Arial"/>
              </a:rPr>
              <a:t> </a:t>
            </a:r>
            <a:r>
              <a:rPr sz="2300" b="1" i="1" dirty="0">
                <a:latin typeface="Arial"/>
                <a:cs typeface="Arial"/>
              </a:rPr>
              <a:t>de</a:t>
            </a:r>
            <a:r>
              <a:rPr sz="2300" b="1" i="1" spc="15" dirty="0">
                <a:latin typeface="Arial"/>
                <a:cs typeface="Arial"/>
              </a:rPr>
              <a:t> </a:t>
            </a:r>
            <a:r>
              <a:rPr sz="2300" b="1" i="1" dirty="0" err="1">
                <a:latin typeface="Arial"/>
                <a:cs typeface="Arial"/>
              </a:rPr>
              <a:t>données</a:t>
            </a:r>
            <a:r>
              <a:rPr sz="2300" b="1" i="1" spc="20" dirty="0">
                <a:latin typeface="Arial"/>
                <a:cs typeface="Arial"/>
              </a:rPr>
              <a:t> </a:t>
            </a:r>
            <a:r>
              <a:rPr lang="fr-FR" sz="2300" b="1" i="1" spc="20" dirty="0">
                <a:latin typeface="Arial"/>
                <a:cs typeface="Arial"/>
              </a:rPr>
              <a:t>: </a:t>
            </a:r>
          </a:p>
          <a:p>
            <a:pPr marL="12065" marR="210185" algn="l">
              <a:lnSpc>
                <a:spcPct val="114100"/>
              </a:lnSpc>
              <a:spcBef>
                <a:spcPts val="100"/>
              </a:spcBef>
            </a:pPr>
            <a:r>
              <a:rPr lang="fr-FR" sz="2300" spc="20" dirty="0">
                <a:latin typeface="Arial"/>
                <a:cs typeface="Arial"/>
              </a:rPr>
              <a:t>    D</a:t>
            </a:r>
            <a:r>
              <a:rPr sz="2300" dirty="0" err="1">
                <a:latin typeface="Arial"/>
                <a:cs typeface="Arial"/>
              </a:rPr>
              <a:t>onnées</a:t>
            </a:r>
            <a:r>
              <a:rPr sz="2300" spc="40" dirty="0">
                <a:latin typeface="Arial"/>
                <a:cs typeface="Arial"/>
              </a:rPr>
              <a:t> </a:t>
            </a:r>
            <a:r>
              <a:rPr sz="2300" spc="75" dirty="0">
                <a:latin typeface="Arial"/>
                <a:cs typeface="Arial"/>
              </a:rPr>
              <a:t>du</a:t>
            </a:r>
            <a:r>
              <a:rPr sz="2300" spc="45" dirty="0">
                <a:latin typeface="Arial"/>
                <a:cs typeface="Arial"/>
              </a:rPr>
              <a:t> </a:t>
            </a:r>
            <a:r>
              <a:rPr sz="2300" spc="-10" dirty="0" err="1">
                <a:latin typeface="Arial"/>
                <a:cs typeface="Arial"/>
              </a:rPr>
              <a:t>permis</a:t>
            </a:r>
            <a:r>
              <a:rPr lang="fr-FR" sz="2300" dirty="0">
                <a:latin typeface="Arial"/>
                <a:cs typeface="Arial"/>
              </a:rPr>
              <a:t> </a:t>
            </a:r>
            <a:r>
              <a:rPr sz="2300" spc="-10" dirty="0" err="1">
                <a:latin typeface="Arial"/>
                <a:cs typeface="Arial"/>
              </a:rPr>
              <a:t>d'exploitation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lang="fr-FR" sz="2300" spc="-10" dirty="0">
                <a:latin typeface="Arial"/>
                <a:cs typeface="Arial"/>
              </a:rPr>
              <a:t>  </a:t>
            </a:r>
            <a:r>
              <a:rPr sz="2300" dirty="0">
                <a:latin typeface="Arial"/>
                <a:cs typeface="Arial"/>
              </a:rPr>
              <a:t>commercial</a:t>
            </a:r>
            <a:r>
              <a:rPr sz="2300" spc="20" dirty="0">
                <a:latin typeface="Arial"/>
                <a:cs typeface="Arial"/>
              </a:rPr>
              <a:t> </a:t>
            </a:r>
            <a:endParaRPr lang="fr-FR" sz="2300" spc="20" dirty="0">
              <a:latin typeface="Arial"/>
              <a:cs typeface="Arial"/>
            </a:endParaRPr>
          </a:p>
          <a:p>
            <a:pPr marL="377825" marR="5080" algn="l">
              <a:lnSpc>
                <a:spcPct val="114100"/>
              </a:lnSpc>
            </a:pPr>
            <a:r>
              <a:rPr sz="2300" spc="-150" dirty="0">
                <a:latin typeface="Arial"/>
                <a:cs typeface="Arial"/>
              </a:rPr>
              <a:t>(</a:t>
            </a:r>
            <a:r>
              <a:rPr sz="2300" spc="2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surfaces, </a:t>
            </a:r>
            <a:r>
              <a:rPr sz="2300" spc="75" dirty="0">
                <a:latin typeface="Arial"/>
                <a:cs typeface="Arial"/>
              </a:rPr>
              <a:t>nombre</a:t>
            </a:r>
            <a:r>
              <a:rPr sz="2300" spc="-8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d'étages,</a:t>
            </a:r>
            <a:r>
              <a:rPr sz="2300" spc="-85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de </a:t>
            </a:r>
            <a:r>
              <a:rPr sz="2300" dirty="0">
                <a:latin typeface="Arial"/>
                <a:cs typeface="Arial"/>
              </a:rPr>
              <a:t>bâtiments,</a:t>
            </a:r>
            <a:r>
              <a:rPr sz="2300" spc="165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types </a:t>
            </a:r>
            <a:r>
              <a:rPr sz="2300" spc="-10" dirty="0">
                <a:latin typeface="Arial"/>
                <a:cs typeface="Arial"/>
              </a:rPr>
              <a:t>d'usages)</a:t>
            </a:r>
            <a:endParaRPr sz="2300" dirty="0">
              <a:latin typeface="Arial"/>
              <a:cs typeface="Arial"/>
            </a:endParaRPr>
          </a:p>
          <a:p>
            <a:pPr marL="697865" marR="325120" algn="l">
              <a:lnSpc>
                <a:spcPct val="114100"/>
              </a:lnSpc>
            </a:pPr>
            <a:endParaRPr lang="fr-FR" sz="2300" spc="-85" dirty="0">
              <a:latin typeface="Arial"/>
              <a:cs typeface="Arial"/>
            </a:endParaRPr>
          </a:p>
          <a:p>
            <a:pPr marL="697865" marR="325120" algn="l">
              <a:lnSpc>
                <a:spcPct val="114100"/>
              </a:lnSpc>
            </a:pPr>
            <a:r>
              <a:rPr sz="2300" spc="-85" dirty="0" err="1">
                <a:latin typeface="Arial"/>
                <a:cs typeface="Arial"/>
              </a:rPr>
              <a:t>Relevés</a:t>
            </a:r>
            <a:r>
              <a:rPr sz="2300" spc="-35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de </a:t>
            </a:r>
            <a:r>
              <a:rPr sz="2300" dirty="0">
                <a:latin typeface="Arial"/>
                <a:cs typeface="Arial"/>
              </a:rPr>
              <a:t>consommations</a:t>
            </a:r>
            <a:r>
              <a:rPr sz="2300" spc="275" dirty="0">
                <a:latin typeface="Arial"/>
                <a:cs typeface="Arial"/>
              </a:rPr>
              <a:t> </a:t>
            </a:r>
            <a:r>
              <a:rPr sz="2300" spc="30" dirty="0">
                <a:latin typeface="Arial"/>
                <a:cs typeface="Arial"/>
              </a:rPr>
              <a:t>et </a:t>
            </a:r>
            <a:r>
              <a:rPr sz="2300" spc="-10" dirty="0">
                <a:latin typeface="Arial"/>
                <a:cs typeface="Arial"/>
              </a:rPr>
              <a:t>d'émissions</a:t>
            </a:r>
            <a:endParaRPr sz="2300" dirty="0">
              <a:latin typeface="Arial"/>
              <a:cs typeface="Arial"/>
            </a:endParaRPr>
          </a:p>
          <a:p>
            <a:pPr marL="365125" algn="l">
              <a:lnSpc>
                <a:spcPct val="100000"/>
              </a:lnSpc>
              <a:spcBef>
                <a:spcPts val="390"/>
              </a:spcBef>
            </a:pPr>
            <a:r>
              <a:rPr sz="2300" spc="-20" dirty="0">
                <a:latin typeface="Arial"/>
                <a:cs typeface="Arial"/>
              </a:rPr>
              <a:t>Score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-45" dirty="0">
                <a:latin typeface="Arial"/>
                <a:cs typeface="Arial"/>
              </a:rPr>
              <a:t>Energy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Star</a:t>
            </a:r>
            <a:endParaRPr sz="23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702040" cy="10287000"/>
            <a:chOff x="0" y="0"/>
            <a:chExt cx="870204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702040" cy="10287000"/>
            </a:xfrm>
            <a:custGeom>
              <a:avLst/>
              <a:gdLst/>
              <a:ahLst/>
              <a:cxnLst/>
              <a:rect l="l" t="t" r="r" b="b"/>
              <a:pathLst>
                <a:path w="8702040" h="10287000">
                  <a:moveTo>
                    <a:pt x="23627" y="10285853"/>
                  </a:moveTo>
                  <a:lnTo>
                    <a:pt x="18713" y="10285448"/>
                  </a:lnTo>
                  <a:lnTo>
                    <a:pt x="7258" y="10279725"/>
                  </a:lnTo>
                  <a:lnTo>
                    <a:pt x="1549" y="10268231"/>
                  </a:lnTo>
                  <a:lnTo>
                    <a:pt x="0" y="10249367"/>
                  </a:lnTo>
                  <a:lnTo>
                    <a:pt x="0" y="0"/>
                  </a:lnTo>
                  <a:lnTo>
                    <a:pt x="8701682" y="0"/>
                  </a:lnTo>
                  <a:lnTo>
                    <a:pt x="6599440" y="9381660"/>
                  </a:lnTo>
                  <a:lnTo>
                    <a:pt x="6554227" y="9582678"/>
                  </a:lnTo>
                  <a:lnTo>
                    <a:pt x="6395733" y="10285448"/>
                  </a:lnTo>
                  <a:lnTo>
                    <a:pt x="23627" y="10285853"/>
                  </a:lnTo>
                  <a:close/>
                </a:path>
                <a:path w="8702040" h="10287000">
                  <a:moveTo>
                    <a:pt x="37502" y="10287000"/>
                  </a:moveTo>
                  <a:lnTo>
                    <a:pt x="0" y="10287000"/>
                  </a:lnTo>
                  <a:lnTo>
                    <a:pt x="0" y="10285853"/>
                  </a:lnTo>
                  <a:lnTo>
                    <a:pt x="23627" y="10285853"/>
                  </a:lnTo>
                  <a:lnTo>
                    <a:pt x="37502" y="10287000"/>
                  </a:lnTo>
                  <a:close/>
                </a:path>
              </a:pathLst>
            </a:custGeom>
            <a:solidFill>
              <a:srgbClr val="153B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28699" y="2479172"/>
              <a:ext cx="1398270" cy="944880"/>
            </a:xfrm>
            <a:custGeom>
              <a:avLst/>
              <a:gdLst/>
              <a:ahLst/>
              <a:cxnLst/>
              <a:rect l="l" t="t" r="r" b="b"/>
              <a:pathLst>
                <a:path w="1398270" h="944879">
                  <a:moveTo>
                    <a:pt x="797398" y="944428"/>
                  </a:moveTo>
                  <a:lnTo>
                    <a:pt x="0" y="944428"/>
                  </a:lnTo>
                  <a:lnTo>
                    <a:pt x="0" y="0"/>
                  </a:lnTo>
                  <a:lnTo>
                    <a:pt x="1397811" y="0"/>
                  </a:lnTo>
                  <a:lnTo>
                    <a:pt x="871214" y="894125"/>
                  </a:lnTo>
                  <a:lnTo>
                    <a:pt x="845639" y="924029"/>
                  </a:lnTo>
                  <a:lnTo>
                    <a:pt x="810256" y="941798"/>
                  </a:lnTo>
                  <a:lnTo>
                    <a:pt x="797398" y="944428"/>
                  </a:lnTo>
                  <a:close/>
                </a:path>
              </a:pathLst>
            </a:custGeom>
            <a:solidFill>
              <a:srgbClr val="01A5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39418"/>
              <a:ext cx="742949" cy="74294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63748" y="151415"/>
            <a:ext cx="1479405" cy="4955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09005" y="3877740"/>
            <a:ext cx="4657724" cy="6181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391652" y="4000204"/>
            <a:ext cx="1785525" cy="547415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16000" y="4091318"/>
            <a:ext cx="4280535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0" spc="-120" dirty="0">
                <a:solidFill>
                  <a:srgbClr val="FFFFFF"/>
                </a:solidFill>
                <a:latin typeface="Verdana"/>
                <a:cs typeface="Verdana"/>
              </a:rPr>
              <a:t>Préparation </a:t>
            </a:r>
            <a:r>
              <a:rPr sz="6000" spc="105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6000" spc="-10" dirty="0">
                <a:solidFill>
                  <a:srgbClr val="FFFFFF"/>
                </a:solidFill>
                <a:latin typeface="Verdana"/>
                <a:cs typeface="Verdana"/>
              </a:rPr>
              <a:t>données</a:t>
            </a:r>
            <a:endParaRPr sz="6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5058" y="2666099"/>
            <a:ext cx="2743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-740" dirty="0">
                <a:solidFill>
                  <a:srgbClr val="FFFFFF"/>
                </a:solidFill>
                <a:latin typeface="Tahoma"/>
                <a:cs typeface="Tahoma"/>
              </a:rPr>
              <a:t>II</a:t>
            </a:r>
            <a:endParaRPr sz="35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40948" y="1953803"/>
            <a:ext cx="180975" cy="18097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553599" y="1638209"/>
            <a:ext cx="7275195" cy="20808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4450" b="0" spc="450" dirty="0">
                <a:latin typeface="Cambria"/>
                <a:cs typeface="Cambria"/>
              </a:rPr>
              <a:t>Les</a:t>
            </a:r>
            <a:r>
              <a:rPr sz="4450" b="0" spc="330" dirty="0">
                <a:latin typeface="Cambria"/>
                <a:cs typeface="Cambria"/>
              </a:rPr>
              <a:t> </a:t>
            </a:r>
            <a:r>
              <a:rPr sz="4450" b="0" spc="370" dirty="0">
                <a:latin typeface="Cambria"/>
                <a:cs typeface="Cambria"/>
              </a:rPr>
              <a:t>différentes</a:t>
            </a:r>
            <a:r>
              <a:rPr sz="4450" b="0" spc="330" dirty="0">
                <a:latin typeface="Cambria"/>
                <a:cs typeface="Cambria"/>
              </a:rPr>
              <a:t> </a:t>
            </a:r>
            <a:r>
              <a:rPr sz="4450" b="0" spc="320" dirty="0">
                <a:latin typeface="Cambria"/>
                <a:cs typeface="Cambria"/>
              </a:rPr>
              <a:t>étapes</a:t>
            </a:r>
            <a:r>
              <a:rPr sz="4450" b="0" spc="335" dirty="0">
                <a:latin typeface="Cambria"/>
                <a:cs typeface="Cambria"/>
              </a:rPr>
              <a:t> </a:t>
            </a:r>
            <a:r>
              <a:rPr sz="4450" b="0" spc="509" dirty="0">
                <a:latin typeface="Cambria"/>
                <a:cs typeface="Cambria"/>
              </a:rPr>
              <a:t>du </a:t>
            </a:r>
            <a:r>
              <a:rPr sz="4450" b="0" spc="400" dirty="0">
                <a:latin typeface="Cambria"/>
                <a:cs typeface="Cambria"/>
              </a:rPr>
              <a:t>nettoyage</a:t>
            </a:r>
            <a:endParaRPr sz="4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4450" b="0" spc="380" dirty="0">
                <a:latin typeface="Cambria"/>
                <a:cs typeface="Cambria"/>
              </a:rPr>
              <a:t>Feature</a:t>
            </a:r>
            <a:r>
              <a:rPr sz="4450" b="0" spc="330" dirty="0">
                <a:latin typeface="Cambria"/>
                <a:cs typeface="Cambria"/>
              </a:rPr>
              <a:t> </a:t>
            </a:r>
            <a:r>
              <a:rPr sz="4450" b="0" spc="420" dirty="0">
                <a:latin typeface="Cambria"/>
                <a:cs typeface="Cambria"/>
              </a:rPr>
              <a:t>engineering</a:t>
            </a:r>
            <a:endParaRPr sz="4450">
              <a:latin typeface="Cambria"/>
              <a:cs typeface="Cambr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40948" y="3325403"/>
            <a:ext cx="180975" cy="18097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8066303" y="8378916"/>
            <a:ext cx="3147060" cy="539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070" marR="5080" indent="-167005">
              <a:lnSpc>
                <a:spcPct val="112500"/>
              </a:lnSpc>
              <a:spcBef>
                <a:spcPts val="100"/>
              </a:spcBef>
            </a:pPr>
            <a:r>
              <a:rPr sz="1500" spc="-35" dirty="0">
                <a:latin typeface="Lucida Sans Unicode"/>
                <a:cs typeface="Lucida Sans Unicode"/>
              </a:rPr>
              <a:t>Répartition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20" dirty="0">
                <a:latin typeface="Lucida Sans Unicode"/>
                <a:cs typeface="Lucida Sans Unicode"/>
              </a:rPr>
              <a:t>de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30" dirty="0">
                <a:latin typeface="Lucida Sans Unicode"/>
                <a:cs typeface="Lucida Sans Unicode"/>
              </a:rPr>
              <a:t>la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35" dirty="0">
                <a:latin typeface="Lucida Sans Unicode"/>
                <a:cs typeface="Lucida Sans Unicode"/>
              </a:rPr>
              <a:t>consommation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25" dirty="0">
                <a:latin typeface="Lucida Sans Unicode"/>
                <a:cs typeface="Lucida Sans Unicode"/>
              </a:rPr>
              <a:t>en </a:t>
            </a:r>
            <a:r>
              <a:rPr sz="1500" spc="-35" dirty="0">
                <a:latin typeface="Lucida Sans Unicode"/>
                <a:cs typeface="Lucida Sans Unicode"/>
              </a:rPr>
              <a:t>énergie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40" dirty="0">
                <a:latin typeface="Lucida Sans Unicode"/>
                <a:cs typeface="Lucida Sans Unicode"/>
              </a:rPr>
              <a:t>des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35" dirty="0">
                <a:latin typeface="Lucida Sans Unicode"/>
                <a:cs typeface="Lucida Sans Unicode"/>
              </a:rPr>
              <a:t>bâtiments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à</a:t>
            </a:r>
            <a:r>
              <a:rPr sz="1500" spc="-70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Seattle</a:t>
            </a:r>
            <a:endParaRPr sz="15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73423" y="2262043"/>
            <a:ext cx="3124200" cy="2219325"/>
          </a:xfrm>
          <a:custGeom>
            <a:avLst/>
            <a:gdLst/>
            <a:ahLst/>
            <a:cxnLst/>
            <a:rect l="l" t="t" r="r" b="b"/>
            <a:pathLst>
              <a:path w="3124200" h="2219325">
                <a:moveTo>
                  <a:pt x="0" y="0"/>
                </a:moveTo>
                <a:lnTo>
                  <a:pt x="2483164" y="0"/>
                </a:lnTo>
                <a:lnTo>
                  <a:pt x="3124200" y="1109660"/>
                </a:lnTo>
                <a:lnTo>
                  <a:pt x="2483164" y="2219320"/>
                </a:lnTo>
                <a:lnTo>
                  <a:pt x="0" y="2219320"/>
                </a:lnTo>
                <a:lnTo>
                  <a:pt x="641036" y="1109660"/>
                </a:lnTo>
                <a:lnTo>
                  <a:pt x="0" y="0"/>
                </a:lnTo>
                <a:close/>
              </a:path>
            </a:pathLst>
          </a:custGeom>
          <a:solidFill>
            <a:srgbClr val="143A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20102" y="2610997"/>
            <a:ext cx="1835785" cy="143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5599"/>
              </a:lnSpc>
              <a:spcBef>
                <a:spcPts val="100"/>
              </a:spcBef>
            </a:pPr>
            <a:r>
              <a:rPr sz="2000" spc="200" dirty="0">
                <a:solidFill>
                  <a:srgbClr val="FFFFFF"/>
                </a:solidFill>
                <a:latin typeface="Cambria"/>
                <a:cs typeface="Cambria"/>
              </a:rPr>
              <a:t>Création</a:t>
            </a:r>
            <a:r>
              <a:rPr sz="20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Cambria"/>
                <a:cs typeface="Cambria"/>
              </a:rPr>
              <a:t>de </a:t>
            </a:r>
            <a:r>
              <a:rPr sz="2000" spc="135" dirty="0">
                <a:solidFill>
                  <a:srgbClr val="FFFFFF"/>
                </a:solidFill>
                <a:latin typeface="Cambria"/>
                <a:cs typeface="Cambria"/>
              </a:rPr>
              <a:t>catégories </a:t>
            </a:r>
            <a:r>
              <a:rPr sz="2000" spc="204" dirty="0">
                <a:solidFill>
                  <a:srgbClr val="FFFFFF"/>
                </a:solidFill>
                <a:latin typeface="Cambria"/>
                <a:cs typeface="Cambria"/>
              </a:rPr>
              <a:t>pour</a:t>
            </a:r>
            <a:r>
              <a:rPr sz="200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Cambria"/>
                <a:cs typeface="Cambria"/>
              </a:rPr>
              <a:t>les</a:t>
            </a:r>
            <a:r>
              <a:rPr sz="20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FFFFFF"/>
                </a:solidFill>
                <a:latin typeface="Cambria"/>
                <a:cs typeface="Cambria"/>
              </a:rPr>
              <a:t>types </a:t>
            </a:r>
            <a:r>
              <a:rPr sz="2000" spc="114" dirty="0">
                <a:solidFill>
                  <a:srgbClr val="FFFFFF"/>
                </a:solidFill>
                <a:latin typeface="Cambria"/>
                <a:cs typeface="Cambria"/>
              </a:rPr>
              <a:t>d'usages</a:t>
            </a:r>
            <a:endParaRPr sz="2000" dirty="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04716" y="2252518"/>
            <a:ext cx="5713095" cy="2219325"/>
            <a:chOff x="704716" y="2252518"/>
            <a:chExt cx="5713095" cy="2219325"/>
          </a:xfrm>
        </p:grpSpPr>
        <p:sp>
          <p:nvSpPr>
            <p:cNvPr id="6" name="object 6"/>
            <p:cNvSpPr/>
            <p:nvPr/>
          </p:nvSpPr>
          <p:spPr>
            <a:xfrm>
              <a:off x="3293261" y="2252518"/>
              <a:ext cx="3124200" cy="2219325"/>
            </a:xfrm>
            <a:custGeom>
              <a:avLst/>
              <a:gdLst/>
              <a:ahLst/>
              <a:cxnLst/>
              <a:rect l="l" t="t" r="r" b="b"/>
              <a:pathLst>
                <a:path w="3124200" h="2219325">
                  <a:moveTo>
                    <a:pt x="0" y="0"/>
                  </a:moveTo>
                  <a:lnTo>
                    <a:pt x="2483164" y="0"/>
                  </a:lnTo>
                  <a:lnTo>
                    <a:pt x="3124200" y="1109660"/>
                  </a:lnTo>
                  <a:lnTo>
                    <a:pt x="2483164" y="2219320"/>
                  </a:lnTo>
                  <a:lnTo>
                    <a:pt x="0" y="2219320"/>
                  </a:lnTo>
                  <a:lnTo>
                    <a:pt x="641036" y="11096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50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4716" y="2252518"/>
              <a:ext cx="3124200" cy="2219325"/>
            </a:xfrm>
            <a:custGeom>
              <a:avLst/>
              <a:gdLst/>
              <a:ahLst/>
              <a:cxnLst/>
              <a:rect l="l" t="t" r="r" b="b"/>
              <a:pathLst>
                <a:path w="3124200" h="2219325">
                  <a:moveTo>
                    <a:pt x="0" y="0"/>
                  </a:moveTo>
                  <a:lnTo>
                    <a:pt x="2483164" y="0"/>
                  </a:lnTo>
                  <a:lnTo>
                    <a:pt x="3124200" y="1109660"/>
                  </a:lnTo>
                  <a:lnTo>
                    <a:pt x="2483164" y="2219320"/>
                  </a:lnTo>
                  <a:lnTo>
                    <a:pt x="0" y="2219320"/>
                  </a:lnTo>
                  <a:lnTo>
                    <a:pt x="641036" y="11096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2A4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909417" y="4648903"/>
            <a:ext cx="1237615" cy="69850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R="59690" algn="ctr">
              <a:lnSpc>
                <a:spcPct val="100000"/>
              </a:lnSpc>
              <a:spcBef>
                <a:spcPts val="470"/>
              </a:spcBef>
            </a:pPr>
            <a:r>
              <a:rPr sz="1900" spc="-50" dirty="0">
                <a:latin typeface="Myriad Pro"/>
                <a:cs typeface="Myriad Pro"/>
              </a:rPr>
              <a:t>0</a:t>
            </a:r>
            <a:endParaRPr sz="1900">
              <a:latin typeface="Myriad Pro"/>
              <a:cs typeface="Myriad Pro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900" spc="-10" dirty="0">
                <a:latin typeface="Verdana"/>
                <a:cs typeface="Verdana"/>
              </a:rPr>
              <a:t>duplicatas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1054" y="2370331"/>
            <a:ext cx="2272665" cy="19202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620" marR="254000" indent="212725">
              <a:lnSpc>
                <a:spcPct val="115599"/>
              </a:lnSpc>
              <a:spcBef>
                <a:spcPts val="100"/>
              </a:spcBef>
            </a:pPr>
            <a:r>
              <a:rPr sz="2000" spc="170" dirty="0">
                <a:solidFill>
                  <a:srgbClr val="FFFFFF"/>
                </a:solidFill>
                <a:latin typeface="Cambria"/>
                <a:cs typeface="Cambria"/>
              </a:rPr>
              <a:t>Bâtiments </a:t>
            </a:r>
            <a:r>
              <a:rPr sz="2000" spc="160" dirty="0">
                <a:solidFill>
                  <a:srgbClr val="FFFFFF"/>
                </a:solidFill>
                <a:latin typeface="Cambria"/>
                <a:cs typeface="Cambria"/>
              </a:rPr>
              <a:t>référencés</a:t>
            </a:r>
            <a:r>
              <a:rPr sz="20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spc="180" dirty="0">
                <a:solidFill>
                  <a:srgbClr val="FFFFFF"/>
                </a:solidFill>
                <a:latin typeface="Cambria"/>
                <a:cs typeface="Cambria"/>
              </a:rPr>
              <a:t>en </a:t>
            </a:r>
            <a:r>
              <a:rPr sz="2000" spc="65" dirty="0">
                <a:solidFill>
                  <a:srgbClr val="FFFFFF"/>
                </a:solidFill>
                <a:latin typeface="Cambria"/>
                <a:cs typeface="Cambria"/>
              </a:rPr>
              <a:t>2016</a:t>
            </a:r>
            <a:endParaRPr sz="2000" dirty="0">
              <a:latin typeface="Cambria"/>
              <a:cs typeface="Cambria"/>
            </a:endParaRPr>
          </a:p>
          <a:p>
            <a:pPr marL="12700" marR="5080" algn="ctr">
              <a:lnSpc>
                <a:spcPct val="113300"/>
              </a:lnSpc>
              <a:spcBef>
                <a:spcPts val="70"/>
              </a:spcBef>
            </a:pPr>
            <a:r>
              <a:rPr sz="1600" spc="-85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lang="fr-FR" sz="16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Verdana"/>
                <a:cs typeface="Verdana"/>
              </a:rPr>
              <a:t>calcule</a:t>
            </a:r>
            <a:r>
              <a:rPr sz="16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FFFFFF"/>
                </a:solidFill>
                <a:latin typeface="Verdana"/>
                <a:cs typeface="Verdana"/>
              </a:rPr>
              <a:t>médiane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16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données</a:t>
            </a:r>
            <a:r>
              <a:rPr sz="16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sur</a:t>
            </a:r>
            <a:r>
              <a:rPr sz="16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5" dirty="0">
                <a:solidFill>
                  <a:srgbClr val="FFFFFF"/>
                </a:solidFill>
                <a:latin typeface="Verdana"/>
                <a:cs typeface="Verdana"/>
              </a:rPr>
              <a:t>ces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propriétés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1858" y="2517969"/>
            <a:ext cx="2092960" cy="1644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7470" algn="ctr">
              <a:lnSpc>
                <a:spcPct val="115599"/>
              </a:lnSpc>
              <a:spcBef>
                <a:spcPts val="100"/>
              </a:spcBef>
            </a:pPr>
            <a:r>
              <a:rPr sz="2000" spc="150" dirty="0">
                <a:solidFill>
                  <a:srgbClr val="FFFFFF"/>
                </a:solidFill>
                <a:latin typeface="Cambria"/>
                <a:cs typeface="Cambria"/>
              </a:rPr>
              <a:t>Propriétés</a:t>
            </a:r>
            <a:r>
              <a:rPr sz="20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spc="150" dirty="0">
                <a:solidFill>
                  <a:srgbClr val="FFFFFF"/>
                </a:solidFill>
                <a:latin typeface="Cambria"/>
                <a:cs typeface="Cambria"/>
              </a:rPr>
              <a:t>avec </a:t>
            </a:r>
            <a:r>
              <a:rPr sz="2000" spc="245" dirty="0">
                <a:solidFill>
                  <a:srgbClr val="FFFFFF"/>
                </a:solidFill>
                <a:latin typeface="Cambria"/>
                <a:cs typeface="Cambria"/>
              </a:rPr>
              <a:t>nombre</a:t>
            </a:r>
            <a:r>
              <a:rPr sz="2000" spc="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FFFFFF"/>
                </a:solidFill>
                <a:latin typeface="Cambria"/>
                <a:cs typeface="Cambria"/>
              </a:rPr>
              <a:t>de bâtiments</a:t>
            </a:r>
            <a:r>
              <a:rPr sz="20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spc="185" dirty="0">
                <a:solidFill>
                  <a:srgbClr val="FFFFFF"/>
                </a:solidFill>
                <a:latin typeface="Cambria"/>
                <a:cs typeface="Cambria"/>
              </a:rPr>
              <a:t>=0</a:t>
            </a:r>
            <a:endParaRPr sz="2000">
              <a:latin typeface="Cambria"/>
              <a:cs typeface="Cambria"/>
            </a:endParaRPr>
          </a:p>
          <a:p>
            <a:pPr marL="1002030" marR="5080" indent="-989965">
              <a:lnSpc>
                <a:spcPct val="113300"/>
              </a:lnSpc>
              <a:spcBef>
                <a:spcPts val="70"/>
              </a:spcBef>
            </a:pPr>
            <a:r>
              <a:rPr sz="1600" spc="-4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16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mets</a:t>
            </a:r>
            <a:r>
              <a:rPr sz="16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16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FFFFFF"/>
                </a:solidFill>
                <a:latin typeface="Verdana"/>
                <a:cs typeface="Verdana"/>
              </a:rPr>
              <a:t>nombre</a:t>
            </a:r>
            <a:r>
              <a:rPr sz="16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1600" spc="-37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443812" y="2252518"/>
            <a:ext cx="3124200" cy="2219325"/>
          </a:xfrm>
          <a:custGeom>
            <a:avLst/>
            <a:gdLst/>
            <a:ahLst/>
            <a:cxnLst/>
            <a:rect l="l" t="t" r="r" b="b"/>
            <a:pathLst>
              <a:path w="3124200" h="2219325">
                <a:moveTo>
                  <a:pt x="0" y="0"/>
                </a:moveTo>
                <a:lnTo>
                  <a:pt x="2483164" y="0"/>
                </a:lnTo>
                <a:lnTo>
                  <a:pt x="3124200" y="1109660"/>
                </a:lnTo>
                <a:lnTo>
                  <a:pt x="2483164" y="2219320"/>
                </a:lnTo>
                <a:lnTo>
                  <a:pt x="0" y="2219320"/>
                </a:lnTo>
                <a:lnTo>
                  <a:pt x="641036" y="1109660"/>
                </a:lnTo>
                <a:lnTo>
                  <a:pt x="0" y="0"/>
                </a:lnTo>
                <a:close/>
              </a:path>
            </a:pathLst>
          </a:custGeom>
          <a:solidFill>
            <a:srgbClr val="02A4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172258" y="2548081"/>
            <a:ext cx="1684020" cy="143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5599"/>
              </a:lnSpc>
              <a:spcBef>
                <a:spcPts val="100"/>
              </a:spcBef>
            </a:pPr>
            <a:r>
              <a:rPr sz="2000" spc="170" dirty="0">
                <a:solidFill>
                  <a:srgbClr val="FFFFFF"/>
                </a:solidFill>
                <a:latin typeface="Cambria"/>
                <a:cs typeface="Cambria"/>
              </a:rPr>
              <a:t>Suppression </a:t>
            </a:r>
            <a:r>
              <a:rPr sz="2000" spc="145" dirty="0">
                <a:solidFill>
                  <a:srgbClr val="FFFFFF"/>
                </a:solidFill>
                <a:latin typeface="Cambria"/>
                <a:cs typeface="Cambria"/>
              </a:rPr>
              <a:t>des</a:t>
            </a:r>
            <a:r>
              <a:rPr sz="20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FFFFFF"/>
                </a:solidFill>
                <a:latin typeface="Cambria"/>
                <a:cs typeface="Cambria"/>
              </a:rPr>
              <a:t>variables à</a:t>
            </a:r>
            <a:r>
              <a:rPr sz="200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FFFFFF"/>
                </a:solidFill>
                <a:latin typeface="Cambria"/>
                <a:cs typeface="Cambria"/>
              </a:rPr>
              <a:t>faible </a:t>
            </a:r>
            <a:r>
              <a:rPr sz="2000" spc="140" dirty="0">
                <a:solidFill>
                  <a:srgbClr val="FFFFFF"/>
                </a:solidFill>
                <a:latin typeface="Cambria"/>
                <a:cs typeface="Cambria"/>
              </a:rPr>
              <a:t>cardinalité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010810" y="2262043"/>
            <a:ext cx="3124200" cy="2219325"/>
          </a:xfrm>
          <a:custGeom>
            <a:avLst/>
            <a:gdLst/>
            <a:ahLst/>
            <a:cxnLst/>
            <a:rect l="l" t="t" r="r" b="b"/>
            <a:pathLst>
              <a:path w="3124200" h="2219325">
                <a:moveTo>
                  <a:pt x="0" y="0"/>
                </a:moveTo>
                <a:lnTo>
                  <a:pt x="2483164" y="0"/>
                </a:lnTo>
                <a:lnTo>
                  <a:pt x="3124200" y="1109660"/>
                </a:lnTo>
                <a:lnTo>
                  <a:pt x="2483164" y="2219320"/>
                </a:lnTo>
                <a:lnTo>
                  <a:pt x="0" y="2219320"/>
                </a:lnTo>
                <a:lnTo>
                  <a:pt x="641036" y="1109660"/>
                </a:lnTo>
                <a:lnTo>
                  <a:pt x="0" y="0"/>
                </a:lnTo>
                <a:close/>
              </a:path>
            </a:pathLst>
          </a:custGeom>
          <a:solidFill>
            <a:srgbClr val="155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33576" y="2332231"/>
            <a:ext cx="1684020" cy="1996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5599"/>
              </a:lnSpc>
              <a:spcBef>
                <a:spcPts val="100"/>
              </a:spcBef>
            </a:pPr>
            <a:r>
              <a:rPr sz="2000" spc="170" dirty="0">
                <a:solidFill>
                  <a:srgbClr val="FFFFFF"/>
                </a:solidFill>
                <a:latin typeface="Cambria"/>
                <a:cs typeface="Cambria"/>
              </a:rPr>
              <a:t>Suppression </a:t>
            </a:r>
            <a:r>
              <a:rPr sz="2000" spc="145" dirty="0">
                <a:solidFill>
                  <a:srgbClr val="FFFFFF"/>
                </a:solidFill>
                <a:latin typeface="Cambria"/>
                <a:cs typeface="Cambria"/>
              </a:rPr>
              <a:t>des</a:t>
            </a:r>
            <a:r>
              <a:rPr sz="20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FFFFFF"/>
                </a:solidFill>
                <a:latin typeface="Cambria"/>
                <a:cs typeface="Cambria"/>
              </a:rPr>
              <a:t>variables </a:t>
            </a:r>
            <a:r>
              <a:rPr sz="2000" spc="360" dirty="0">
                <a:solidFill>
                  <a:srgbClr val="FFFFFF"/>
                </a:solidFill>
                <a:latin typeface="Cambria"/>
                <a:cs typeface="Cambria"/>
              </a:rPr>
              <a:t>WN,</a:t>
            </a:r>
            <a:r>
              <a:rPr sz="200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Cambria"/>
                <a:cs typeface="Cambria"/>
              </a:rPr>
              <a:t>kwh, </a:t>
            </a:r>
            <a:r>
              <a:rPr sz="2000" spc="180" dirty="0">
                <a:solidFill>
                  <a:srgbClr val="FFFFFF"/>
                </a:solidFill>
                <a:latin typeface="Cambria"/>
                <a:cs typeface="Cambria"/>
              </a:rPr>
              <a:t>therms</a:t>
            </a:r>
            <a:endParaRPr sz="2000">
              <a:latin typeface="Cambria"/>
              <a:cs typeface="Cambria"/>
            </a:endParaRPr>
          </a:p>
          <a:p>
            <a:pPr marL="93345" marR="85725" algn="ctr">
              <a:lnSpc>
                <a:spcPct val="113300"/>
              </a:lnSpc>
              <a:spcBef>
                <a:spcPts val="70"/>
              </a:spcBef>
            </a:pPr>
            <a:r>
              <a:rPr sz="1600" spc="-4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16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conserve</a:t>
            </a:r>
            <a:r>
              <a:rPr sz="16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le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kBtu</a:t>
            </a:r>
            <a:endParaRPr sz="1600">
              <a:latin typeface="Verdana"/>
              <a:cs typeface="Verdan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39418"/>
            <a:ext cx="742949" cy="742948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3572128" y="2252518"/>
            <a:ext cx="3124200" cy="2219325"/>
          </a:xfrm>
          <a:custGeom>
            <a:avLst/>
            <a:gdLst/>
            <a:ahLst/>
            <a:cxnLst/>
            <a:rect l="l" t="t" r="r" b="b"/>
            <a:pathLst>
              <a:path w="3124200" h="2219325">
                <a:moveTo>
                  <a:pt x="0" y="0"/>
                </a:moveTo>
                <a:lnTo>
                  <a:pt x="2483164" y="0"/>
                </a:lnTo>
                <a:lnTo>
                  <a:pt x="3124200" y="1109660"/>
                </a:lnTo>
                <a:lnTo>
                  <a:pt x="2483164" y="2219320"/>
                </a:lnTo>
                <a:lnTo>
                  <a:pt x="0" y="2219320"/>
                </a:lnTo>
                <a:lnTo>
                  <a:pt x="641036" y="1109660"/>
                </a:lnTo>
                <a:lnTo>
                  <a:pt x="0" y="0"/>
                </a:lnTo>
                <a:close/>
              </a:path>
            </a:pathLst>
          </a:custGeom>
          <a:solidFill>
            <a:srgbClr val="143A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996385" y="2405889"/>
            <a:ext cx="2280920" cy="1644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15599"/>
              </a:lnSpc>
              <a:spcBef>
                <a:spcPts val="100"/>
              </a:spcBef>
            </a:pPr>
            <a:r>
              <a:rPr sz="2000" spc="160" dirty="0" err="1">
                <a:solidFill>
                  <a:srgbClr val="FFFFFF"/>
                </a:solidFill>
                <a:latin typeface="Cambria"/>
                <a:cs typeface="Cambria"/>
              </a:rPr>
              <a:t>Propriété</a:t>
            </a:r>
            <a:r>
              <a:rPr lang="fr-FR" sz="2000" spc="160" dirty="0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sz="2000" spc="150" dirty="0">
                <a:solidFill>
                  <a:srgbClr val="FFFFFF"/>
                </a:solidFill>
                <a:latin typeface="Cambria"/>
                <a:cs typeface="Cambria"/>
              </a:rPr>
              <a:t> avec </a:t>
            </a:r>
            <a:r>
              <a:rPr sz="2000" spc="215" dirty="0">
                <a:solidFill>
                  <a:srgbClr val="FFFFFF"/>
                </a:solidFill>
                <a:latin typeface="Cambria"/>
                <a:cs typeface="Cambria"/>
              </a:rPr>
              <a:t>nombres</a:t>
            </a:r>
            <a:r>
              <a:rPr sz="20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Cambria"/>
                <a:cs typeface="Cambria"/>
              </a:rPr>
              <a:t>d'etages</a:t>
            </a:r>
            <a:endParaRPr sz="2000" dirty="0">
              <a:latin typeface="Cambria"/>
              <a:cs typeface="Cambria"/>
            </a:endParaRPr>
          </a:p>
          <a:p>
            <a:pPr marR="64769" algn="ctr">
              <a:lnSpc>
                <a:spcPct val="100000"/>
              </a:lnSpc>
              <a:spcBef>
                <a:spcPts val="375"/>
              </a:spcBef>
            </a:pPr>
            <a:r>
              <a:rPr sz="2000" spc="210" dirty="0">
                <a:solidFill>
                  <a:srgbClr val="FFFFFF"/>
                </a:solidFill>
                <a:latin typeface="Cambria"/>
                <a:cs typeface="Cambria"/>
              </a:rPr>
              <a:t>=0</a:t>
            </a:r>
            <a:r>
              <a:rPr sz="200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spc="235" dirty="0">
                <a:solidFill>
                  <a:srgbClr val="FFFFFF"/>
                </a:solidFill>
                <a:latin typeface="Cambria"/>
                <a:cs typeface="Cambria"/>
              </a:rPr>
              <a:t>ou</a:t>
            </a:r>
            <a:r>
              <a:rPr sz="20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Cambria"/>
                <a:cs typeface="Cambria"/>
              </a:rPr>
              <a:t>=99</a:t>
            </a:r>
            <a:endParaRPr sz="2000" dirty="0">
              <a:latin typeface="Cambria"/>
              <a:cs typeface="Cambria"/>
            </a:endParaRPr>
          </a:p>
          <a:p>
            <a:pPr marL="56515" marR="48895" algn="ctr">
              <a:lnSpc>
                <a:spcPct val="113300"/>
              </a:lnSpc>
              <a:spcBef>
                <a:spcPts val="70"/>
              </a:spcBef>
            </a:pPr>
            <a:r>
              <a:rPr sz="1600" spc="170" dirty="0">
                <a:solidFill>
                  <a:srgbClr val="FFFFFF"/>
                </a:solidFill>
                <a:latin typeface="Cambria"/>
                <a:cs typeface="Cambria"/>
              </a:rPr>
              <a:t>remplacement</a:t>
            </a:r>
            <a:r>
              <a:rPr sz="160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spc="130" dirty="0">
                <a:solidFill>
                  <a:srgbClr val="FFFFFF"/>
                </a:solidFill>
                <a:latin typeface="Cambria"/>
                <a:cs typeface="Cambria"/>
              </a:rPr>
              <a:t>par </a:t>
            </a:r>
            <a:r>
              <a:rPr sz="1600" spc="60" dirty="0">
                <a:solidFill>
                  <a:srgbClr val="FFFFFF"/>
                </a:solidFill>
                <a:latin typeface="Cambria"/>
                <a:cs typeface="Cambria"/>
              </a:rPr>
              <a:t>la </a:t>
            </a:r>
            <a:r>
              <a:rPr sz="1600" spc="120" dirty="0">
                <a:solidFill>
                  <a:srgbClr val="FFFFFF"/>
                </a:solidFill>
                <a:latin typeface="Cambria"/>
                <a:cs typeface="Cambria"/>
              </a:rPr>
              <a:t>valeur</a:t>
            </a:r>
            <a:r>
              <a:rPr sz="160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spc="165" dirty="0">
                <a:solidFill>
                  <a:srgbClr val="FFFFFF"/>
                </a:solidFill>
                <a:latin typeface="Cambria"/>
                <a:cs typeface="Cambria"/>
              </a:rPr>
              <a:t>médiane</a:t>
            </a:r>
            <a:endParaRPr sz="1600" dirty="0">
              <a:latin typeface="Cambria"/>
              <a:cs typeface="Cambri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446682" y="422107"/>
            <a:ext cx="1331341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70" dirty="0"/>
              <a:t>Quelles</a:t>
            </a:r>
            <a:r>
              <a:rPr spc="-365" dirty="0"/>
              <a:t> </a:t>
            </a:r>
            <a:r>
              <a:rPr spc="-185" dirty="0"/>
              <a:t>sont</a:t>
            </a:r>
            <a:r>
              <a:rPr spc="-365" dirty="0"/>
              <a:t> </a:t>
            </a:r>
            <a:r>
              <a:rPr spc="-270" dirty="0"/>
              <a:t>les</a:t>
            </a:r>
            <a:r>
              <a:rPr spc="-360" dirty="0"/>
              <a:t> </a:t>
            </a:r>
            <a:r>
              <a:rPr spc="-195" dirty="0"/>
              <a:t>différentes</a:t>
            </a:r>
            <a:r>
              <a:rPr spc="-365" dirty="0"/>
              <a:t> </a:t>
            </a:r>
            <a:r>
              <a:rPr spc="-210" dirty="0"/>
              <a:t>étapes</a:t>
            </a:r>
            <a:r>
              <a:rPr spc="-360" dirty="0"/>
              <a:t> </a:t>
            </a:r>
            <a:r>
              <a:rPr spc="-385" dirty="0"/>
              <a:t>du</a:t>
            </a:r>
            <a:r>
              <a:rPr spc="-365" dirty="0"/>
              <a:t> </a:t>
            </a:r>
            <a:r>
              <a:rPr spc="-215" dirty="0"/>
              <a:t>nettoyage</a:t>
            </a:r>
            <a:r>
              <a:rPr spc="-360" dirty="0"/>
              <a:t> </a:t>
            </a:r>
            <a:r>
              <a:rPr spc="-470" dirty="0"/>
              <a:t>?</a:t>
            </a:r>
          </a:p>
        </p:txBody>
      </p:sp>
      <p:sp>
        <p:nvSpPr>
          <p:cNvPr id="19" name="object 19"/>
          <p:cNvSpPr/>
          <p:nvPr/>
        </p:nvSpPr>
        <p:spPr>
          <a:xfrm>
            <a:off x="1782392" y="6332071"/>
            <a:ext cx="4095750" cy="1314450"/>
          </a:xfrm>
          <a:custGeom>
            <a:avLst/>
            <a:gdLst/>
            <a:ahLst/>
            <a:cxnLst/>
            <a:rect l="l" t="t" r="r" b="b"/>
            <a:pathLst>
              <a:path w="4095750" h="1314450">
                <a:moveTo>
                  <a:pt x="0" y="0"/>
                </a:moveTo>
                <a:lnTo>
                  <a:pt x="3715207" y="0"/>
                </a:lnTo>
                <a:lnTo>
                  <a:pt x="4095675" y="657225"/>
                </a:lnTo>
                <a:lnTo>
                  <a:pt x="3715207" y="1314450"/>
                </a:lnTo>
                <a:lnTo>
                  <a:pt x="0" y="1314450"/>
                </a:lnTo>
                <a:lnTo>
                  <a:pt x="380467" y="657225"/>
                </a:lnTo>
                <a:lnTo>
                  <a:pt x="0" y="0"/>
                </a:lnTo>
                <a:close/>
              </a:path>
            </a:pathLst>
          </a:custGeom>
          <a:solidFill>
            <a:srgbClr val="02A4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19778" y="6332071"/>
            <a:ext cx="4095750" cy="1314450"/>
          </a:xfrm>
          <a:custGeom>
            <a:avLst/>
            <a:gdLst/>
            <a:ahLst/>
            <a:cxnLst/>
            <a:rect l="l" t="t" r="r" b="b"/>
            <a:pathLst>
              <a:path w="4095750" h="1314450">
                <a:moveTo>
                  <a:pt x="0" y="0"/>
                </a:moveTo>
                <a:lnTo>
                  <a:pt x="3715207" y="0"/>
                </a:lnTo>
                <a:lnTo>
                  <a:pt x="4095675" y="657225"/>
                </a:lnTo>
                <a:lnTo>
                  <a:pt x="3715207" y="1314450"/>
                </a:lnTo>
                <a:lnTo>
                  <a:pt x="0" y="1314450"/>
                </a:lnTo>
                <a:lnTo>
                  <a:pt x="380467" y="657225"/>
                </a:lnTo>
                <a:lnTo>
                  <a:pt x="0" y="0"/>
                </a:lnTo>
                <a:close/>
              </a:path>
            </a:pathLst>
          </a:custGeom>
          <a:solidFill>
            <a:srgbClr val="0080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261741" y="6339699"/>
            <a:ext cx="3408679" cy="1196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500"/>
              </a:lnSpc>
              <a:spcBef>
                <a:spcPts val="100"/>
              </a:spcBef>
            </a:pPr>
            <a:r>
              <a:rPr sz="2200" spc="165" dirty="0">
                <a:solidFill>
                  <a:srgbClr val="FFFFFF"/>
                </a:solidFill>
                <a:latin typeface="Cambria"/>
                <a:cs typeface="Cambria"/>
              </a:rPr>
              <a:t>Variables</a:t>
            </a:r>
            <a:r>
              <a:rPr sz="22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fr-FR" sz="2200" spc="135" dirty="0">
                <a:solidFill>
                  <a:srgbClr val="FFFFFF"/>
                </a:solidFill>
                <a:latin typeface="Cambria"/>
                <a:cs typeface="Cambria"/>
              </a:rPr>
              <a:t>à</a:t>
            </a:r>
            <a:r>
              <a:rPr sz="22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165" dirty="0">
                <a:solidFill>
                  <a:srgbClr val="FFFFFF"/>
                </a:solidFill>
                <a:latin typeface="Cambria"/>
                <a:cs typeface="Cambria"/>
              </a:rPr>
              <a:t>plus</a:t>
            </a:r>
            <a:r>
              <a:rPr sz="22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215" dirty="0">
                <a:solidFill>
                  <a:srgbClr val="FFFFFF"/>
                </a:solidFill>
                <a:latin typeface="Cambria"/>
                <a:cs typeface="Cambria"/>
              </a:rPr>
              <a:t>de</a:t>
            </a:r>
            <a:r>
              <a:rPr sz="22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275" dirty="0">
                <a:solidFill>
                  <a:srgbClr val="FFFFFF"/>
                </a:solidFill>
                <a:latin typeface="Cambria"/>
                <a:cs typeface="Cambria"/>
              </a:rPr>
              <a:t>90</a:t>
            </a:r>
            <a:r>
              <a:rPr sz="22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-545" dirty="0">
                <a:solidFill>
                  <a:srgbClr val="FFFFFF"/>
                </a:solidFill>
                <a:latin typeface="Cambria"/>
                <a:cs typeface="Cambria"/>
              </a:rPr>
              <a:t>%</a:t>
            </a:r>
            <a:r>
              <a:rPr sz="2200" spc="215" dirty="0">
                <a:solidFill>
                  <a:srgbClr val="FFFFFF"/>
                </a:solidFill>
                <a:latin typeface="Cambria"/>
                <a:cs typeface="Cambria"/>
              </a:rPr>
              <a:t> de</a:t>
            </a:r>
            <a:r>
              <a:rPr sz="22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155" dirty="0">
                <a:solidFill>
                  <a:srgbClr val="FFFFFF"/>
                </a:solidFill>
                <a:latin typeface="Cambria"/>
                <a:cs typeface="Cambria"/>
              </a:rPr>
              <a:t>valeurs</a:t>
            </a:r>
            <a:r>
              <a:rPr sz="22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210" dirty="0">
                <a:solidFill>
                  <a:srgbClr val="FFFFFF"/>
                </a:solidFill>
                <a:latin typeface="Cambria"/>
                <a:cs typeface="Cambria"/>
              </a:rPr>
              <a:t>manquantes </a:t>
            </a:r>
            <a:r>
              <a:rPr sz="2200" spc="185" dirty="0">
                <a:solidFill>
                  <a:srgbClr val="FFFFFF"/>
                </a:solidFill>
                <a:latin typeface="Cambria"/>
                <a:cs typeface="Cambria"/>
              </a:rPr>
              <a:t>supprimées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089105" y="6332071"/>
            <a:ext cx="4095750" cy="1314450"/>
          </a:xfrm>
          <a:custGeom>
            <a:avLst/>
            <a:gdLst/>
            <a:ahLst/>
            <a:cxnLst/>
            <a:rect l="l" t="t" r="r" b="b"/>
            <a:pathLst>
              <a:path w="4095750" h="1314450">
                <a:moveTo>
                  <a:pt x="0" y="0"/>
                </a:moveTo>
                <a:lnTo>
                  <a:pt x="3715207" y="0"/>
                </a:lnTo>
                <a:lnTo>
                  <a:pt x="4095675" y="657225"/>
                </a:lnTo>
                <a:lnTo>
                  <a:pt x="3715207" y="1314450"/>
                </a:lnTo>
                <a:lnTo>
                  <a:pt x="0" y="1314450"/>
                </a:lnTo>
                <a:lnTo>
                  <a:pt x="380467" y="657225"/>
                </a:lnTo>
                <a:lnTo>
                  <a:pt x="0" y="0"/>
                </a:lnTo>
                <a:close/>
              </a:path>
            </a:pathLst>
          </a:custGeom>
          <a:solidFill>
            <a:srgbClr val="1550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280112" y="6534966"/>
            <a:ext cx="3107690" cy="806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3355">
              <a:lnSpc>
                <a:spcPct val="116500"/>
              </a:lnSpc>
              <a:spcBef>
                <a:spcPts val="100"/>
              </a:spcBef>
            </a:pPr>
            <a:r>
              <a:rPr sz="2200" spc="180" dirty="0">
                <a:solidFill>
                  <a:srgbClr val="FFFFFF"/>
                </a:solidFill>
                <a:latin typeface="Cambria"/>
                <a:cs typeface="Cambria"/>
              </a:rPr>
              <a:t>Valeurs</a:t>
            </a:r>
            <a:r>
              <a:rPr sz="22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215" dirty="0">
                <a:solidFill>
                  <a:srgbClr val="FFFFFF"/>
                </a:solidFill>
                <a:latin typeface="Cambria"/>
                <a:cs typeface="Cambria"/>
              </a:rPr>
              <a:t>de</a:t>
            </a:r>
            <a:r>
              <a:rPr sz="22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145" dirty="0">
                <a:solidFill>
                  <a:srgbClr val="FFFFFF"/>
                </a:solidFill>
                <a:latin typeface="Cambria"/>
                <a:cs typeface="Cambria"/>
              </a:rPr>
              <a:t>surfaces </a:t>
            </a:r>
            <a:r>
              <a:rPr sz="2200" spc="165" dirty="0">
                <a:solidFill>
                  <a:srgbClr val="FFFFFF"/>
                </a:solidFill>
                <a:latin typeface="Cambria"/>
                <a:cs typeface="Cambria"/>
              </a:rPr>
              <a:t>négatives</a:t>
            </a:r>
            <a:r>
              <a:rPr sz="2200" spc="1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185" dirty="0">
                <a:solidFill>
                  <a:srgbClr val="FFFFFF"/>
                </a:solidFill>
                <a:latin typeface="Cambria"/>
                <a:cs typeface="Cambria"/>
              </a:rPr>
              <a:t>supprimées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568913" y="6534966"/>
            <a:ext cx="3315970" cy="806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9145" marR="5080" indent="-767080">
              <a:lnSpc>
                <a:spcPct val="116500"/>
              </a:lnSpc>
              <a:spcBef>
                <a:spcPts val="100"/>
              </a:spcBef>
            </a:pPr>
            <a:r>
              <a:rPr sz="2200" spc="220" dirty="0">
                <a:solidFill>
                  <a:srgbClr val="FFFFFF"/>
                </a:solidFill>
                <a:latin typeface="Cambria"/>
                <a:cs typeface="Cambria"/>
              </a:rPr>
              <a:t>Traitement</a:t>
            </a:r>
            <a:r>
              <a:rPr sz="2200" spc="160" dirty="0">
                <a:solidFill>
                  <a:srgbClr val="FFFFFF"/>
                </a:solidFill>
                <a:latin typeface="Cambria"/>
                <a:cs typeface="Cambria"/>
              </a:rPr>
              <a:t> des </a:t>
            </a:r>
            <a:r>
              <a:rPr sz="2200" spc="145" dirty="0">
                <a:solidFill>
                  <a:srgbClr val="FFFFFF"/>
                </a:solidFill>
                <a:latin typeface="Cambria"/>
                <a:cs typeface="Cambria"/>
              </a:rPr>
              <a:t>valeurs </a:t>
            </a:r>
            <a:r>
              <a:rPr sz="2200" spc="210" dirty="0">
                <a:solidFill>
                  <a:srgbClr val="FFFFFF"/>
                </a:solidFill>
                <a:latin typeface="Cambria"/>
                <a:cs typeface="Cambria"/>
              </a:rPr>
              <a:t>manquantes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0304" y="4723158"/>
            <a:ext cx="229552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Verdana"/>
                <a:cs typeface="Verdana"/>
              </a:rPr>
              <a:t>92</a:t>
            </a:r>
            <a:r>
              <a:rPr sz="1900" spc="-114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lignes</a:t>
            </a:r>
            <a:r>
              <a:rPr sz="1900" spc="-114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corrigées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21377" y="4631052"/>
            <a:ext cx="2418080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0510">
              <a:lnSpc>
                <a:spcPct val="115100"/>
              </a:lnSpc>
              <a:spcBef>
                <a:spcPts val="100"/>
              </a:spcBef>
            </a:pPr>
            <a:r>
              <a:rPr sz="1900" spc="-50" dirty="0">
                <a:latin typeface="Verdana"/>
                <a:cs typeface="Verdana"/>
              </a:rPr>
              <a:t>On</a:t>
            </a:r>
            <a:r>
              <a:rPr sz="1900" spc="-6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passe</a:t>
            </a:r>
            <a:r>
              <a:rPr sz="1900" spc="-5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de</a:t>
            </a:r>
            <a:r>
              <a:rPr sz="1900" spc="-55" dirty="0">
                <a:latin typeface="Verdana"/>
                <a:cs typeface="Verdana"/>
              </a:rPr>
              <a:t> </a:t>
            </a:r>
            <a:r>
              <a:rPr sz="1900" spc="-25" dirty="0">
                <a:latin typeface="Verdana"/>
                <a:cs typeface="Verdana"/>
              </a:rPr>
              <a:t>80 </a:t>
            </a:r>
            <a:r>
              <a:rPr sz="1900" spc="-10" dirty="0">
                <a:latin typeface="Verdana"/>
                <a:cs typeface="Verdana"/>
              </a:rPr>
              <a:t>types</a:t>
            </a:r>
            <a:r>
              <a:rPr sz="1900" spc="-114" dirty="0">
                <a:latin typeface="Verdana"/>
                <a:cs typeface="Verdana"/>
              </a:rPr>
              <a:t> </a:t>
            </a:r>
            <a:r>
              <a:rPr sz="1900" spc="-25" dirty="0">
                <a:latin typeface="Verdana"/>
                <a:cs typeface="Verdana"/>
              </a:rPr>
              <a:t>différents</a:t>
            </a:r>
            <a:r>
              <a:rPr sz="1900" spc="-114" dirty="0">
                <a:latin typeface="Verdana"/>
                <a:cs typeface="Verdana"/>
              </a:rPr>
              <a:t> </a:t>
            </a:r>
            <a:r>
              <a:rPr sz="1900" spc="-55" dirty="0">
                <a:latin typeface="Verdana"/>
                <a:cs typeface="Verdana"/>
              </a:rPr>
              <a:t>à</a:t>
            </a:r>
            <a:r>
              <a:rPr sz="1900" spc="-114" dirty="0">
                <a:latin typeface="Verdana"/>
                <a:cs typeface="Verdana"/>
              </a:rPr>
              <a:t> </a:t>
            </a:r>
            <a:r>
              <a:rPr sz="1900" spc="-160" dirty="0">
                <a:latin typeface="Verdana"/>
                <a:cs typeface="Verdana"/>
              </a:rPr>
              <a:t>16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83899" y="4631052"/>
            <a:ext cx="1402715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655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latin typeface="Verdana"/>
                <a:cs typeface="Verdana"/>
              </a:rPr>
              <a:t>8</a:t>
            </a:r>
            <a:r>
              <a:rPr sz="1900" spc="-120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colonnes </a:t>
            </a:r>
            <a:r>
              <a:rPr sz="1900" spc="-30" dirty="0">
                <a:latin typeface="Verdana"/>
                <a:cs typeface="Verdana"/>
              </a:rPr>
              <a:t>supprimées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520944" y="4631052"/>
            <a:ext cx="1402715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655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latin typeface="Verdana"/>
                <a:cs typeface="Verdana"/>
              </a:rPr>
              <a:t>8</a:t>
            </a:r>
            <a:r>
              <a:rPr sz="1900" spc="-120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colonnes </a:t>
            </a:r>
            <a:r>
              <a:rPr sz="1900" spc="-30" dirty="0">
                <a:latin typeface="Verdana"/>
                <a:cs typeface="Verdana"/>
              </a:rPr>
              <a:t>supprimées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661821" y="4674905"/>
            <a:ext cx="22434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90" dirty="0">
                <a:latin typeface="Verdana"/>
                <a:cs typeface="Verdana"/>
              </a:rPr>
              <a:t>16</a:t>
            </a:r>
            <a:r>
              <a:rPr sz="1900" spc="-130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lignes</a:t>
            </a:r>
            <a:r>
              <a:rPr sz="1900" spc="-130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corrigées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23923" y="8165503"/>
            <a:ext cx="274828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Verdana"/>
                <a:cs typeface="Verdana"/>
              </a:rPr>
              <a:t>3</a:t>
            </a:r>
            <a:r>
              <a:rPr sz="1900" spc="-95" dirty="0">
                <a:latin typeface="Verdana"/>
                <a:cs typeface="Verdana"/>
              </a:rPr>
              <a:t> </a:t>
            </a:r>
            <a:r>
              <a:rPr sz="1900" spc="-45" dirty="0">
                <a:latin typeface="Verdana"/>
                <a:cs typeface="Verdana"/>
              </a:rPr>
              <a:t>variables</a:t>
            </a:r>
            <a:r>
              <a:rPr sz="1900" spc="-90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supprimées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275639" y="7954963"/>
            <a:ext cx="3215005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6375">
              <a:lnSpc>
                <a:spcPct val="115100"/>
              </a:lnSpc>
              <a:spcBef>
                <a:spcPts val="100"/>
              </a:spcBef>
            </a:pPr>
            <a:r>
              <a:rPr sz="1900" spc="-30" dirty="0">
                <a:latin typeface="Verdana"/>
                <a:cs typeface="Verdana"/>
              </a:rPr>
              <a:t>on</a:t>
            </a:r>
            <a:r>
              <a:rPr sz="1900" spc="-7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passe</a:t>
            </a:r>
            <a:r>
              <a:rPr sz="1900" spc="-7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de</a:t>
            </a:r>
            <a:r>
              <a:rPr sz="1900" spc="-70" dirty="0">
                <a:latin typeface="Verdana"/>
                <a:cs typeface="Verdana"/>
              </a:rPr>
              <a:t> </a:t>
            </a:r>
            <a:r>
              <a:rPr sz="1900" spc="-195" dirty="0">
                <a:latin typeface="Verdana"/>
                <a:cs typeface="Verdana"/>
              </a:rPr>
              <a:t>18.92%</a:t>
            </a:r>
            <a:r>
              <a:rPr sz="1900" spc="-70" dirty="0">
                <a:latin typeface="Verdana"/>
                <a:cs typeface="Verdana"/>
              </a:rPr>
              <a:t> </a:t>
            </a:r>
            <a:r>
              <a:rPr sz="1900" spc="-25" dirty="0">
                <a:latin typeface="Verdana"/>
                <a:cs typeface="Verdana"/>
              </a:rPr>
              <a:t>de </a:t>
            </a:r>
            <a:r>
              <a:rPr sz="1900" spc="-45" dirty="0">
                <a:latin typeface="Verdana"/>
                <a:cs typeface="Verdana"/>
              </a:rPr>
              <a:t>valeurs</a:t>
            </a:r>
            <a:r>
              <a:rPr sz="1900" spc="-114" dirty="0">
                <a:latin typeface="Verdana"/>
                <a:cs typeface="Verdana"/>
              </a:rPr>
              <a:t> </a:t>
            </a:r>
            <a:r>
              <a:rPr sz="1900" spc="-50" dirty="0">
                <a:latin typeface="Verdana"/>
                <a:cs typeface="Verdana"/>
              </a:rPr>
              <a:t>manquantes</a:t>
            </a:r>
            <a:r>
              <a:rPr sz="1900" spc="-114" dirty="0">
                <a:latin typeface="Verdana"/>
                <a:cs typeface="Verdana"/>
              </a:rPr>
              <a:t> </a:t>
            </a:r>
            <a:r>
              <a:rPr sz="1900" spc="-55" dirty="0">
                <a:latin typeface="Verdana"/>
                <a:cs typeface="Verdana"/>
              </a:rPr>
              <a:t>à</a:t>
            </a:r>
            <a:r>
              <a:rPr sz="1900" spc="-114" dirty="0">
                <a:latin typeface="Verdana"/>
                <a:cs typeface="Verdana"/>
              </a:rPr>
              <a:t> </a:t>
            </a:r>
            <a:r>
              <a:rPr sz="1900" spc="-185" dirty="0">
                <a:latin typeface="Verdana"/>
                <a:cs typeface="Verdana"/>
              </a:rPr>
              <a:t>0.9%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357703" y="8121650"/>
            <a:ext cx="2643505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7804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latin typeface="Verdana"/>
                <a:cs typeface="Verdana"/>
              </a:rPr>
              <a:t>3</a:t>
            </a:r>
            <a:r>
              <a:rPr sz="1900" spc="-120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lignes</a:t>
            </a:r>
            <a:r>
              <a:rPr sz="1900" spc="-120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corrigées </a:t>
            </a:r>
            <a:r>
              <a:rPr sz="1900" dirty="0">
                <a:latin typeface="Verdana"/>
                <a:cs typeface="Verdana"/>
              </a:rPr>
              <a:t>avec</a:t>
            </a:r>
            <a:r>
              <a:rPr sz="1900" spc="-130" dirty="0">
                <a:latin typeface="Verdana"/>
                <a:cs typeface="Verdana"/>
              </a:rPr>
              <a:t> </a:t>
            </a:r>
            <a:r>
              <a:rPr sz="1900" spc="-30" dirty="0">
                <a:latin typeface="Verdana"/>
                <a:cs typeface="Verdana"/>
              </a:rPr>
              <a:t>la</a:t>
            </a:r>
            <a:r>
              <a:rPr sz="1900" spc="-125" dirty="0">
                <a:latin typeface="Verdana"/>
                <a:cs typeface="Verdana"/>
              </a:rPr>
              <a:t> </a:t>
            </a:r>
            <a:r>
              <a:rPr sz="1900" spc="-65" dirty="0">
                <a:latin typeface="Verdana"/>
                <a:cs typeface="Verdana"/>
              </a:rPr>
              <a:t>valeur</a:t>
            </a:r>
            <a:r>
              <a:rPr sz="1900" spc="-125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absolue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19225" y="1606074"/>
            <a:ext cx="1449705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414"/>
              </a:spcBef>
            </a:pPr>
            <a:r>
              <a:rPr sz="1800" b="1" spc="-95" dirty="0">
                <a:latin typeface="Tahoma"/>
                <a:cs typeface="Tahoma"/>
              </a:rPr>
              <a:t>6716</a:t>
            </a:r>
            <a:r>
              <a:rPr sz="1800" b="1" spc="-3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lignes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b="1" dirty="0">
                <a:latin typeface="Tahoma"/>
                <a:cs typeface="Tahoma"/>
              </a:rPr>
              <a:t>46 </a:t>
            </a:r>
            <a:r>
              <a:rPr sz="1800" b="1" spc="-10" dirty="0">
                <a:latin typeface="Tahoma"/>
                <a:cs typeface="Tahoma"/>
              </a:rPr>
              <a:t>colonnes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275088" y="5678640"/>
            <a:ext cx="1451610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414"/>
              </a:spcBef>
            </a:pPr>
            <a:r>
              <a:rPr sz="1800" b="1" dirty="0">
                <a:latin typeface="Tahoma"/>
                <a:cs typeface="Tahoma"/>
              </a:rPr>
              <a:t>3428</a:t>
            </a:r>
            <a:r>
              <a:rPr sz="1800" b="1" spc="4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lignes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b="1" dirty="0">
                <a:latin typeface="Tahoma"/>
                <a:cs typeface="Tahoma"/>
              </a:rPr>
              <a:t>28 </a:t>
            </a:r>
            <a:r>
              <a:rPr sz="1800" b="1" spc="-10" dirty="0">
                <a:latin typeface="Tahoma"/>
                <a:cs typeface="Tahoma"/>
              </a:rPr>
              <a:t>colonnes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43312" y="5267005"/>
            <a:ext cx="15412085" cy="191135"/>
            <a:chOff x="643312" y="5267005"/>
            <a:chExt cx="15412085" cy="191135"/>
          </a:xfrm>
        </p:grpSpPr>
        <p:sp>
          <p:nvSpPr>
            <p:cNvPr id="36" name="object 36"/>
            <p:cNvSpPr/>
            <p:nvPr/>
          </p:nvSpPr>
          <p:spPr>
            <a:xfrm>
              <a:off x="643312" y="5362259"/>
              <a:ext cx="15280640" cy="0"/>
            </a:xfrm>
            <a:custGeom>
              <a:avLst/>
              <a:gdLst/>
              <a:ahLst/>
              <a:cxnLst/>
              <a:rect l="l" t="t" r="r" b="b"/>
              <a:pathLst>
                <a:path w="15280640">
                  <a:moveTo>
                    <a:pt x="0" y="0"/>
                  </a:moveTo>
                  <a:lnTo>
                    <a:pt x="15280556" y="0"/>
                  </a:lnTo>
                </a:path>
              </a:pathLst>
            </a:custGeom>
            <a:ln w="476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11942" y="5267005"/>
              <a:ext cx="142907" cy="190508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1778635" y="8733481"/>
            <a:ext cx="13907135" cy="190500"/>
            <a:chOff x="1778635" y="8733481"/>
            <a:chExt cx="13907135" cy="190500"/>
          </a:xfrm>
        </p:grpSpPr>
        <p:sp>
          <p:nvSpPr>
            <p:cNvPr id="39" name="object 39"/>
            <p:cNvSpPr/>
            <p:nvPr/>
          </p:nvSpPr>
          <p:spPr>
            <a:xfrm>
              <a:off x="1778635" y="8828734"/>
              <a:ext cx="13775690" cy="0"/>
            </a:xfrm>
            <a:custGeom>
              <a:avLst/>
              <a:gdLst/>
              <a:ahLst/>
              <a:cxnLst/>
              <a:rect l="l" t="t" r="r" b="b"/>
              <a:pathLst>
                <a:path w="13775690">
                  <a:moveTo>
                    <a:pt x="0" y="0"/>
                  </a:moveTo>
                  <a:lnTo>
                    <a:pt x="13775600" y="0"/>
                  </a:lnTo>
                </a:path>
              </a:pathLst>
            </a:custGeom>
            <a:ln w="476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42313" y="8733481"/>
              <a:ext cx="142895" cy="190505"/>
            </a:xfrm>
            <a:prstGeom prst="rect">
              <a:avLst/>
            </a:prstGeom>
          </p:spPr>
        </p:pic>
      </p:grpSp>
      <p:pic>
        <p:nvPicPr>
          <p:cNvPr id="41" name="object 4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668066" y="33083"/>
            <a:ext cx="1619249" cy="6286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43A0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39418"/>
            <a:ext cx="742949" cy="74294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73801" y="2414398"/>
            <a:ext cx="2333625" cy="5248275"/>
            <a:chOff x="373801" y="2414398"/>
            <a:chExt cx="2333625" cy="5248275"/>
          </a:xfrm>
        </p:grpSpPr>
        <p:sp>
          <p:nvSpPr>
            <p:cNvPr id="5" name="object 5"/>
            <p:cNvSpPr/>
            <p:nvPr/>
          </p:nvSpPr>
          <p:spPr>
            <a:xfrm>
              <a:off x="663283" y="2747857"/>
              <a:ext cx="2008505" cy="4874895"/>
            </a:xfrm>
            <a:custGeom>
              <a:avLst/>
              <a:gdLst/>
              <a:ahLst/>
              <a:cxnLst/>
              <a:rect l="l" t="t" r="r" b="b"/>
              <a:pathLst>
                <a:path w="2008505" h="4874895">
                  <a:moveTo>
                    <a:pt x="1552412" y="4874842"/>
                  </a:moveTo>
                  <a:lnTo>
                    <a:pt x="306691" y="4874842"/>
                  </a:lnTo>
                  <a:lnTo>
                    <a:pt x="259935" y="4871729"/>
                  </a:lnTo>
                  <a:lnTo>
                    <a:pt x="213044" y="4862574"/>
                  </a:lnTo>
                  <a:lnTo>
                    <a:pt x="166686" y="4847656"/>
                  </a:lnTo>
                  <a:lnTo>
                    <a:pt x="121533" y="4827251"/>
                  </a:lnTo>
                  <a:lnTo>
                    <a:pt x="78254" y="4801639"/>
                  </a:lnTo>
                  <a:lnTo>
                    <a:pt x="37520" y="4771096"/>
                  </a:lnTo>
                  <a:lnTo>
                    <a:pt x="0" y="4735901"/>
                  </a:lnTo>
                  <a:lnTo>
                    <a:pt x="48949" y="4754447"/>
                  </a:lnTo>
                  <a:lnTo>
                    <a:pt x="100128" y="4768155"/>
                  </a:lnTo>
                  <a:lnTo>
                    <a:pt x="152795" y="4776653"/>
                  </a:lnTo>
                  <a:lnTo>
                    <a:pt x="206205" y="4779568"/>
                  </a:lnTo>
                  <a:lnTo>
                    <a:pt x="1433447" y="4779568"/>
                  </a:lnTo>
                  <a:lnTo>
                    <a:pt x="1478024" y="4777295"/>
                  </a:lnTo>
                  <a:lnTo>
                    <a:pt x="1522000" y="4770615"/>
                  </a:lnTo>
                  <a:lnTo>
                    <a:pt x="1565105" y="4759737"/>
                  </a:lnTo>
                  <a:lnTo>
                    <a:pt x="1607067" y="4744869"/>
                  </a:lnTo>
                  <a:lnTo>
                    <a:pt x="1647614" y="4726219"/>
                  </a:lnTo>
                  <a:lnTo>
                    <a:pt x="1686477" y="4703997"/>
                  </a:lnTo>
                  <a:lnTo>
                    <a:pt x="1723383" y="4678410"/>
                  </a:lnTo>
                  <a:lnTo>
                    <a:pt x="1758061" y="4649666"/>
                  </a:lnTo>
                  <a:lnTo>
                    <a:pt x="1790240" y="4617975"/>
                  </a:lnTo>
                  <a:lnTo>
                    <a:pt x="1819649" y="4583545"/>
                  </a:lnTo>
                  <a:lnTo>
                    <a:pt x="1846017" y="4546585"/>
                  </a:lnTo>
                  <a:lnTo>
                    <a:pt x="1869072" y="4507302"/>
                  </a:lnTo>
                  <a:lnTo>
                    <a:pt x="1888544" y="4465905"/>
                  </a:lnTo>
                  <a:lnTo>
                    <a:pt x="1904160" y="4422603"/>
                  </a:lnTo>
                  <a:lnTo>
                    <a:pt x="1915651" y="4377604"/>
                  </a:lnTo>
                  <a:lnTo>
                    <a:pt x="1922744" y="4331117"/>
                  </a:lnTo>
                  <a:lnTo>
                    <a:pt x="1925168" y="4283350"/>
                  </a:lnTo>
                  <a:lnTo>
                    <a:pt x="1925168" y="162759"/>
                  </a:lnTo>
                  <a:lnTo>
                    <a:pt x="1923619" y="121139"/>
                  </a:lnTo>
                  <a:lnTo>
                    <a:pt x="1918725" y="79891"/>
                  </a:lnTo>
                  <a:lnTo>
                    <a:pt x="1910112" y="39387"/>
                  </a:lnTo>
                  <a:lnTo>
                    <a:pt x="1897410" y="0"/>
                  </a:lnTo>
                  <a:lnTo>
                    <a:pt x="1924787" y="35449"/>
                  </a:lnTo>
                  <a:lnTo>
                    <a:pt x="1948904" y="73608"/>
                  </a:lnTo>
                  <a:lnTo>
                    <a:pt x="1969413" y="114266"/>
                  </a:lnTo>
                  <a:lnTo>
                    <a:pt x="1985969" y="157215"/>
                  </a:lnTo>
                  <a:lnTo>
                    <a:pt x="1998224" y="202248"/>
                  </a:lnTo>
                  <a:lnTo>
                    <a:pt x="2005831" y="249156"/>
                  </a:lnTo>
                  <a:lnTo>
                    <a:pt x="2008444" y="297730"/>
                  </a:lnTo>
                  <a:lnTo>
                    <a:pt x="2008444" y="4418322"/>
                  </a:lnTo>
                  <a:lnTo>
                    <a:pt x="2006067" y="4464663"/>
                  </a:lnTo>
                  <a:lnTo>
                    <a:pt x="1999096" y="4509742"/>
                  </a:lnTo>
                  <a:lnTo>
                    <a:pt x="1987767" y="4553321"/>
                  </a:lnTo>
                  <a:lnTo>
                    <a:pt x="1972321" y="4595161"/>
                  </a:lnTo>
                  <a:lnTo>
                    <a:pt x="1952994" y="4635024"/>
                  </a:lnTo>
                  <a:lnTo>
                    <a:pt x="1930025" y="4672672"/>
                  </a:lnTo>
                  <a:lnTo>
                    <a:pt x="1903652" y="4707866"/>
                  </a:lnTo>
                  <a:lnTo>
                    <a:pt x="1874113" y="4740367"/>
                  </a:lnTo>
                  <a:lnTo>
                    <a:pt x="1841646" y="4769937"/>
                  </a:lnTo>
                  <a:lnTo>
                    <a:pt x="1806490" y="4796339"/>
                  </a:lnTo>
                  <a:lnTo>
                    <a:pt x="1768883" y="4819332"/>
                  </a:lnTo>
                  <a:lnTo>
                    <a:pt x="1729062" y="4838680"/>
                  </a:lnTo>
                  <a:lnTo>
                    <a:pt x="1687267" y="4854143"/>
                  </a:lnTo>
                  <a:lnTo>
                    <a:pt x="1643734" y="4865484"/>
                  </a:lnTo>
                  <a:lnTo>
                    <a:pt x="1598703" y="4872463"/>
                  </a:lnTo>
                  <a:lnTo>
                    <a:pt x="1552412" y="4874842"/>
                  </a:lnTo>
                  <a:close/>
                </a:path>
              </a:pathLst>
            </a:custGeom>
            <a:solidFill>
              <a:srgbClr val="E9E8E3">
                <a:alpha val="5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3444" y="2454096"/>
              <a:ext cx="2131695" cy="5033645"/>
            </a:xfrm>
            <a:custGeom>
              <a:avLst/>
              <a:gdLst/>
              <a:ahLst/>
              <a:cxnLst/>
              <a:rect l="l" t="t" r="r" b="b"/>
              <a:pathLst>
                <a:path w="2131695" h="5033645">
                  <a:moveTo>
                    <a:pt x="1675342" y="5033632"/>
                  </a:moveTo>
                  <a:lnTo>
                    <a:pt x="456032" y="5033632"/>
                  </a:lnTo>
                  <a:lnTo>
                    <a:pt x="409740" y="5031296"/>
                  </a:lnTo>
                  <a:lnTo>
                    <a:pt x="364709" y="5024436"/>
                  </a:lnTo>
                  <a:lnTo>
                    <a:pt x="321177" y="5013273"/>
                  </a:lnTo>
                  <a:lnTo>
                    <a:pt x="279381" y="4998028"/>
                  </a:lnTo>
                  <a:lnTo>
                    <a:pt x="239561" y="4978922"/>
                  </a:lnTo>
                  <a:lnTo>
                    <a:pt x="201953" y="4956175"/>
                  </a:lnTo>
                  <a:lnTo>
                    <a:pt x="166797" y="4930009"/>
                  </a:lnTo>
                  <a:lnTo>
                    <a:pt x="134331" y="4900645"/>
                  </a:lnTo>
                  <a:lnTo>
                    <a:pt x="104792" y="4868304"/>
                  </a:lnTo>
                  <a:lnTo>
                    <a:pt x="78419" y="4833206"/>
                  </a:lnTo>
                  <a:lnTo>
                    <a:pt x="55450" y="4795573"/>
                  </a:lnTo>
                  <a:lnTo>
                    <a:pt x="36123" y="4755626"/>
                  </a:lnTo>
                  <a:lnTo>
                    <a:pt x="20676" y="4713585"/>
                  </a:lnTo>
                  <a:lnTo>
                    <a:pt x="9348" y="4669671"/>
                  </a:lnTo>
                  <a:lnTo>
                    <a:pt x="2376" y="4624107"/>
                  </a:lnTo>
                  <a:lnTo>
                    <a:pt x="0" y="4577111"/>
                  </a:lnTo>
                  <a:lnTo>
                    <a:pt x="0" y="456520"/>
                  </a:lnTo>
                  <a:lnTo>
                    <a:pt x="2376" y="410179"/>
                  </a:lnTo>
                  <a:lnTo>
                    <a:pt x="9348" y="365099"/>
                  </a:lnTo>
                  <a:lnTo>
                    <a:pt x="20676" y="321520"/>
                  </a:lnTo>
                  <a:lnTo>
                    <a:pt x="36123" y="279680"/>
                  </a:lnTo>
                  <a:lnTo>
                    <a:pt x="55450" y="239817"/>
                  </a:lnTo>
                  <a:lnTo>
                    <a:pt x="78419" y="202169"/>
                  </a:lnTo>
                  <a:lnTo>
                    <a:pt x="104792" y="166976"/>
                  </a:lnTo>
                  <a:lnTo>
                    <a:pt x="134331" y="134474"/>
                  </a:lnTo>
                  <a:lnTo>
                    <a:pt x="166797" y="104904"/>
                  </a:lnTo>
                  <a:lnTo>
                    <a:pt x="201953" y="78503"/>
                  </a:lnTo>
                  <a:lnTo>
                    <a:pt x="239561" y="55509"/>
                  </a:lnTo>
                  <a:lnTo>
                    <a:pt x="279381" y="36161"/>
                  </a:lnTo>
                  <a:lnTo>
                    <a:pt x="321177" y="20698"/>
                  </a:lnTo>
                  <a:lnTo>
                    <a:pt x="364709" y="9358"/>
                  </a:lnTo>
                  <a:lnTo>
                    <a:pt x="409740" y="2379"/>
                  </a:lnTo>
                  <a:lnTo>
                    <a:pt x="456032" y="0"/>
                  </a:lnTo>
                  <a:lnTo>
                    <a:pt x="1675342" y="0"/>
                  </a:lnTo>
                  <a:lnTo>
                    <a:pt x="1721634" y="2379"/>
                  </a:lnTo>
                  <a:lnTo>
                    <a:pt x="1766665" y="9358"/>
                  </a:lnTo>
                  <a:lnTo>
                    <a:pt x="1810197" y="20698"/>
                  </a:lnTo>
                  <a:lnTo>
                    <a:pt x="1851993" y="36161"/>
                  </a:lnTo>
                  <a:lnTo>
                    <a:pt x="1891813" y="55509"/>
                  </a:lnTo>
                  <a:lnTo>
                    <a:pt x="1929421" y="78503"/>
                  </a:lnTo>
                  <a:lnTo>
                    <a:pt x="1964577" y="104904"/>
                  </a:lnTo>
                  <a:lnTo>
                    <a:pt x="1997043" y="134474"/>
                  </a:lnTo>
                  <a:lnTo>
                    <a:pt x="2026582" y="166976"/>
                  </a:lnTo>
                  <a:lnTo>
                    <a:pt x="2052955" y="202169"/>
                  </a:lnTo>
                  <a:lnTo>
                    <a:pt x="2075924" y="239817"/>
                  </a:lnTo>
                  <a:lnTo>
                    <a:pt x="2095251" y="279680"/>
                  </a:lnTo>
                  <a:lnTo>
                    <a:pt x="2110698" y="321520"/>
                  </a:lnTo>
                  <a:lnTo>
                    <a:pt x="2122026" y="365099"/>
                  </a:lnTo>
                  <a:lnTo>
                    <a:pt x="2128997" y="410179"/>
                  </a:lnTo>
                  <a:lnTo>
                    <a:pt x="2131374" y="456520"/>
                  </a:lnTo>
                  <a:lnTo>
                    <a:pt x="2131374" y="4577111"/>
                  </a:lnTo>
                  <a:lnTo>
                    <a:pt x="2128997" y="4623452"/>
                  </a:lnTo>
                  <a:lnTo>
                    <a:pt x="2122026" y="4668532"/>
                  </a:lnTo>
                  <a:lnTo>
                    <a:pt x="2110698" y="4712111"/>
                  </a:lnTo>
                  <a:lnTo>
                    <a:pt x="2095251" y="4753951"/>
                  </a:lnTo>
                  <a:lnTo>
                    <a:pt x="2075924" y="4793814"/>
                  </a:lnTo>
                  <a:lnTo>
                    <a:pt x="2052955" y="4831462"/>
                  </a:lnTo>
                  <a:lnTo>
                    <a:pt x="2026582" y="4866655"/>
                  </a:lnTo>
                  <a:lnTo>
                    <a:pt x="1997043" y="4899157"/>
                  </a:lnTo>
                  <a:lnTo>
                    <a:pt x="1964577" y="4928727"/>
                  </a:lnTo>
                  <a:lnTo>
                    <a:pt x="1929421" y="4955128"/>
                  </a:lnTo>
                  <a:lnTo>
                    <a:pt x="1891813" y="4978122"/>
                  </a:lnTo>
                  <a:lnTo>
                    <a:pt x="1851993" y="4997470"/>
                  </a:lnTo>
                  <a:lnTo>
                    <a:pt x="1810197" y="5012933"/>
                  </a:lnTo>
                  <a:lnTo>
                    <a:pt x="1766665" y="5024273"/>
                  </a:lnTo>
                  <a:lnTo>
                    <a:pt x="1721634" y="5031252"/>
                  </a:lnTo>
                  <a:lnTo>
                    <a:pt x="1675342" y="5033632"/>
                  </a:lnTo>
                  <a:close/>
                </a:path>
              </a:pathLst>
            </a:custGeom>
            <a:solidFill>
              <a:srgbClr val="415343">
                <a:alpha val="5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3801" y="2414398"/>
              <a:ext cx="2333625" cy="5248275"/>
            </a:xfrm>
            <a:custGeom>
              <a:avLst/>
              <a:gdLst/>
              <a:ahLst/>
              <a:cxnLst/>
              <a:rect l="l" t="t" r="r" b="b"/>
              <a:pathLst>
                <a:path w="2333625" h="5248275">
                  <a:moveTo>
                    <a:pt x="1837927" y="5247998"/>
                  </a:moveTo>
                  <a:lnTo>
                    <a:pt x="597243" y="5247998"/>
                  </a:lnTo>
                  <a:lnTo>
                    <a:pt x="550258" y="5245191"/>
                  </a:lnTo>
                  <a:lnTo>
                    <a:pt x="503809" y="5236978"/>
                  </a:lnTo>
                  <a:lnTo>
                    <a:pt x="458285" y="5223667"/>
                  </a:lnTo>
                  <a:lnTo>
                    <a:pt x="414076" y="5205569"/>
                  </a:lnTo>
                  <a:lnTo>
                    <a:pt x="371571" y="5182993"/>
                  </a:lnTo>
                  <a:lnTo>
                    <a:pt x="331162" y="5156249"/>
                  </a:lnTo>
                  <a:lnTo>
                    <a:pt x="293238" y="5125646"/>
                  </a:lnTo>
                  <a:lnTo>
                    <a:pt x="258188" y="5091495"/>
                  </a:lnTo>
                  <a:lnTo>
                    <a:pt x="226404" y="5054104"/>
                  </a:lnTo>
                  <a:lnTo>
                    <a:pt x="198274" y="5013783"/>
                  </a:lnTo>
                  <a:lnTo>
                    <a:pt x="160142" y="4981480"/>
                  </a:lnTo>
                  <a:lnTo>
                    <a:pt x="125274" y="4945617"/>
                  </a:lnTo>
                  <a:lnTo>
                    <a:pt x="93932" y="4906353"/>
                  </a:lnTo>
                  <a:lnTo>
                    <a:pt x="66635" y="4864251"/>
                  </a:lnTo>
                  <a:lnTo>
                    <a:pt x="43517" y="4819271"/>
                  </a:lnTo>
                  <a:lnTo>
                    <a:pt x="24967" y="4771776"/>
                  </a:lnTo>
                  <a:lnTo>
                    <a:pt x="11314" y="4722026"/>
                  </a:lnTo>
                  <a:lnTo>
                    <a:pt x="2883" y="4670283"/>
                  </a:lnTo>
                  <a:lnTo>
                    <a:pt x="0" y="4616809"/>
                  </a:lnTo>
                  <a:lnTo>
                    <a:pt x="0" y="496217"/>
                  </a:lnTo>
                  <a:lnTo>
                    <a:pt x="2202" y="449876"/>
                  </a:lnTo>
                  <a:lnTo>
                    <a:pt x="2270" y="448450"/>
                  </a:lnTo>
                  <a:lnTo>
                    <a:pt x="8943" y="401963"/>
                  </a:lnTo>
                  <a:lnTo>
                    <a:pt x="19809" y="356964"/>
                  </a:lnTo>
                  <a:lnTo>
                    <a:pt x="34661" y="313662"/>
                  </a:lnTo>
                  <a:lnTo>
                    <a:pt x="53291" y="272266"/>
                  </a:lnTo>
                  <a:lnTo>
                    <a:pt x="75490" y="232983"/>
                  </a:lnTo>
                  <a:lnTo>
                    <a:pt x="101050" y="196022"/>
                  </a:lnTo>
                  <a:lnTo>
                    <a:pt x="129762" y="161592"/>
                  </a:lnTo>
                  <a:lnTo>
                    <a:pt x="161419" y="129901"/>
                  </a:lnTo>
                  <a:lnTo>
                    <a:pt x="195812" y="101158"/>
                  </a:lnTo>
                  <a:lnTo>
                    <a:pt x="232734" y="75571"/>
                  </a:lnTo>
                  <a:lnTo>
                    <a:pt x="271975" y="53348"/>
                  </a:lnTo>
                  <a:lnTo>
                    <a:pt x="313327" y="34699"/>
                  </a:lnTo>
                  <a:lnTo>
                    <a:pt x="356583" y="19830"/>
                  </a:lnTo>
                  <a:lnTo>
                    <a:pt x="401533" y="8952"/>
                  </a:lnTo>
                  <a:lnTo>
                    <a:pt x="447971" y="2272"/>
                  </a:lnTo>
                  <a:lnTo>
                    <a:pt x="495686" y="0"/>
                  </a:lnTo>
                  <a:lnTo>
                    <a:pt x="1714997" y="0"/>
                  </a:lnTo>
                  <a:lnTo>
                    <a:pt x="1767774" y="2806"/>
                  </a:lnTo>
                  <a:lnTo>
                    <a:pt x="1818861" y="11020"/>
                  </a:lnTo>
                  <a:lnTo>
                    <a:pt x="1867998" y="24330"/>
                  </a:lnTo>
                  <a:lnTo>
                    <a:pt x="1907840" y="39697"/>
                  </a:lnTo>
                  <a:lnTo>
                    <a:pt x="495686" y="39697"/>
                  </a:lnTo>
                  <a:lnTo>
                    <a:pt x="449395" y="42076"/>
                  </a:lnTo>
                  <a:lnTo>
                    <a:pt x="404364" y="49055"/>
                  </a:lnTo>
                  <a:lnTo>
                    <a:pt x="360832" y="60396"/>
                  </a:lnTo>
                  <a:lnTo>
                    <a:pt x="319036" y="75859"/>
                  </a:lnTo>
                  <a:lnTo>
                    <a:pt x="279216" y="95206"/>
                  </a:lnTo>
                  <a:lnTo>
                    <a:pt x="241608" y="118200"/>
                  </a:lnTo>
                  <a:lnTo>
                    <a:pt x="206452" y="144601"/>
                  </a:lnTo>
                  <a:lnTo>
                    <a:pt x="173986" y="174172"/>
                  </a:lnTo>
                  <a:lnTo>
                    <a:pt x="144447" y="206673"/>
                  </a:lnTo>
                  <a:lnTo>
                    <a:pt x="118074" y="241867"/>
                  </a:lnTo>
                  <a:lnTo>
                    <a:pt x="95105" y="279514"/>
                  </a:lnTo>
                  <a:lnTo>
                    <a:pt x="75778" y="319378"/>
                  </a:lnTo>
                  <a:lnTo>
                    <a:pt x="60331" y="361218"/>
                  </a:lnTo>
                  <a:lnTo>
                    <a:pt x="49003" y="404797"/>
                  </a:lnTo>
                  <a:lnTo>
                    <a:pt x="42031" y="449876"/>
                  </a:lnTo>
                  <a:lnTo>
                    <a:pt x="39654" y="496217"/>
                  </a:lnTo>
                  <a:lnTo>
                    <a:pt x="39654" y="4616809"/>
                  </a:lnTo>
                  <a:lnTo>
                    <a:pt x="41998" y="4663150"/>
                  </a:lnTo>
                  <a:lnTo>
                    <a:pt x="42031" y="4663804"/>
                  </a:lnTo>
                  <a:lnTo>
                    <a:pt x="49003" y="4709369"/>
                  </a:lnTo>
                  <a:lnTo>
                    <a:pt x="60331" y="4753282"/>
                  </a:lnTo>
                  <a:lnTo>
                    <a:pt x="75778" y="4795323"/>
                  </a:lnTo>
                  <a:lnTo>
                    <a:pt x="95105" y="4835271"/>
                  </a:lnTo>
                  <a:lnTo>
                    <a:pt x="118074" y="4872904"/>
                  </a:lnTo>
                  <a:lnTo>
                    <a:pt x="144447" y="4908001"/>
                  </a:lnTo>
                  <a:lnTo>
                    <a:pt x="173986" y="4940343"/>
                  </a:lnTo>
                  <a:lnTo>
                    <a:pt x="206452" y="4969707"/>
                  </a:lnTo>
                  <a:lnTo>
                    <a:pt x="241608" y="4995873"/>
                  </a:lnTo>
                  <a:lnTo>
                    <a:pt x="279216" y="5018619"/>
                  </a:lnTo>
                  <a:lnTo>
                    <a:pt x="319036" y="5037725"/>
                  </a:lnTo>
                  <a:lnTo>
                    <a:pt x="360832" y="5052971"/>
                  </a:lnTo>
                  <a:lnTo>
                    <a:pt x="404364" y="5064133"/>
                  </a:lnTo>
                  <a:lnTo>
                    <a:pt x="438668" y="5069359"/>
                  </a:lnTo>
                  <a:lnTo>
                    <a:pt x="293446" y="5069359"/>
                  </a:lnTo>
                  <a:lnTo>
                    <a:pt x="330958" y="5104555"/>
                  </a:lnTo>
                  <a:lnTo>
                    <a:pt x="371633" y="5135097"/>
                  </a:lnTo>
                  <a:lnTo>
                    <a:pt x="414752" y="5160710"/>
                  </a:lnTo>
                  <a:lnTo>
                    <a:pt x="459593" y="5181114"/>
                  </a:lnTo>
                  <a:lnTo>
                    <a:pt x="505435" y="5196032"/>
                  </a:lnTo>
                  <a:lnTo>
                    <a:pt x="551559" y="5205187"/>
                  </a:lnTo>
                  <a:lnTo>
                    <a:pt x="597243" y="5208300"/>
                  </a:lnTo>
                  <a:lnTo>
                    <a:pt x="2031370" y="5208300"/>
                  </a:lnTo>
                  <a:lnTo>
                    <a:pt x="2020287" y="5213299"/>
                  </a:lnTo>
                  <a:lnTo>
                    <a:pt x="1977031" y="5228167"/>
                  </a:lnTo>
                  <a:lnTo>
                    <a:pt x="1932081" y="5239045"/>
                  </a:lnTo>
                  <a:lnTo>
                    <a:pt x="1885643" y="5245725"/>
                  </a:lnTo>
                  <a:lnTo>
                    <a:pt x="1837927" y="5247998"/>
                  </a:lnTo>
                  <a:close/>
                </a:path>
                <a:path w="2333625" h="5248275">
                  <a:moveTo>
                    <a:pt x="1912405" y="5073329"/>
                  </a:moveTo>
                  <a:lnTo>
                    <a:pt x="1714997" y="5073329"/>
                  </a:lnTo>
                  <a:lnTo>
                    <a:pt x="1761289" y="5070950"/>
                  </a:lnTo>
                  <a:lnTo>
                    <a:pt x="1806320" y="5063971"/>
                  </a:lnTo>
                  <a:lnTo>
                    <a:pt x="1849852" y="5052630"/>
                  </a:lnTo>
                  <a:lnTo>
                    <a:pt x="1891648" y="5037167"/>
                  </a:lnTo>
                  <a:lnTo>
                    <a:pt x="1931468" y="5017819"/>
                  </a:lnTo>
                  <a:lnTo>
                    <a:pt x="1969075" y="4994826"/>
                  </a:lnTo>
                  <a:lnTo>
                    <a:pt x="2004231" y="4968425"/>
                  </a:lnTo>
                  <a:lnTo>
                    <a:pt x="2036698" y="4938854"/>
                  </a:lnTo>
                  <a:lnTo>
                    <a:pt x="2066237" y="4906353"/>
                  </a:lnTo>
                  <a:lnTo>
                    <a:pt x="2092610" y="4871159"/>
                  </a:lnTo>
                  <a:lnTo>
                    <a:pt x="2115579" y="4833511"/>
                  </a:lnTo>
                  <a:lnTo>
                    <a:pt x="2134906" y="4793648"/>
                  </a:lnTo>
                  <a:lnTo>
                    <a:pt x="2150360" y="4751780"/>
                  </a:lnTo>
                  <a:lnTo>
                    <a:pt x="2161681" y="4708229"/>
                  </a:lnTo>
                  <a:lnTo>
                    <a:pt x="2168432" y="4664576"/>
                  </a:lnTo>
                  <a:lnTo>
                    <a:pt x="2168551" y="4663804"/>
                  </a:lnTo>
                  <a:lnTo>
                    <a:pt x="2168652" y="4663150"/>
                  </a:lnTo>
                  <a:lnTo>
                    <a:pt x="2171029" y="4616809"/>
                  </a:lnTo>
                  <a:lnTo>
                    <a:pt x="2171029" y="496217"/>
                  </a:lnTo>
                  <a:lnTo>
                    <a:pt x="2168652" y="449876"/>
                  </a:lnTo>
                  <a:lnTo>
                    <a:pt x="2161681" y="404797"/>
                  </a:lnTo>
                  <a:lnTo>
                    <a:pt x="2150353" y="361218"/>
                  </a:lnTo>
                  <a:lnTo>
                    <a:pt x="2134906" y="319378"/>
                  </a:lnTo>
                  <a:lnTo>
                    <a:pt x="2115579" y="279514"/>
                  </a:lnTo>
                  <a:lnTo>
                    <a:pt x="2092610" y="241867"/>
                  </a:lnTo>
                  <a:lnTo>
                    <a:pt x="2066237" y="206673"/>
                  </a:lnTo>
                  <a:lnTo>
                    <a:pt x="2036698" y="174172"/>
                  </a:lnTo>
                  <a:lnTo>
                    <a:pt x="2004231" y="144601"/>
                  </a:lnTo>
                  <a:lnTo>
                    <a:pt x="1969075" y="118200"/>
                  </a:lnTo>
                  <a:lnTo>
                    <a:pt x="1931468" y="95206"/>
                  </a:lnTo>
                  <a:lnTo>
                    <a:pt x="1891648" y="75859"/>
                  </a:lnTo>
                  <a:lnTo>
                    <a:pt x="1849852" y="60396"/>
                  </a:lnTo>
                  <a:lnTo>
                    <a:pt x="1806320" y="49055"/>
                  </a:lnTo>
                  <a:lnTo>
                    <a:pt x="1761289" y="42076"/>
                  </a:lnTo>
                  <a:lnTo>
                    <a:pt x="1714997" y="39697"/>
                  </a:lnTo>
                  <a:lnTo>
                    <a:pt x="1907840" y="39697"/>
                  </a:lnTo>
                  <a:lnTo>
                    <a:pt x="1959371" y="65004"/>
                  </a:lnTo>
                  <a:lnTo>
                    <a:pt x="2001084" y="91748"/>
                  </a:lnTo>
                  <a:lnTo>
                    <a:pt x="2039799" y="122351"/>
                  </a:lnTo>
                  <a:lnTo>
                    <a:pt x="2075254" y="156503"/>
                  </a:lnTo>
                  <a:lnTo>
                    <a:pt x="2107189" y="193894"/>
                  </a:lnTo>
                  <a:lnTo>
                    <a:pt x="2135340" y="234214"/>
                  </a:lnTo>
                  <a:lnTo>
                    <a:pt x="2173472" y="266517"/>
                  </a:lnTo>
                  <a:lnTo>
                    <a:pt x="2208340" y="302381"/>
                  </a:lnTo>
                  <a:lnTo>
                    <a:pt x="2233159" y="333458"/>
                  </a:lnTo>
                  <a:lnTo>
                    <a:pt x="2186891" y="333458"/>
                  </a:lnTo>
                  <a:lnTo>
                    <a:pt x="2197920" y="372845"/>
                  </a:lnTo>
                  <a:lnTo>
                    <a:pt x="2206719" y="413349"/>
                  </a:lnTo>
                  <a:lnTo>
                    <a:pt x="2212543" y="454597"/>
                  </a:lnTo>
                  <a:lnTo>
                    <a:pt x="2214650" y="496217"/>
                  </a:lnTo>
                  <a:lnTo>
                    <a:pt x="2214650" y="4616809"/>
                  </a:lnTo>
                  <a:lnTo>
                    <a:pt x="2212447" y="4663150"/>
                  </a:lnTo>
                  <a:lnTo>
                    <a:pt x="2205706" y="4711063"/>
                  </a:lnTo>
                  <a:lnTo>
                    <a:pt x="2194840" y="4756062"/>
                  </a:lnTo>
                  <a:lnTo>
                    <a:pt x="2179988" y="4799364"/>
                  </a:lnTo>
                  <a:lnTo>
                    <a:pt x="2161358" y="4840760"/>
                  </a:lnTo>
                  <a:lnTo>
                    <a:pt x="2139159" y="4880043"/>
                  </a:lnTo>
                  <a:lnTo>
                    <a:pt x="2113599" y="4917004"/>
                  </a:lnTo>
                  <a:lnTo>
                    <a:pt x="2084887" y="4951434"/>
                  </a:lnTo>
                  <a:lnTo>
                    <a:pt x="2053230" y="4983125"/>
                  </a:lnTo>
                  <a:lnTo>
                    <a:pt x="2018837" y="5011868"/>
                  </a:lnTo>
                  <a:lnTo>
                    <a:pt x="1981915" y="5037455"/>
                  </a:lnTo>
                  <a:lnTo>
                    <a:pt x="1942675" y="5059678"/>
                  </a:lnTo>
                  <a:lnTo>
                    <a:pt x="1912405" y="5073329"/>
                  </a:lnTo>
                  <a:close/>
                </a:path>
                <a:path w="2333625" h="5248275">
                  <a:moveTo>
                    <a:pt x="2031370" y="5208300"/>
                  </a:moveTo>
                  <a:lnTo>
                    <a:pt x="1837927" y="5208300"/>
                  </a:lnTo>
                  <a:lnTo>
                    <a:pt x="1884264" y="5205921"/>
                  </a:lnTo>
                  <a:lnTo>
                    <a:pt x="1929420" y="5198942"/>
                  </a:lnTo>
                  <a:lnTo>
                    <a:pt x="1973148" y="5187602"/>
                  </a:lnTo>
                  <a:lnTo>
                    <a:pt x="2015198" y="5172138"/>
                  </a:lnTo>
                  <a:lnTo>
                    <a:pt x="2055318" y="5152791"/>
                  </a:lnTo>
                  <a:lnTo>
                    <a:pt x="2093260" y="5129797"/>
                  </a:lnTo>
                  <a:lnTo>
                    <a:pt x="2128775" y="5103396"/>
                  </a:lnTo>
                  <a:lnTo>
                    <a:pt x="2161611" y="5073825"/>
                  </a:lnTo>
                  <a:lnTo>
                    <a:pt x="2191520" y="5041324"/>
                  </a:lnTo>
                  <a:lnTo>
                    <a:pt x="2218251" y="5006130"/>
                  </a:lnTo>
                  <a:lnTo>
                    <a:pt x="2241584" y="4968425"/>
                  </a:lnTo>
                  <a:lnTo>
                    <a:pt x="2261182" y="4928620"/>
                  </a:lnTo>
                  <a:lnTo>
                    <a:pt x="2276882" y="4886779"/>
                  </a:lnTo>
                  <a:lnTo>
                    <a:pt x="2288406" y="4843200"/>
                  </a:lnTo>
                  <a:lnTo>
                    <a:pt x="2295504" y="4798121"/>
                  </a:lnTo>
                  <a:lnTo>
                    <a:pt x="2297846" y="4753282"/>
                  </a:lnTo>
                  <a:lnTo>
                    <a:pt x="2297925" y="631188"/>
                  </a:lnTo>
                  <a:lnTo>
                    <a:pt x="2295312" y="582614"/>
                  </a:lnTo>
                  <a:lnTo>
                    <a:pt x="2287705" y="535706"/>
                  </a:lnTo>
                  <a:lnTo>
                    <a:pt x="2275450" y="490673"/>
                  </a:lnTo>
                  <a:lnTo>
                    <a:pt x="2258894" y="447724"/>
                  </a:lnTo>
                  <a:lnTo>
                    <a:pt x="2238385" y="407066"/>
                  </a:lnTo>
                  <a:lnTo>
                    <a:pt x="2214268" y="368908"/>
                  </a:lnTo>
                  <a:lnTo>
                    <a:pt x="2186891" y="333458"/>
                  </a:lnTo>
                  <a:lnTo>
                    <a:pt x="2233159" y="333458"/>
                  </a:lnTo>
                  <a:lnTo>
                    <a:pt x="2266979" y="383747"/>
                  </a:lnTo>
                  <a:lnTo>
                    <a:pt x="2290097" y="428726"/>
                  </a:lnTo>
                  <a:lnTo>
                    <a:pt x="2308647" y="476221"/>
                  </a:lnTo>
                  <a:lnTo>
                    <a:pt x="2322300" y="525971"/>
                  </a:lnTo>
                  <a:lnTo>
                    <a:pt x="2330731" y="577714"/>
                  </a:lnTo>
                  <a:lnTo>
                    <a:pt x="2333614" y="631188"/>
                  </a:lnTo>
                  <a:lnTo>
                    <a:pt x="2333543" y="4753282"/>
                  </a:lnTo>
                  <a:lnTo>
                    <a:pt x="2331412" y="4798121"/>
                  </a:lnTo>
                  <a:lnTo>
                    <a:pt x="2331344" y="4799547"/>
                  </a:lnTo>
                  <a:lnTo>
                    <a:pt x="2324671" y="4846034"/>
                  </a:lnTo>
                  <a:lnTo>
                    <a:pt x="2313805" y="4891033"/>
                  </a:lnTo>
                  <a:lnTo>
                    <a:pt x="2298952" y="4934335"/>
                  </a:lnTo>
                  <a:lnTo>
                    <a:pt x="2280323" y="4975731"/>
                  </a:lnTo>
                  <a:lnTo>
                    <a:pt x="2258124" y="5015014"/>
                  </a:lnTo>
                  <a:lnTo>
                    <a:pt x="2232564" y="5051975"/>
                  </a:lnTo>
                  <a:lnTo>
                    <a:pt x="2203852" y="5086405"/>
                  </a:lnTo>
                  <a:lnTo>
                    <a:pt x="2172195" y="5118096"/>
                  </a:lnTo>
                  <a:lnTo>
                    <a:pt x="2137801" y="5146839"/>
                  </a:lnTo>
                  <a:lnTo>
                    <a:pt x="2100880" y="5172426"/>
                  </a:lnTo>
                  <a:lnTo>
                    <a:pt x="2061639" y="5194649"/>
                  </a:lnTo>
                  <a:lnTo>
                    <a:pt x="2031370" y="5208300"/>
                  </a:lnTo>
                  <a:close/>
                </a:path>
                <a:path w="2333625" h="5248275">
                  <a:moveTo>
                    <a:pt x="1718963" y="5113026"/>
                  </a:moveTo>
                  <a:lnTo>
                    <a:pt x="499652" y="5113026"/>
                  </a:lnTo>
                  <a:lnTo>
                    <a:pt x="444569" y="5110111"/>
                  </a:lnTo>
                  <a:lnTo>
                    <a:pt x="392088" y="5101613"/>
                  </a:lnTo>
                  <a:lnTo>
                    <a:pt x="341838" y="5087905"/>
                  </a:lnTo>
                  <a:lnTo>
                    <a:pt x="293446" y="5069359"/>
                  </a:lnTo>
                  <a:lnTo>
                    <a:pt x="438668" y="5069359"/>
                  </a:lnTo>
                  <a:lnTo>
                    <a:pt x="449109" y="5070950"/>
                  </a:lnTo>
                  <a:lnTo>
                    <a:pt x="448531" y="5070950"/>
                  </a:lnTo>
                  <a:lnTo>
                    <a:pt x="495686" y="5073329"/>
                  </a:lnTo>
                  <a:lnTo>
                    <a:pt x="1912405" y="5073329"/>
                  </a:lnTo>
                  <a:lnTo>
                    <a:pt x="1901322" y="5078327"/>
                  </a:lnTo>
                  <a:lnTo>
                    <a:pt x="1858067" y="5093195"/>
                  </a:lnTo>
                  <a:lnTo>
                    <a:pt x="1813116" y="5104074"/>
                  </a:lnTo>
                  <a:lnTo>
                    <a:pt x="1766678" y="5110753"/>
                  </a:lnTo>
                  <a:lnTo>
                    <a:pt x="1718963" y="5113026"/>
                  </a:lnTo>
                  <a:close/>
                </a:path>
              </a:pathLst>
            </a:custGeom>
            <a:solidFill>
              <a:srgbClr val="E9E8E3">
                <a:alpha val="5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9057" y="2657134"/>
            <a:ext cx="199453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90170" algn="ctr">
              <a:lnSpc>
                <a:spcPct val="115399"/>
              </a:lnSpc>
              <a:spcBef>
                <a:spcPts val="100"/>
              </a:spcBef>
            </a:pPr>
            <a:r>
              <a:rPr sz="2600" spc="-45" dirty="0">
                <a:solidFill>
                  <a:srgbClr val="E9E8E3"/>
                </a:solidFill>
                <a:latin typeface="Verdana"/>
                <a:cs typeface="Verdana"/>
              </a:rPr>
              <a:t>Création</a:t>
            </a:r>
            <a:r>
              <a:rPr sz="2600" spc="-170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600" spc="-25" dirty="0">
                <a:solidFill>
                  <a:srgbClr val="E9E8E3"/>
                </a:solidFill>
                <a:latin typeface="Verdana"/>
                <a:cs typeface="Verdana"/>
              </a:rPr>
              <a:t>de </a:t>
            </a:r>
            <a:r>
              <a:rPr sz="2600" spc="-35" dirty="0">
                <a:solidFill>
                  <a:srgbClr val="E9E8E3"/>
                </a:solidFill>
                <a:latin typeface="Verdana"/>
                <a:cs typeface="Verdana"/>
              </a:rPr>
              <a:t>la</a:t>
            </a:r>
            <a:r>
              <a:rPr sz="2600" spc="-190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600" spc="-10" dirty="0">
                <a:solidFill>
                  <a:srgbClr val="E9E8E3"/>
                </a:solidFill>
                <a:latin typeface="Verdana"/>
                <a:cs typeface="Verdana"/>
              </a:rPr>
              <a:t>variable </a:t>
            </a:r>
            <a:r>
              <a:rPr sz="2600" spc="-70" dirty="0">
                <a:solidFill>
                  <a:srgbClr val="E9E8E3"/>
                </a:solidFill>
                <a:latin typeface="Verdana"/>
                <a:cs typeface="Verdana"/>
              </a:rPr>
              <a:t>Building</a:t>
            </a:r>
            <a:r>
              <a:rPr sz="2600" spc="-155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600" spc="-25" dirty="0">
                <a:solidFill>
                  <a:srgbClr val="E9E8E3"/>
                </a:solidFill>
                <a:latin typeface="Verdana"/>
                <a:cs typeface="Verdana"/>
              </a:rPr>
              <a:t>age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9055" y="6023269"/>
            <a:ext cx="1958339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sz="2000" spc="-25" dirty="0">
                <a:solidFill>
                  <a:srgbClr val="E9E8E3"/>
                </a:solidFill>
                <a:latin typeface="Verdana"/>
                <a:cs typeface="Verdana"/>
              </a:rPr>
              <a:t>Suppression</a:t>
            </a:r>
            <a:r>
              <a:rPr sz="2000" spc="-120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E9E8E3"/>
                </a:solidFill>
                <a:latin typeface="Verdana"/>
                <a:cs typeface="Verdana"/>
              </a:rPr>
              <a:t>de </a:t>
            </a:r>
            <a:r>
              <a:rPr sz="2000" spc="-45" dirty="0">
                <a:solidFill>
                  <a:srgbClr val="E9E8E3"/>
                </a:solidFill>
                <a:latin typeface="Verdana"/>
                <a:cs typeface="Verdana"/>
              </a:rPr>
              <a:t>deux</a:t>
            </a:r>
            <a:r>
              <a:rPr sz="2000" spc="-114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E9E8E3"/>
                </a:solidFill>
                <a:latin typeface="Verdana"/>
                <a:cs typeface="Verdana"/>
              </a:rPr>
              <a:t>variables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-55713" y="89214"/>
            <a:ext cx="18399427" cy="1298463"/>
          </a:xfrm>
          <a:prstGeom prst="rect">
            <a:avLst/>
          </a:prstGeom>
        </p:spPr>
        <p:txBody>
          <a:bodyPr vert="horz" wrap="square" lIns="0" tIns="493425" rIns="0" bIns="0" rtlCol="0">
            <a:spAutoFit/>
          </a:bodyPr>
          <a:lstStyle/>
          <a:p>
            <a:pPr marL="1198880">
              <a:lnSpc>
                <a:spcPct val="100000"/>
              </a:lnSpc>
              <a:spcBef>
                <a:spcPts val="100"/>
              </a:spcBef>
            </a:pPr>
            <a:r>
              <a:rPr spc="-155" dirty="0">
                <a:solidFill>
                  <a:srgbClr val="FFFFFF"/>
                </a:solidFill>
              </a:rPr>
              <a:t>Feature</a:t>
            </a:r>
            <a:r>
              <a:rPr spc="-360" dirty="0">
                <a:solidFill>
                  <a:srgbClr val="FFFFFF"/>
                </a:solidFill>
              </a:rPr>
              <a:t> </a:t>
            </a:r>
            <a:r>
              <a:rPr spc="-185" dirty="0">
                <a:solidFill>
                  <a:srgbClr val="FFFFFF"/>
                </a:solidFill>
              </a:rPr>
              <a:t>engineering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8190710" y="2414260"/>
            <a:ext cx="2505075" cy="5248275"/>
            <a:chOff x="8190710" y="2414260"/>
            <a:chExt cx="2505075" cy="5248275"/>
          </a:xfrm>
        </p:grpSpPr>
        <p:sp>
          <p:nvSpPr>
            <p:cNvPr id="12" name="object 12"/>
            <p:cNvSpPr/>
            <p:nvPr/>
          </p:nvSpPr>
          <p:spPr>
            <a:xfrm>
              <a:off x="8480254" y="2747736"/>
              <a:ext cx="2179955" cy="4875530"/>
            </a:xfrm>
            <a:custGeom>
              <a:avLst/>
              <a:gdLst/>
              <a:ahLst/>
              <a:cxnLst/>
              <a:rect l="l" t="t" r="r" b="b"/>
              <a:pathLst>
                <a:path w="2179954" h="4875530">
                  <a:moveTo>
                    <a:pt x="1723703" y="4875100"/>
                  </a:moveTo>
                  <a:lnTo>
                    <a:pt x="307869" y="4875100"/>
                  </a:lnTo>
                  <a:lnTo>
                    <a:pt x="260692" y="4871986"/>
                  </a:lnTo>
                  <a:lnTo>
                    <a:pt x="213495" y="4862831"/>
                  </a:lnTo>
                  <a:lnTo>
                    <a:pt x="166930" y="4847912"/>
                  </a:lnTo>
                  <a:lnTo>
                    <a:pt x="121647" y="4827507"/>
                  </a:lnTo>
                  <a:lnTo>
                    <a:pt x="78297" y="4801893"/>
                  </a:lnTo>
                  <a:lnTo>
                    <a:pt x="37531" y="4771349"/>
                  </a:lnTo>
                  <a:lnTo>
                    <a:pt x="0" y="4736152"/>
                  </a:lnTo>
                  <a:lnTo>
                    <a:pt x="48959" y="4754699"/>
                  </a:lnTo>
                  <a:lnTo>
                    <a:pt x="100150" y="4768407"/>
                  </a:lnTo>
                  <a:lnTo>
                    <a:pt x="152829" y="4776906"/>
                  </a:lnTo>
                  <a:lnTo>
                    <a:pt x="206251" y="4779821"/>
                  </a:lnTo>
                  <a:lnTo>
                    <a:pt x="1604712" y="4779821"/>
                  </a:lnTo>
                  <a:lnTo>
                    <a:pt x="1649299" y="4777548"/>
                  </a:lnTo>
                  <a:lnTo>
                    <a:pt x="1693285" y="4770868"/>
                  </a:lnTo>
                  <a:lnTo>
                    <a:pt x="1736399" y="4759989"/>
                  </a:lnTo>
                  <a:lnTo>
                    <a:pt x="1778370" y="4745120"/>
                  </a:lnTo>
                  <a:lnTo>
                    <a:pt x="1818927" y="4726470"/>
                  </a:lnTo>
                  <a:lnTo>
                    <a:pt x="1857798" y="4704246"/>
                  </a:lnTo>
                  <a:lnTo>
                    <a:pt x="1894711" y="4678657"/>
                  </a:lnTo>
                  <a:lnTo>
                    <a:pt x="1929397" y="4649912"/>
                  </a:lnTo>
                  <a:lnTo>
                    <a:pt x="1961583" y="4618220"/>
                  </a:lnTo>
                  <a:lnTo>
                    <a:pt x="1990999" y="4583788"/>
                  </a:lnTo>
                  <a:lnTo>
                    <a:pt x="2017373" y="4546825"/>
                  </a:lnTo>
                  <a:lnTo>
                    <a:pt x="2040433" y="4507540"/>
                  </a:lnTo>
                  <a:lnTo>
                    <a:pt x="2059909" y="4466142"/>
                  </a:lnTo>
                  <a:lnTo>
                    <a:pt x="2075529" y="4422837"/>
                  </a:lnTo>
                  <a:lnTo>
                    <a:pt x="2087022" y="4377836"/>
                  </a:lnTo>
                  <a:lnTo>
                    <a:pt x="2094116" y="4331347"/>
                  </a:lnTo>
                  <a:lnTo>
                    <a:pt x="2096542" y="4283577"/>
                  </a:lnTo>
                  <a:lnTo>
                    <a:pt x="2096542" y="162768"/>
                  </a:lnTo>
                  <a:lnTo>
                    <a:pt x="2094992" y="121145"/>
                  </a:lnTo>
                  <a:lnTo>
                    <a:pt x="2090096" y="79895"/>
                  </a:lnTo>
                  <a:lnTo>
                    <a:pt x="2081482" y="39389"/>
                  </a:lnTo>
                  <a:lnTo>
                    <a:pt x="2068777" y="0"/>
                  </a:lnTo>
                  <a:lnTo>
                    <a:pt x="2096160" y="35451"/>
                  </a:lnTo>
                  <a:lnTo>
                    <a:pt x="2120282" y="73611"/>
                  </a:lnTo>
                  <a:lnTo>
                    <a:pt x="2140796" y="114272"/>
                  </a:lnTo>
                  <a:lnTo>
                    <a:pt x="2157355" y="157223"/>
                  </a:lnTo>
                  <a:lnTo>
                    <a:pt x="2169613" y="202259"/>
                  </a:lnTo>
                  <a:lnTo>
                    <a:pt x="2177222" y="249169"/>
                  </a:lnTo>
                  <a:lnTo>
                    <a:pt x="2179835" y="297746"/>
                  </a:lnTo>
                  <a:lnTo>
                    <a:pt x="2179835" y="4418555"/>
                  </a:lnTo>
                  <a:lnTo>
                    <a:pt x="2177458" y="4464899"/>
                  </a:lnTo>
                  <a:lnTo>
                    <a:pt x="2170485" y="4509981"/>
                  </a:lnTo>
                  <a:lnTo>
                    <a:pt x="2159154" y="4553562"/>
                  </a:lnTo>
                  <a:lnTo>
                    <a:pt x="2143704" y="4595404"/>
                  </a:lnTo>
                  <a:lnTo>
                    <a:pt x="2124373" y="4635270"/>
                  </a:lnTo>
                  <a:lnTo>
                    <a:pt x="2101399" y="4672919"/>
                  </a:lnTo>
                  <a:lnTo>
                    <a:pt x="2075020" y="4708115"/>
                  </a:lnTo>
                  <a:lnTo>
                    <a:pt x="2045475" y="4740618"/>
                  </a:lnTo>
                  <a:lnTo>
                    <a:pt x="2013001" y="4770190"/>
                  </a:lnTo>
                  <a:lnTo>
                    <a:pt x="1977837" y="4796593"/>
                  </a:lnTo>
                  <a:lnTo>
                    <a:pt x="1940222" y="4819587"/>
                  </a:lnTo>
                  <a:lnTo>
                    <a:pt x="1900392" y="4838936"/>
                  </a:lnTo>
                  <a:lnTo>
                    <a:pt x="1858588" y="4854400"/>
                  </a:lnTo>
                  <a:lnTo>
                    <a:pt x="1815046" y="4865741"/>
                  </a:lnTo>
                  <a:lnTo>
                    <a:pt x="1770005" y="4872720"/>
                  </a:lnTo>
                  <a:lnTo>
                    <a:pt x="1723703" y="4875100"/>
                  </a:lnTo>
                  <a:close/>
                </a:path>
              </a:pathLst>
            </a:custGeom>
            <a:solidFill>
              <a:srgbClr val="E9E8E3">
                <a:alpha val="5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30381" y="2453959"/>
              <a:ext cx="2303145" cy="5034280"/>
            </a:xfrm>
            <a:custGeom>
              <a:avLst/>
              <a:gdLst/>
              <a:ahLst/>
              <a:cxnLst/>
              <a:rect l="l" t="t" r="r" b="b"/>
              <a:pathLst>
                <a:path w="2303145" h="5034280">
                  <a:moveTo>
                    <a:pt x="1846661" y="5033898"/>
                  </a:moveTo>
                  <a:lnTo>
                    <a:pt x="456132" y="5033898"/>
                  </a:lnTo>
                  <a:lnTo>
                    <a:pt x="409830" y="5031562"/>
                  </a:lnTo>
                  <a:lnTo>
                    <a:pt x="364789" y="5024702"/>
                  </a:lnTo>
                  <a:lnTo>
                    <a:pt x="321247" y="5013538"/>
                  </a:lnTo>
                  <a:lnTo>
                    <a:pt x="279442" y="4998292"/>
                  </a:lnTo>
                  <a:lnTo>
                    <a:pt x="239613" y="4979185"/>
                  </a:lnTo>
                  <a:lnTo>
                    <a:pt x="201998" y="4956437"/>
                  </a:lnTo>
                  <a:lnTo>
                    <a:pt x="166834" y="4930270"/>
                  </a:lnTo>
                  <a:lnTo>
                    <a:pt x="134360" y="4900905"/>
                  </a:lnTo>
                  <a:lnTo>
                    <a:pt x="104815" y="4868562"/>
                  </a:lnTo>
                  <a:lnTo>
                    <a:pt x="78436" y="4833462"/>
                  </a:lnTo>
                  <a:lnTo>
                    <a:pt x="55462" y="4795827"/>
                  </a:lnTo>
                  <a:lnTo>
                    <a:pt x="36131" y="4755877"/>
                  </a:lnTo>
                  <a:lnTo>
                    <a:pt x="20681" y="4713834"/>
                  </a:lnTo>
                  <a:lnTo>
                    <a:pt x="9350" y="4669919"/>
                  </a:lnTo>
                  <a:lnTo>
                    <a:pt x="2377" y="4624351"/>
                  </a:lnTo>
                  <a:lnTo>
                    <a:pt x="0" y="4577354"/>
                  </a:lnTo>
                  <a:lnTo>
                    <a:pt x="0" y="456544"/>
                  </a:lnTo>
                  <a:lnTo>
                    <a:pt x="2377" y="410200"/>
                  </a:lnTo>
                  <a:lnTo>
                    <a:pt x="9350" y="365119"/>
                  </a:lnTo>
                  <a:lnTo>
                    <a:pt x="20681" y="321537"/>
                  </a:lnTo>
                  <a:lnTo>
                    <a:pt x="36131" y="279695"/>
                  </a:lnTo>
                  <a:lnTo>
                    <a:pt x="55462" y="239830"/>
                  </a:lnTo>
                  <a:lnTo>
                    <a:pt x="78436" y="202180"/>
                  </a:lnTo>
                  <a:lnTo>
                    <a:pt x="104815" y="166985"/>
                  </a:lnTo>
                  <a:lnTo>
                    <a:pt x="134360" y="134482"/>
                  </a:lnTo>
                  <a:lnTo>
                    <a:pt x="166834" y="104910"/>
                  </a:lnTo>
                  <a:lnTo>
                    <a:pt x="201998" y="78507"/>
                  </a:lnTo>
                  <a:lnTo>
                    <a:pt x="239613" y="55512"/>
                  </a:lnTo>
                  <a:lnTo>
                    <a:pt x="279442" y="36163"/>
                  </a:lnTo>
                  <a:lnTo>
                    <a:pt x="321247" y="20699"/>
                  </a:lnTo>
                  <a:lnTo>
                    <a:pt x="364789" y="9358"/>
                  </a:lnTo>
                  <a:lnTo>
                    <a:pt x="409830" y="2379"/>
                  </a:lnTo>
                  <a:lnTo>
                    <a:pt x="456132" y="0"/>
                  </a:lnTo>
                  <a:lnTo>
                    <a:pt x="1846661" y="0"/>
                  </a:lnTo>
                  <a:lnTo>
                    <a:pt x="1892962" y="2379"/>
                  </a:lnTo>
                  <a:lnTo>
                    <a:pt x="1938003" y="9358"/>
                  </a:lnTo>
                  <a:lnTo>
                    <a:pt x="1981545" y="20699"/>
                  </a:lnTo>
                  <a:lnTo>
                    <a:pt x="2023350" y="36163"/>
                  </a:lnTo>
                  <a:lnTo>
                    <a:pt x="2063179" y="55512"/>
                  </a:lnTo>
                  <a:lnTo>
                    <a:pt x="2100795" y="78507"/>
                  </a:lnTo>
                  <a:lnTo>
                    <a:pt x="2135958" y="104910"/>
                  </a:lnTo>
                  <a:lnTo>
                    <a:pt x="2168432" y="134482"/>
                  </a:lnTo>
                  <a:lnTo>
                    <a:pt x="2197977" y="166985"/>
                  </a:lnTo>
                  <a:lnTo>
                    <a:pt x="2224356" y="202180"/>
                  </a:lnTo>
                  <a:lnTo>
                    <a:pt x="2247330" y="239830"/>
                  </a:lnTo>
                  <a:lnTo>
                    <a:pt x="2266662" y="279695"/>
                  </a:lnTo>
                  <a:lnTo>
                    <a:pt x="2282112" y="321537"/>
                  </a:lnTo>
                  <a:lnTo>
                    <a:pt x="2293442" y="365119"/>
                  </a:lnTo>
                  <a:lnTo>
                    <a:pt x="2300415" y="410200"/>
                  </a:lnTo>
                  <a:lnTo>
                    <a:pt x="2302793" y="456544"/>
                  </a:lnTo>
                  <a:lnTo>
                    <a:pt x="2302793" y="4577354"/>
                  </a:lnTo>
                  <a:lnTo>
                    <a:pt x="2300415" y="4623697"/>
                  </a:lnTo>
                  <a:lnTo>
                    <a:pt x="2293442" y="4668779"/>
                  </a:lnTo>
                  <a:lnTo>
                    <a:pt x="2282112" y="4712360"/>
                  </a:lnTo>
                  <a:lnTo>
                    <a:pt x="2266662" y="4754202"/>
                  </a:lnTo>
                  <a:lnTo>
                    <a:pt x="2247330" y="4794068"/>
                  </a:lnTo>
                  <a:lnTo>
                    <a:pt x="2224356" y="4831717"/>
                  </a:lnTo>
                  <a:lnTo>
                    <a:pt x="2197977" y="4866913"/>
                  </a:lnTo>
                  <a:lnTo>
                    <a:pt x="2168432" y="4899416"/>
                  </a:lnTo>
                  <a:lnTo>
                    <a:pt x="2135958" y="4928988"/>
                  </a:lnTo>
                  <a:lnTo>
                    <a:pt x="2100795" y="4955391"/>
                  </a:lnTo>
                  <a:lnTo>
                    <a:pt x="2063179" y="4978386"/>
                  </a:lnTo>
                  <a:lnTo>
                    <a:pt x="2023350" y="4997734"/>
                  </a:lnTo>
                  <a:lnTo>
                    <a:pt x="1981545" y="5013198"/>
                  </a:lnTo>
                  <a:lnTo>
                    <a:pt x="1938003" y="5024539"/>
                  </a:lnTo>
                  <a:lnTo>
                    <a:pt x="1892962" y="5031519"/>
                  </a:lnTo>
                  <a:lnTo>
                    <a:pt x="1846661" y="5033898"/>
                  </a:lnTo>
                  <a:close/>
                </a:path>
              </a:pathLst>
            </a:custGeom>
            <a:solidFill>
              <a:srgbClr val="415343">
                <a:alpha val="5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90710" y="2414260"/>
              <a:ext cx="2505075" cy="5248275"/>
            </a:xfrm>
            <a:custGeom>
              <a:avLst/>
              <a:gdLst/>
              <a:ahLst/>
              <a:cxnLst/>
              <a:rect l="l" t="t" r="r" b="b"/>
              <a:pathLst>
                <a:path w="2505075" h="5248275">
                  <a:moveTo>
                    <a:pt x="2009282" y="5248276"/>
                  </a:moveTo>
                  <a:lnTo>
                    <a:pt x="598683" y="5248276"/>
                  </a:lnTo>
                  <a:lnTo>
                    <a:pt x="551333" y="5245469"/>
                  </a:lnTo>
                  <a:lnTo>
                    <a:pt x="504590" y="5237255"/>
                  </a:lnTo>
                  <a:lnTo>
                    <a:pt x="458834" y="5223944"/>
                  </a:lnTo>
                  <a:lnTo>
                    <a:pt x="414449" y="5205845"/>
                  </a:lnTo>
                  <a:lnTo>
                    <a:pt x="371817" y="5183268"/>
                  </a:lnTo>
                  <a:lnTo>
                    <a:pt x="331319" y="5156522"/>
                  </a:lnTo>
                  <a:lnTo>
                    <a:pt x="293338" y="5125918"/>
                  </a:lnTo>
                  <a:lnTo>
                    <a:pt x="258256" y="5091764"/>
                  </a:lnTo>
                  <a:lnTo>
                    <a:pt x="226455" y="5054371"/>
                  </a:lnTo>
                  <a:lnTo>
                    <a:pt x="198318" y="5014048"/>
                  </a:lnTo>
                  <a:lnTo>
                    <a:pt x="160178" y="4981744"/>
                  </a:lnTo>
                  <a:lnTo>
                    <a:pt x="125302" y="4945878"/>
                  </a:lnTo>
                  <a:lnTo>
                    <a:pt x="93952" y="4906613"/>
                  </a:lnTo>
                  <a:lnTo>
                    <a:pt x="66650" y="4864508"/>
                  </a:lnTo>
                  <a:lnTo>
                    <a:pt x="43526" y="4819526"/>
                  </a:lnTo>
                  <a:lnTo>
                    <a:pt x="24973" y="4772028"/>
                  </a:lnTo>
                  <a:lnTo>
                    <a:pt x="11316" y="4722276"/>
                  </a:lnTo>
                  <a:lnTo>
                    <a:pt x="2883" y="4670530"/>
                  </a:lnTo>
                  <a:lnTo>
                    <a:pt x="0" y="4617053"/>
                  </a:lnTo>
                  <a:lnTo>
                    <a:pt x="0" y="496243"/>
                  </a:lnTo>
                  <a:lnTo>
                    <a:pt x="2203" y="449900"/>
                  </a:lnTo>
                  <a:lnTo>
                    <a:pt x="2270" y="448474"/>
                  </a:lnTo>
                  <a:lnTo>
                    <a:pt x="8945" y="401984"/>
                  </a:lnTo>
                  <a:lnTo>
                    <a:pt x="19814" y="356983"/>
                  </a:lnTo>
                  <a:lnTo>
                    <a:pt x="34669" y="313679"/>
                  </a:lnTo>
                  <a:lnTo>
                    <a:pt x="53303" y="272280"/>
                  </a:lnTo>
                  <a:lnTo>
                    <a:pt x="75507" y="232995"/>
                  </a:lnTo>
                  <a:lnTo>
                    <a:pt x="101072" y="196033"/>
                  </a:lnTo>
                  <a:lnTo>
                    <a:pt x="129791" y="161601"/>
                  </a:lnTo>
                  <a:lnTo>
                    <a:pt x="161455" y="129908"/>
                  </a:lnTo>
                  <a:lnTo>
                    <a:pt x="195856" y="101163"/>
                  </a:lnTo>
                  <a:lnTo>
                    <a:pt x="232785" y="75575"/>
                  </a:lnTo>
                  <a:lnTo>
                    <a:pt x="272034" y="53351"/>
                  </a:lnTo>
                  <a:lnTo>
                    <a:pt x="313396" y="34700"/>
                  </a:lnTo>
                  <a:lnTo>
                    <a:pt x="356661" y="19831"/>
                  </a:lnTo>
                  <a:lnTo>
                    <a:pt x="401621" y="8953"/>
                  </a:lnTo>
                  <a:lnTo>
                    <a:pt x="448069" y="2273"/>
                  </a:lnTo>
                  <a:lnTo>
                    <a:pt x="495795" y="0"/>
                  </a:lnTo>
                  <a:lnTo>
                    <a:pt x="1886324" y="0"/>
                  </a:lnTo>
                  <a:lnTo>
                    <a:pt x="1939113" y="2806"/>
                  </a:lnTo>
                  <a:lnTo>
                    <a:pt x="1990211" y="11020"/>
                  </a:lnTo>
                  <a:lnTo>
                    <a:pt x="2039359" y="24331"/>
                  </a:lnTo>
                  <a:lnTo>
                    <a:pt x="2079210" y="39699"/>
                  </a:lnTo>
                  <a:lnTo>
                    <a:pt x="495795" y="39699"/>
                  </a:lnTo>
                  <a:lnTo>
                    <a:pt x="449494" y="42078"/>
                  </a:lnTo>
                  <a:lnTo>
                    <a:pt x="404453" y="49058"/>
                  </a:lnTo>
                  <a:lnTo>
                    <a:pt x="360911" y="60399"/>
                  </a:lnTo>
                  <a:lnTo>
                    <a:pt x="319106" y="75863"/>
                  </a:lnTo>
                  <a:lnTo>
                    <a:pt x="279277" y="95211"/>
                  </a:lnTo>
                  <a:lnTo>
                    <a:pt x="241661" y="118206"/>
                  </a:lnTo>
                  <a:lnTo>
                    <a:pt x="206497" y="144609"/>
                  </a:lnTo>
                  <a:lnTo>
                    <a:pt x="174024" y="174181"/>
                  </a:lnTo>
                  <a:lnTo>
                    <a:pt x="144478" y="206684"/>
                  </a:lnTo>
                  <a:lnTo>
                    <a:pt x="118100" y="241880"/>
                  </a:lnTo>
                  <a:lnTo>
                    <a:pt x="95125" y="279529"/>
                  </a:lnTo>
                  <a:lnTo>
                    <a:pt x="75794" y="319395"/>
                  </a:lnTo>
                  <a:lnTo>
                    <a:pt x="60344" y="361237"/>
                  </a:lnTo>
                  <a:lnTo>
                    <a:pt x="49014" y="404818"/>
                  </a:lnTo>
                  <a:lnTo>
                    <a:pt x="42040" y="449900"/>
                  </a:lnTo>
                  <a:lnTo>
                    <a:pt x="39663" y="496243"/>
                  </a:lnTo>
                  <a:lnTo>
                    <a:pt x="39663" y="4617053"/>
                  </a:lnTo>
                  <a:lnTo>
                    <a:pt x="42007" y="4663397"/>
                  </a:lnTo>
                  <a:lnTo>
                    <a:pt x="49014" y="4709618"/>
                  </a:lnTo>
                  <a:lnTo>
                    <a:pt x="60344" y="4753534"/>
                  </a:lnTo>
                  <a:lnTo>
                    <a:pt x="75794" y="4795577"/>
                  </a:lnTo>
                  <a:lnTo>
                    <a:pt x="95125" y="4835527"/>
                  </a:lnTo>
                  <a:lnTo>
                    <a:pt x="118100" y="4873162"/>
                  </a:lnTo>
                  <a:lnTo>
                    <a:pt x="144478" y="4908261"/>
                  </a:lnTo>
                  <a:lnTo>
                    <a:pt x="174024" y="4940604"/>
                  </a:lnTo>
                  <a:lnTo>
                    <a:pt x="206497" y="4969970"/>
                  </a:lnTo>
                  <a:lnTo>
                    <a:pt x="241661" y="4996137"/>
                  </a:lnTo>
                  <a:lnTo>
                    <a:pt x="279277" y="5018885"/>
                  </a:lnTo>
                  <a:lnTo>
                    <a:pt x="319106" y="5037992"/>
                  </a:lnTo>
                  <a:lnTo>
                    <a:pt x="360911" y="5053238"/>
                  </a:lnTo>
                  <a:lnTo>
                    <a:pt x="404453" y="5064402"/>
                  </a:lnTo>
                  <a:lnTo>
                    <a:pt x="438765" y="5069628"/>
                  </a:lnTo>
                  <a:lnTo>
                    <a:pt x="293511" y="5069628"/>
                  </a:lnTo>
                  <a:lnTo>
                    <a:pt x="331034" y="5104825"/>
                  </a:lnTo>
                  <a:lnTo>
                    <a:pt x="371745" y="5135369"/>
                  </a:lnTo>
                  <a:lnTo>
                    <a:pt x="414946" y="5160983"/>
                  </a:lnTo>
                  <a:lnTo>
                    <a:pt x="459938" y="5181388"/>
                  </a:lnTo>
                  <a:lnTo>
                    <a:pt x="506023" y="5196307"/>
                  </a:lnTo>
                  <a:lnTo>
                    <a:pt x="552504" y="5205463"/>
                  </a:lnTo>
                  <a:lnTo>
                    <a:pt x="598683" y="5208576"/>
                  </a:lnTo>
                  <a:lnTo>
                    <a:pt x="2202767" y="5208576"/>
                  </a:lnTo>
                  <a:lnTo>
                    <a:pt x="2191681" y="5213575"/>
                  </a:lnTo>
                  <a:lnTo>
                    <a:pt x="2148416" y="5228444"/>
                  </a:lnTo>
                  <a:lnTo>
                    <a:pt x="2103456" y="5239322"/>
                  </a:lnTo>
                  <a:lnTo>
                    <a:pt x="2057008" y="5246002"/>
                  </a:lnTo>
                  <a:lnTo>
                    <a:pt x="2009282" y="5248276"/>
                  </a:lnTo>
                  <a:close/>
                </a:path>
                <a:path w="2505075" h="5248275">
                  <a:moveTo>
                    <a:pt x="2083776" y="5073598"/>
                  </a:moveTo>
                  <a:lnTo>
                    <a:pt x="1886324" y="5073598"/>
                  </a:lnTo>
                  <a:lnTo>
                    <a:pt x="1932626" y="5071218"/>
                  </a:lnTo>
                  <a:lnTo>
                    <a:pt x="1977667" y="5064239"/>
                  </a:lnTo>
                  <a:lnTo>
                    <a:pt x="2021209" y="5052898"/>
                  </a:lnTo>
                  <a:lnTo>
                    <a:pt x="2063013" y="5037434"/>
                  </a:lnTo>
                  <a:lnTo>
                    <a:pt x="2102843" y="5018085"/>
                  </a:lnTo>
                  <a:lnTo>
                    <a:pt x="2140458" y="4995090"/>
                  </a:lnTo>
                  <a:lnTo>
                    <a:pt x="2175622" y="4968688"/>
                  </a:lnTo>
                  <a:lnTo>
                    <a:pt x="2208096" y="4939116"/>
                  </a:lnTo>
                  <a:lnTo>
                    <a:pt x="2237641" y="4906613"/>
                  </a:lnTo>
                  <a:lnTo>
                    <a:pt x="2264020" y="4871417"/>
                  </a:lnTo>
                  <a:lnTo>
                    <a:pt x="2286994" y="4833767"/>
                  </a:lnTo>
                  <a:lnTo>
                    <a:pt x="2306325" y="4793902"/>
                  </a:lnTo>
                  <a:lnTo>
                    <a:pt x="2321783" y="4752032"/>
                  </a:lnTo>
                  <a:lnTo>
                    <a:pt x="2333106" y="4708478"/>
                  </a:lnTo>
                  <a:lnTo>
                    <a:pt x="2339858" y="4664823"/>
                  </a:lnTo>
                  <a:lnTo>
                    <a:pt x="2339978" y="4664051"/>
                  </a:lnTo>
                  <a:lnTo>
                    <a:pt x="2340079" y="4663397"/>
                  </a:lnTo>
                  <a:lnTo>
                    <a:pt x="2342456" y="4617053"/>
                  </a:lnTo>
                  <a:lnTo>
                    <a:pt x="2342456" y="496243"/>
                  </a:lnTo>
                  <a:lnTo>
                    <a:pt x="2340079" y="449900"/>
                  </a:lnTo>
                  <a:lnTo>
                    <a:pt x="2333106" y="404818"/>
                  </a:lnTo>
                  <a:lnTo>
                    <a:pt x="2321775" y="361237"/>
                  </a:lnTo>
                  <a:lnTo>
                    <a:pt x="2306325" y="319395"/>
                  </a:lnTo>
                  <a:lnTo>
                    <a:pt x="2286994" y="279529"/>
                  </a:lnTo>
                  <a:lnTo>
                    <a:pt x="2264020" y="241880"/>
                  </a:lnTo>
                  <a:lnTo>
                    <a:pt x="2237641" y="206684"/>
                  </a:lnTo>
                  <a:lnTo>
                    <a:pt x="2208096" y="174181"/>
                  </a:lnTo>
                  <a:lnTo>
                    <a:pt x="2175622" y="144609"/>
                  </a:lnTo>
                  <a:lnTo>
                    <a:pt x="2140458" y="118206"/>
                  </a:lnTo>
                  <a:lnTo>
                    <a:pt x="2102843" y="95211"/>
                  </a:lnTo>
                  <a:lnTo>
                    <a:pt x="2063013" y="75863"/>
                  </a:lnTo>
                  <a:lnTo>
                    <a:pt x="2021209" y="60399"/>
                  </a:lnTo>
                  <a:lnTo>
                    <a:pt x="1977667" y="49058"/>
                  </a:lnTo>
                  <a:lnTo>
                    <a:pt x="1932626" y="42078"/>
                  </a:lnTo>
                  <a:lnTo>
                    <a:pt x="1886324" y="39699"/>
                  </a:lnTo>
                  <a:lnTo>
                    <a:pt x="2079210" y="39699"/>
                  </a:lnTo>
                  <a:lnTo>
                    <a:pt x="2130752" y="65007"/>
                  </a:lnTo>
                  <a:lnTo>
                    <a:pt x="2172474" y="91753"/>
                  </a:lnTo>
                  <a:lnTo>
                    <a:pt x="2211197" y="122357"/>
                  </a:lnTo>
                  <a:lnTo>
                    <a:pt x="2246661" y="156511"/>
                  </a:lnTo>
                  <a:lnTo>
                    <a:pt x="2278602" y="193904"/>
                  </a:lnTo>
                  <a:lnTo>
                    <a:pt x="2306759" y="234227"/>
                  </a:lnTo>
                  <a:lnTo>
                    <a:pt x="2344899" y="266531"/>
                  </a:lnTo>
                  <a:lnTo>
                    <a:pt x="2379775" y="302397"/>
                  </a:lnTo>
                  <a:lnTo>
                    <a:pt x="2404600" y="333475"/>
                  </a:lnTo>
                  <a:lnTo>
                    <a:pt x="2358322" y="333475"/>
                  </a:lnTo>
                  <a:lnTo>
                    <a:pt x="2369353" y="372865"/>
                  </a:lnTo>
                  <a:lnTo>
                    <a:pt x="2378154" y="413371"/>
                  </a:lnTo>
                  <a:lnTo>
                    <a:pt x="2383979" y="454621"/>
                  </a:lnTo>
                  <a:lnTo>
                    <a:pt x="2386086" y="496243"/>
                  </a:lnTo>
                  <a:lnTo>
                    <a:pt x="2386086" y="4617053"/>
                  </a:lnTo>
                  <a:lnTo>
                    <a:pt x="2383883" y="4663397"/>
                  </a:lnTo>
                  <a:lnTo>
                    <a:pt x="2377141" y="4711312"/>
                  </a:lnTo>
                  <a:lnTo>
                    <a:pt x="2366272" y="4756313"/>
                  </a:lnTo>
                  <a:lnTo>
                    <a:pt x="2351417" y="4799618"/>
                  </a:lnTo>
                  <a:lnTo>
                    <a:pt x="2332783" y="4841017"/>
                  </a:lnTo>
                  <a:lnTo>
                    <a:pt x="2310579" y="4880301"/>
                  </a:lnTo>
                  <a:lnTo>
                    <a:pt x="2285014" y="4917264"/>
                  </a:lnTo>
                  <a:lnTo>
                    <a:pt x="2256295" y="4951696"/>
                  </a:lnTo>
                  <a:lnTo>
                    <a:pt x="2224631" y="4983389"/>
                  </a:lnTo>
                  <a:lnTo>
                    <a:pt x="2190230" y="5012133"/>
                  </a:lnTo>
                  <a:lnTo>
                    <a:pt x="2153301" y="5037722"/>
                  </a:lnTo>
                  <a:lnTo>
                    <a:pt x="2114052" y="5059946"/>
                  </a:lnTo>
                  <a:lnTo>
                    <a:pt x="2083776" y="5073598"/>
                  </a:lnTo>
                  <a:close/>
                </a:path>
                <a:path w="2505075" h="5248275">
                  <a:moveTo>
                    <a:pt x="2202767" y="5208576"/>
                  </a:moveTo>
                  <a:lnTo>
                    <a:pt x="2009282" y="5208576"/>
                  </a:lnTo>
                  <a:lnTo>
                    <a:pt x="2055628" y="5206197"/>
                  </a:lnTo>
                  <a:lnTo>
                    <a:pt x="2100795" y="5199217"/>
                  </a:lnTo>
                  <a:lnTo>
                    <a:pt x="2144532" y="5187876"/>
                  </a:lnTo>
                  <a:lnTo>
                    <a:pt x="2186591" y="5172412"/>
                  </a:lnTo>
                  <a:lnTo>
                    <a:pt x="2226720" y="5153064"/>
                  </a:lnTo>
                  <a:lnTo>
                    <a:pt x="2264671" y="5130069"/>
                  </a:lnTo>
                  <a:lnTo>
                    <a:pt x="2300193" y="5103666"/>
                  </a:lnTo>
                  <a:lnTo>
                    <a:pt x="2333036" y="5074094"/>
                  </a:lnTo>
                  <a:lnTo>
                    <a:pt x="2362952" y="5041591"/>
                  </a:lnTo>
                  <a:lnTo>
                    <a:pt x="2389689" y="5006395"/>
                  </a:lnTo>
                  <a:lnTo>
                    <a:pt x="2413026" y="4968688"/>
                  </a:lnTo>
                  <a:lnTo>
                    <a:pt x="2432629" y="4928881"/>
                  </a:lnTo>
                  <a:lnTo>
                    <a:pt x="2448333" y="4887038"/>
                  </a:lnTo>
                  <a:lnTo>
                    <a:pt x="2459859" y="4843457"/>
                  </a:lnTo>
                  <a:lnTo>
                    <a:pt x="2466958" y="4798375"/>
                  </a:lnTo>
                  <a:lnTo>
                    <a:pt x="2469302" y="4753534"/>
                  </a:lnTo>
                  <a:lnTo>
                    <a:pt x="2469380" y="631222"/>
                  </a:lnTo>
                  <a:lnTo>
                    <a:pt x="2466767" y="582645"/>
                  </a:lnTo>
                  <a:lnTo>
                    <a:pt x="2459158" y="535735"/>
                  </a:lnTo>
                  <a:lnTo>
                    <a:pt x="2446900" y="490699"/>
                  </a:lnTo>
                  <a:lnTo>
                    <a:pt x="2430341" y="447748"/>
                  </a:lnTo>
                  <a:lnTo>
                    <a:pt x="2409827" y="407087"/>
                  </a:lnTo>
                  <a:lnTo>
                    <a:pt x="2385705" y="368927"/>
                  </a:lnTo>
                  <a:lnTo>
                    <a:pt x="2358322" y="333475"/>
                  </a:lnTo>
                  <a:lnTo>
                    <a:pt x="2404600" y="333475"/>
                  </a:lnTo>
                  <a:lnTo>
                    <a:pt x="2438427" y="383767"/>
                  </a:lnTo>
                  <a:lnTo>
                    <a:pt x="2461551" y="428749"/>
                  </a:lnTo>
                  <a:lnTo>
                    <a:pt x="2480104" y="476247"/>
                  </a:lnTo>
                  <a:lnTo>
                    <a:pt x="2493760" y="525999"/>
                  </a:lnTo>
                  <a:lnTo>
                    <a:pt x="2502194" y="577745"/>
                  </a:lnTo>
                  <a:lnTo>
                    <a:pt x="2505077" y="631222"/>
                  </a:lnTo>
                  <a:lnTo>
                    <a:pt x="2505006" y="4753534"/>
                  </a:lnTo>
                  <a:lnTo>
                    <a:pt x="2502874" y="4798375"/>
                  </a:lnTo>
                  <a:lnTo>
                    <a:pt x="2502806" y="4799801"/>
                  </a:lnTo>
                  <a:lnTo>
                    <a:pt x="2496132" y="4846291"/>
                  </a:lnTo>
                  <a:lnTo>
                    <a:pt x="2485263" y="4891292"/>
                  </a:lnTo>
                  <a:lnTo>
                    <a:pt x="2470408" y="4934596"/>
                  </a:lnTo>
                  <a:lnTo>
                    <a:pt x="2451774" y="4975995"/>
                  </a:lnTo>
                  <a:lnTo>
                    <a:pt x="2429570" y="5015280"/>
                  </a:lnTo>
                  <a:lnTo>
                    <a:pt x="2404005" y="5052243"/>
                  </a:lnTo>
                  <a:lnTo>
                    <a:pt x="2375286" y="5086674"/>
                  </a:lnTo>
                  <a:lnTo>
                    <a:pt x="2343622" y="5118367"/>
                  </a:lnTo>
                  <a:lnTo>
                    <a:pt x="2309221" y="5147112"/>
                  </a:lnTo>
                  <a:lnTo>
                    <a:pt x="2272292" y="5172700"/>
                  </a:lnTo>
                  <a:lnTo>
                    <a:pt x="2233043" y="5194924"/>
                  </a:lnTo>
                  <a:lnTo>
                    <a:pt x="2202767" y="5208576"/>
                  </a:lnTo>
                  <a:close/>
                </a:path>
                <a:path w="2505075" h="5248275">
                  <a:moveTo>
                    <a:pt x="1890291" y="5113297"/>
                  </a:moveTo>
                  <a:lnTo>
                    <a:pt x="499762" y="5113297"/>
                  </a:lnTo>
                  <a:lnTo>
                    <a:pt x="444666" y="5110382"/>
                  </a:lnTo>
                  <a:lnTo>
                    <a:pt x="392174" y="5101884"/>
                  </a:lnTo>
                  <a:lnTo>
                    <a:pt x="341913" y="5088175"/>
                  </a:lnTo>
                  <a:lnTo>
                    <a:pt x="293511" y="5069628"/>
                  </a:lnTo>
                  <a:lnTo>
                    <a:pt x="438765" y="5069628"/>
                  </a:lnTo>
                  <a:lnTo>
                    <a:pt x="449207" y="5071218"/>
                  </a:lnTo>
                  <a:lnTo>
                    <a:pt x="448629" y="5071218"/>
                  </a:lnTo>
                  <a:lnTo>
                    <a:pt x="495795" y="5073598"/>
                  </a:lnTo>
                  <a:lnTo>
                    <a:pt x="2083776" y="5073598"/>
                  </a:lnTo>
                  <a:lnTo>
                    <a:pt x="2072690" y="5078596"/>
                  </a:lnTo>
                  <a:lnTo>
                    <a:pt x="2029425" y="5093465"/>
                  </a:lnTo>
                  <a:lnTo>
                    <a:pt x="1984465" y="5104344"/>
                  </a:lnTo>
                  <a:lnTo>
                    <a:pt x="1938017" y="5111024"/>
                  </a:lnTo>
                  <a:lnTo>
                    <a:pt x="1890291" y="5113297"/>
                  </a:lnTo>
                  <a:close/>
                </a:path>
              </a:pathLst>
            </a:custGeom>
            <a:solidFill>
              <a:srgbClr val="E9E8E3">
                <a:alpha val="5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203962" y="2859372"/>
            <a:ext cx="2519680" cy="271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850">
              <a:lnSpc>
                <a:spcPct val="100000"/>
              </a:lnSpc>
              <a:spcBef>
                <a:spcPts val="100"/>
              </a:spcBef>
            </a:pPr>
            <a:r>
              <a:rPr sz="2600" spc="-70" dirty="0">
                <a:solidFill>
                  <a:srgbClr val="E9E8E3"/>
                </a:solidFill>
                <a:latin typeface="Verdana"/>
                <a:cs typeface="Verdana"/>
              </a:rPr>
              <a:t>Transformation </a:t>
            </a:r>
            <a:r>
              <a:rPr lang="fr-FR" sz="2600" spc="-70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600" spc="60" dirty="0">
                <a:solidFill>
                  <a:srgbClr val="E9E8E3"/>
                </a:solidFill>
                <a:latin typeface="Verdana"/>
                <a:cs typeface="Verdana"/>
              </a:rPr>
              <a:t>des</a:t>
            </a:r>
            <a:r>
              <a:rPr sz="2600" spc="-190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600" spc="-10" dirty="0">
                <a:solidFill>
                  <a:srgbClr val="E9E8E3"/>
                </a:solidFill>
                <a:latin typeface="Verdana"/>
                <a:cs typeface="Verdana"/>
              </a:rPr>
              <a:t>valeurs</a:t>
            </a:r>
            <a:endParaRPr sz="2600" dirty="0">
              <a:latin typeface="Verdana"/>
              <a:cs typeface="Verdana"/>
            </a:endParaRPr>
          </a:p>
          <a:p>
            <a:pPr marL="111760" marR="32384" indent="-635" algn="ctr">
              <a:lnSpc>
                <a:spcPct val="115700"/>
              </a:lnSpc>
              <a:spcBef>
                <a:spcPts val="470"/>
              </a:spcBef>
            </a:pPr>
            <a:r>
              <a:rPr sz="2600" spc="-25" dirty="0">
                <a:solidFill>
                  <a:srgbClr val="E9E8E3"/>
                </a:solidFill>
                <a:latin typeface="Verdana"/>
                <a:cs typeface="Verdana"/>
              </a:rPr>
              <a:t>de </a:t>
            </a:r>
            <a:r>
              <a:rPr sz="2600" spc="-30" dirty="0">
                <a:solidFill>
                  <a:srgbClr val="E9E8E3"/>
                </a:solidFill>
                <a:latin typeface="Verdana"/>
                <a:cs typeface="Verdana"/>
              </a:rPr>
              <a:t>consommatio</a:t>
            </a:r>
            <a:r>
              <a:rPr sz="2600" spc="-30" dirty="0">
                <a:solidFill>
                  <a:srgbClr val="E9E8E3"/>
                </a:solidFill>
                <a:latin typeface="Myriad Pro"/>
                <a:cs typeface="Myriad Pro"/>
              </a:rPr>
              <a:t>n </a:t>
            </a:r>
            <a:r>
              <a:rPr sz="2600" spc="-80" dirty="0">
                <a:solidFill>
                  <a:srgbClr val="E9E8E3"/>
                </a:solidFill>
                <a:latin typeface="Verdana"/>
                <a:cs typeface="Verdana"/>
              </a:rPr>
              <a:t>par</a:t>
            </a:r>
            <a:r>
              <a:rPr sz="2600" spc="-175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E9E8E3"/>
                </a:solidFill>
                <a:latin typeface="Verdana"/>
                <a:cs typeface="Verdana"/>
              </a:rPr>
              <a:t>type</a:t>
            </a:r>
            <a:endParaRPr sz="2600" dirty="0">
              <a:latin typeface="Verdana"/>
              <a:cs typeface="Verdana"/>
            </a:endParaRPr>
          </a:p>
          <a:p>
            <a:pPr marR="178435" algn="ctr">
              <a:lnSpc>
                <a:spcPct val="100000"/>
              </a:lnSpc>
              <a:spcBef>
                <a:spcPts val="480"/>
              </a:spcBef>
            </a:pPr>
            <a:r>
              <a:rPr sz="2600" spc="-10" dirty="0" err="1">
                <a:solidFill>
                  <a:srgbClr val="E9E8E3"/>
                </a:solidFill>
                <a:latin typeface="Verdana"/>
                <a:cs typeface="Verdana"/>
              </a:rPr>
              <a:t>d'énergie</a:t>
            </a:r>
            <a:endParaRPr sz="260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95994" y="6176387"/>
            <a:ext cx="2145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5"/>
              </a:spcBef>
            </a:pPr>
            <a:r>
              <a:rPr sz="1700" spc="-45" dirty="0">
                <a:solidFill>
                  <a:srgbClr val="E9E8E3"/>
                </a:solidFill>
                <a:latin typeface="Verdana"/>
                <a:cs typeface="Verdana"/>
              </a:rPr>
              <a:t>Si</a:t>
            </a:r>
            <a:r>
              <a:rPr sz="1700" spc="-100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E9E8E3"/>
                </a:solidFill>
                <a:latin typeface="Verdana"/>
                <a:cs typeface="Verdana"/>
              </a:rPr>
              <a:t>usage</a:t>
            </a:r>
            <a:r>
              <a:rPr sz="1700" spc="-95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1700" spc="-434" dirty="0">
                <a:solidFill>
                  <a:srgbClr val="E9E8E3"/>
                </a:solidFill>
                <a:latin typeface="Verdana"/>
                <a:cs typeface="Verdana"/>
              </a:rPr>
              <a:t>=1</a:t>
            </a:r>
            <a:r>
              <a:rPr sz="1700" spc="-95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E9E8E3"/>
                </a:solidFill>
                <a:latin typeface="Verdana"/>
                <a:cs typeface="Verdana"/>
              </a:rPr>
              <a:t>sinon</a:t>
            </a:r>
            <a:r>
              <a:rPr sz="1700" spc="-95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1700" spc="-210" dirty="0">
                <a:solidFill>
                  <a:srgbClr val="E9E8E3"/>
                </a:solidFill>
                <a:latin typeface="Verdana"/>
                <a:cs typeface="Verdana"/>
              </a:rPr>
              <a:t>=0 </a:t>
            </a:r>
            <a:r>
              <a:rPr sz="1700" spc="-30" dirty="0">
                <a:solidFill>
                  <a:srgbClr val="E9E8E3"/>
                </a:solidFill>
                <a:latin typeface="Verdana"/>
                <a:cs typeface="Verdana"/>
              </a:rPr>
              <a:t>pour</a:t>
            </a:r>
            <a:r>
              <a:rPr sz="1700" spc="-120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E9E8E3"/>
                </a:solidFill>
                <a:latin typeface="Verdana"/>
                <a:cs typeface="Verdana"/>
              </a:rPr>
              <a:t>la</a:t>
            </a:r>
            <a:r>
              <a:rPr sz="1700" spc="-140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E9E8E3"/>
                </a:solidFill>
                <a:latin typeface="Verdana"/>
                <a:cs typeface="Verdana"/>
              </a:rPr>
              <a:t>propriété</a:t>
            </a:r>
            <a:endParaRPr sz="1700" dirty="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505131" y="2414294"/>
            <a:ext cx="2476500" cy="5248275"/>
            <a:chOff x="5505131" y="2414294"/>
            <a:chExt cx="2476500" cy="5248275"/>
          </a:xfrm>
        </p:grpSpPr>
        <p:sp>
          <p:nvSpPr>
            <p:cNvPr id="18" name="object 18"/>
            <p:cNvSpPr/>
            <p:nvPr/>
          </p:nvSpPr>
          <p:spPr>
            <a:xfrm>
              <a:off x="5795140" y="2747766"/>
              <a:ext cx="2150745" cy="4875530"/>
            </a:xfrm>
            <a:custGeom>
              <a:avLst/>
              <a:gdLst/>
              <a:ahLst/>
              <a:cxnLst/>
              <a:rect l="l" t="t" r="r" b="b"/>
              <a:pathLst>
                <a:path w="2150745" h="4875530">
                  <a:moveTo>
                    <a:pt x="1693854" y="4875036"/>
                  </a:moveTo>
                  <a:lnTo>
                    <a:pt x="308125" y="4875036"/>
                  </a:lnTo>
                  <a:lnTo>
                    <a:pt x="260960" y="4871922"/>
                  </a:lnTo>
                  <a:lnTo>
                    <a:pt x="213751" y="4862767"/>
                  </a:lnTo>
                  <a:lnTo>
                    <a:pt x="167154" y="4847848"/>
                  </a:lnTo>
                  <a:lnTo>
                    <a:pt x="121824" y="4827443"/>
                  </a:lnTo>
                  <a:lnTo>
                    <a:pt x="78417" y="4801830"/>
                  </a:lnTo>
                  <a:lnTo>
                    <a:pt x="37591" y="4771286"/>
                  </a:lnTo>
                  <a:lnTo>
                    <a:pt x="0" y="4736089"/>
                  </a:lnTo>
                  <a:lnTo>
                    <a:pt x="49038" y="4754636"/>
                  </a:lnTo>
                  <a:lnTo>
                    <a:pt x="100311" y="4768345"/>
                  </a:lnTo>
                  <a:lnTo>
                    <a:pt x="153074" y="4776843"/>
                  </a:lnTo>
                  <a:lnTo>
                    <a:pt x="206582" y="4779758"/>
                  </a:lnTo>
                  <a:lnTo>
                    <a:pt x="1574672" y="4779758"/>
                  </a:lnTo>
                  <a:lnTo>
                    <a:pt x="1619330" y="4777485"/>
                  </a:lnTo>
                  <a:lnTo>
                    <a:pt x="1663386" y="4770805"/>
                  </a:lnTo>
                  <a:lnTo>
                    <a:pt x="1706570" y="4759926"/>
                  </a:lnTo>
                  <a:lnTo>
                    <a:pt x="1748608" y="4745058"/>
                  </a:lnTo>
                  <a:lnTo>
                    <a:pt x="1789230" y="4726407"/>
                  </a:lnTo>
                  <a:lnTo>
                    <a:pt x="1828163" y="4704184"/>
                  </a:lnTo>
                  <a:lnTo>
                    <a:pt x="1865136" y="4678595"/>
                  </a:lnTo>
                  <a:lnTo>
                    <a:pt x="1899878" y="4649851"/>
                  </a:lnTo>
                  <a:lnTo>
                    <a:pt x="1932116" y="4618159"/>
                  </a:lnTo>
                  <a:lnTo>
                    <a:pt x="1961578" y="4583728"/>
                  </a:lnTo>
                  <a:lnTo>
                    <a:pt x="1987994" y="4546765"/>
                  </a:lnTo>
                  <a:lnTo>
                    <a:pt x="2011092" y="4507481"/>
                  </a:lnTo>
                  <a:lnTo>
                    <a:pt x="2030599" y="4466083"/>
                  </a:lnTo>
                  <a:lnTo>
                    <a:pt x="2046244" y="4422779"/>
                  </a:lnTo>
                  <a:lnTo>
                    <a:pt x="2057755" y="4377778"/>
                  </a:lnTo>
                  <a:lnTo>
                    <a:pt x="2064861" y="4331290"/>
                  </a:lnTo>
                  <a:lnTo>
                    <a:pt x="2067290" y="4283521"/>
                  </a:lnTo>
                  <a:lnTo>
                    <a:pt x="2067290" y="162765"/>
                  </a:lnTo>
                  <a:lnTo>
                    <a:pt x="2065739" y="121143"/>
                  </a:lnTo>
                  <a:lnTo>
                    <a:pt x="2060835" y="79894"/>
                  </a:lnTo>
                  <a:lnTo>
                    <a:pt x="2052206" y="39388"/>
                  </a:lnTo>
                  <a:lnTo>
                    <a:pt x="2039481" y="0"/>
                  </a:lnTo>
                  <a:lnTo>
                    <a:pt x="2066908" y="35451"/>
                  </a:lnTo>
                  <a:lnTo>
                    <a:pt x="2091069" y="73610"/>
                  </a:lnTo>
                  <a:lnTo>
                    <a:pt x="2111616" y="114270"/>
                  </a:lnTo>
                  <a:lnTo>
                    <a:pt x="2128202" y="157221"/>
                  </a:lnTo>
                  <a:lnTo>
                    <a:pt x="2140479" y="202256"/>
                  </a:lnTo>
                  <a:lnTo>
                    <a:pt x="2148100" y="249166"/>
                  </a:lnTo>
                  <a:lnTo>
                    <a:pt x="2150718" y="297742"/>
                  </a:lnTo>
                  <a:lnTo>
                    <a:pt x="2150718" y="4418497"/>
                  </a:lnTo>
                  <a:lnTo>
                    <a:pt x="2148337" y="4464840"/>
                  </a:lnTo>
                  <a:lnTo>
                    <a:pt x="2141352" y="4509921"/>
                  </a:lnTo>
                  <a:lnTo>
                    <a:pt x="2130003" y="4553502"/>
                  </a:lnTo>
                  <a:lnTo>
                    <a:pt x="2114529" y="4595344"/>
                  </a:lnTo>
                  <a:lnTo>
                    <a:pt x="2095166" y="4635209"/>
                  </a:lnTo>
                  <a:lnTo>
                    <a:pt x="2072155" y="4672858"/>
                  </a:lnTo>
                  <a:lnTo>
                    <a:pt x="2045734" y="4708053"/>
                  </a:lnTo>
                  <a:lnTo>
                    <a:pt x="2016141" y="4740555"/>
                  </a:lnTo>
                  <a:lnTo>
                    <a:pt x="1983616" y="4770127"/>
                  </a:lnTo>
                  <a:lnTo>
                    <a:pt x="1948395" y="4796529"/>
                  </a:lnTo>
                  <a:lnTo>
                    <a:pt x="1910720" y="4819524"/>
                  </a:lnTo>
                  <a:lnTo>
                    <a:pt x="1870826" y="4838872"/>
                  </a:lnTo>
                  <a:lnTo>
                    <a:pt x="1828955" y="4854336"/>
                  </a:lnTo>
                  <a:lnTo>
                    <a:pt x="1785343" y="4865677"/>
                  </a:lnTo>
                  <a:lnTo>
                    <a:pt x="1740230" y="4872656"/>
                  </a:lnTo>
                  <a:lnTo>
                    <a:pt x="1693854" y="4875036"/>
                  </a:lnTo>
                  <a:close/>
                </a:path>
              </a:pathLst>
            </a:custGeom>
            <a:solidFill>
              <a:srgbClr val="E9E8E3">
                <a:alpha val="5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44842" y="2453993"/>
              <a:ext cx="2273935" cy="5034280"/>
            </a:xfrm>
            <a:custGeom>
              <a:avLst/>
              <a:gdLst/>
              <a:ahLst/>
              <a:cxnLst/>
              <a:rect l="l" t="t" r="r" b="b"/>
              <a:pathLst>
                <a:path w="2273934" h="5034280">
                  <a:moveTo>
                    <a:pt x="1817008" y="5033832"/>
                  </a:moveTo>
                  <a:lnTo>
                    <a:pt x="456864" y="5033832"/>
                  </a:lnTo>
                  <a:lnTo>
                    <a:pt x="410488" y="5031496"/>
                  </a:lnTo>
                  <a:lnTo>
                    <a:pt x="365375" y="5024636"/>
                  </a:lnTo>
                  <a:lnTo>
                    <a:pt x="321763" y="5013472"/>
                  </a:lnTo>
                  <a:lnTo>
                    <a:pt x="279891" y="4998227"/>
                  </a:lnTo>
                  <a:lnTo>
                    <a:pt x="239998" y="4979119"/>
                  </a:lnTo>
                  <a:lnTo>
                    <a:pt x="202322" y="4956372"/>
                  </a:lnTo>
                  <a:lnTo>
                    <a:pt x="167102" y="4930205"/>
                  </a:lnTo>
                  <a:lnTo>
                    <a:pt x="134576" y="4900840"/>
                  </a:lnTo>
                  <a:lnTo>
                    <a:pt x="104983" y="4868497"/>
                  </a:lnTo>
                  <a:lnTo>
                    <a:pt x="78562" y="4833398"/>
                  </a:lnTo>
                  <a:lnTo>
                    <a:pt x="55551" y="4795764"/>
                  </a:lnTo>
                  <a:lnTo>
                    <a:pt x="36189" y="4755815"/>
                  </a:lnTo>
                  <a:lnTo>
                    <a:pt x="20714" y="4713772"/>
                  </a:lnTo>
                  <a:lnTo>
                    <a:pt x="9365" y="4669857"/>
                  </a:lnTo>
                  <a:lnTo>
                    <a:pt x="2381" y="4624290"/>
                  </a:lnTo>
                  <a:lnTo>
                    <a:pt x="0" y="4577293"/>
                  </a:lnTo>
                  <a:lnTo>
                    <a:pt x="0" y="456538"/>
                  </a:lnTo>
                  <a:lnTo>
                    <a:pt x="2381" y="410195"/>
                  </a:lnTo>
                  <a:lnTo>
                    <a:pt x="9365" y="365114"/>
                  </a:lnTo>
                  <a:lnTo>
                    <a:pt x="20714" y="321533"/>
                  </a:lnTo>
                  <a:lnTo>
                    <a:pt x="36189" y="279691"/>
                  </a:lnTo>
                  <a:lnTo>
                    <a:pt x="55551" y="239827"/>
                  </a:lnTo>
                  <a:lnTo>
                    <a:pt x="78562" y="202177"/>
                  </a:lnTo>
                  <a:lnTo>
                    <a:pt x="104983" y="166982"/>
                  </a:lnTo>
                  <a:lnTo>
                    <a:pt x="134576" y="134480"/>
                  </a:lnTo>
                  <a:lnTo>
                    <a:pt x="167102" y="104908"/>
                  </a:lnTo>
                  <a:lnTo>
                    <a:pt x="202322" y="78506"/>
                  </a:lnTo>
                  <a:lnTo>
                    <a:pt x="239998" y="55511"/>
                  </a:lnTo>
                  <a:lnTo>
                    <a:pt x="279891" y="36163"/>
                  </a:lnTo>
                  <a:lnTo>
                    <a:pt x="321763" y="20699"/>
                  </a:lnTo>
                  <a:lnTo>
                    <a:pt x="365375" y="9358"/>
                  </a:lnTo>
                  <a:lnTo>
                    <a:pt x="410488" y="2379"/>
                  </a:lnTo>
                  <a:lnTo>
                    <a:pt x="456864" y="0"/>
                  </a:lnTo>
                  <a:lnTo>
                    <a:pt x="1817008" y="0"/>
                  </a:lnTo>
                  <a:lnTo>
                    <a:pt x="1863384" y="2379"/>
                  </a:lnTo>
                  <a:lnTo>
                    <a:pt x="1908497" y="9358"/>
                  </a:lnTo>
                  <a:lnTo>
                    <a:pt x="1952109" y="20699"/>
                  </a:lnTo>
                  <a:lnTo>
                    <a:pt x="1993981" y="36163"/>
                  </a:lnTo>
                  <a:lnTo>
                    <a:pt x="2033874" y="55511"/>
                  </a:lnTo>
                  <a:lnTo>
                    <a:pt x="2071550" y="78506"/>
                  </a:lnTo>
                  <a:lnTo>
                    <a:pt x="2106770" y="104908"/>
                  </a:lnTo>
                  <a:lnTo>
                    <a:pt x="2139296" y="134480"/>
                  </a:lnTo>
                  <a:lnTo>
                    <a:pt x="2168889" y="166982"/>
                  </a:lnTo>
                  <a:lnTo>
                    <a:pt x="2195310" y="202177"/>
                  </a:lnTo>
                  <a:lnTo>
                    <a:pt x="2218321" y="239827"/>
                  </a:lnTo>
                  <a:lnTo>
                    <a:pt x="2237683" y="279691"/>
                  </a:lnTo>
                  <a:lnTo>
                    <a:pt x="2253158" y="321533"/>
                  </a:lnTo>
                  <a:lnTo>
                    <a:pt x="2264507" y="365114"/>
                  </a:lnTo>
                  <a:lnTo>
                    <a:pt x="2271491" y="410195"/>
                  </a:lnTo>
                  <a:lnTo>
                    <a:pt x="2273872" y="456538"/>
                  </a:lnTo>
                  <a:lnTo>
                    <a:pt x="2273872" y="4577293"/>
                  </a:lnTo>
                  <a:lnTo>
                    <a:pt x="2271491" y="4623636"/>
                  </a:lnTo>
                  <a:lnTo>
                    <a:pt x="2264507" y="4668717"/>
                  </a:lnTo>
                  <a:lnTo>
                    <a:pt x="2253158" y="4712298"/>
                  </a:lnTo>
                  <a:lnTo>
                    <a:pt x="2237683" y="4754140"/>
                  </a:lnTo>
                  <a:lnTo>
                    <a:pt x="2218321" y="4794004"/>
                  </a:lnTo>
                  <a:lnTo>
                    <a:pt x="2195310" y="4831654"/>
                  </a:lnTo>
                  <a:lnTo>
                    <a:pt x="2168889" y="4866849"/>
                  </a:lnTo>
                  <a:lnTo>
                    <a:pt x="2139296" y="4899351"/>
                  </a:lnTo>
                  <a:lnTo>
                    <a:pt x="2106770" y="4928923"/>
                  </a:lnTo>
                  <a:lnTo>
                    <a:pt x="2071550" y="4955325"/>
                  </a:lnTo>
                  <a:lnTo>
                    <a:pt x="2033874" y="4978320"/>
                  </a:lnTo>
                  <a:lnTo>
                    <a:pt x="1993981" y="4997668"/>
                  </a:lnTo>
                  <a:lnTo>
                    <a:pt x="1952109" y="5013132"/>
                  </a:lnTo>
                  <a:lnTo>
                    <a:pt x="1908497" y="5024473"/>
                  </a:lnTo>
                  <a:lnTo>
                    <a:pt x="1863384" y="5031452"/>
                  </a:lnTo>
                  <a:lnTo>
                    <a:pt x="1817008" y="5033832"/>
                  </a:lnTo>
                  <a:close/>
                </a:path>
              </a:pathLst>
            </a:custGeom>
            <a:solidFill>
              <a:srgbClr val="415343">
                <a:alpha val="5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05131" y="2414294"/>
              <a:ext cx="2476500" cy="5248275"/>
            </a:xfrm>
            <a:custGeom>
              <a:avLst/>
              <a:gdLst/>
              <a:ahLst/>
              <a:cxnLst/>
              <a:rect l="l" t="t" r="r" b="b"/>
              <a:pathLst>
                <a:path w="2476500" h="5248275">
                  <a:moveTo>
                    <a:pt x="1979890" y="5248206"/>
                  </a:moveTo>
                  <a:lnTo>
                    <a:pt x="599366" y="5248206"/>
                  </a:lnTo>
                  <a:lnTo>
                    <a:pt x="552016" y="5245399"/>
                  </a:lnTo>
                  <a:lnTo>
                    <a:pt x="505257" y="5237186"/>
                  </a:lnTo>
                  <a:lnTo>
                    <a:pt x="459475" y="5223874"/>
                  </a:lnTo>
                  <a:lnTo>
                    <a:pt x="415054" y="5205776"/>
                  </a:lnTo>
                  <a:lnTo>
                    <a:pt x="372379" y="5183199"/>
                  </a:lnTo>
                  <a:lnTo>
                    <a:pt x="331833" y="5156454"/>
                  </a:lnTo>
                  <a:lnTo>
                    <a:pt x="293801" y="5125850"/>
                  </a:lnTo>
                  <a:lnTo>
                    <a:pt x="258668" y="5091697"/>
                  </a:lnTo>
                  <a:lnTo>
                    <a:pt x="226818" y="5054304"/>
                  </a:lnTo>
                  <a:lnTo>
                    <a:pt x="198636" y="5013982"/>
                  </a:lnTo>
                  <a:lnTo>
                    <a:pt x="160435" y="4981678"/>
                  </a:lnTo>
                  <a:lnTo>
                    <a:pt x="125503" y="4945813"/>
                  </a:lnTo>
                  <a:lnTo>
                    <a:pt x="94103" y="4906548"/>
                  </a:lnTo>
                  <a:lnTo>
                    <a:pt x="66757" y="4864444"/>
                  </a:lnTo>
                  <a:lnTo>
                    <a:pt x="43596" y="4819462"/>
                  </a:lnTo>
                  <a:lnTo>
                    <a:pt x="25013" y="4771965"/>
                  </a:lnTo>
                  <a:lnTo>
                    <a:pt x="11335" y="4722213"/>
                  </a:lnTo>
                  <a:lnTo>
                    <a:pt x="2888" y="4670469"/>
                  </a:lnTo>
                  <a:lnTo>
                    <a:pt x="0" y="4616992"/>
                  </a:lnTo>
                  <a:lnTo>
                    <a:pt x="0" y="496237"/>
                  </a:lnTo>
                  <a:lnTo>
                    <a:pt x="2206" y="449894"/>
                  </a:lnTo>
                  <a:lnTo>
                    <a:pt x="8959" y="401979"/>
                  </a:lnTo>
                  <a:lnTo>
                    <a:pt x="19845" y="356979"/>
                  </a:lnTo>
                  <a:lnTo>
                    <a:pt x="34725" y="313675"/>
                  </a:lnTo>
                  <a:lnTo>
                    <a:pt x="53388" y="272277"/>
                  </a:lnTo>
                  <a:lnTo>
                    <a:pt x="75628" y="232992"/>
                  </a:lnTo>
                  <a:lnTo>
                    <a:pt x="101234" y="196030"/>
                  </a:lnTo>
                  <a:lnTo>
                    <a:pt x="129999" y="161599"/>
                  </a:lnTo>
                  <a:lnTo>
                    <a:pt x="161714" y="129906"/>
                  </a:lnTo>
                  <a:lnTo>
                    <a:pt x="196170" y="101162"/>
                  </a:lnTo>
                  <a:lnTo>
                    <a:pt x="233158" y="75574"/>
                  </a:lnTo>
                  <a:lnTo>
                    <a:pt x="272471" y="53350"/>
                  </a:lnTo>
                  <a:lnTo>
                    <a:pt x="313899" y="34700"/>
                  </a:lnTo>
                  <a:lnTo>
                    <a:pt x="357233" y="19831"/>
                  </a:lnTo>
                  <a:lnTo>
                    <a:pt x="402266" y="8953"/>
                  </a:lnTo>
                  <a:lnTo>
                    <a:pt x="448788" y="2273"/>
                  </a:lnTo>
                  <a:lnTo>
                    <a:pt x="496591" y="0"/>
                  </a:lnTo>
                  <a:lnTo>
                    <a:pt x="1856736" y="0"/>
                  </a:lnTo>
                  <a:lnTo>
                    <a:pt x="1909609" y="2806"/>
                  </a:lnTo>
                  <a:lnTo>
                    <a:pt x="1960789" y="11020"/>
                  </a:lnTo>
                  <a:lnTo>
                    <a:pt x="2010015" y="24331"/>
                  </a:lnTo>
                  <a:lnTo>
                    <a:pt x="2049931" y="39698"/>
                  </a:lnTo>
                  <a:lnTo>
                    <a:pt x="496591" y="39698"/>
                  </a:lnTo>
                  <a:lnTo>
                    <a:pt x="450215" y="42078"/>
                  </a:lnTo>
                  <a:lnTo>
                    <a:pt x="405102" y="49057"/>
                  </a:lnTo>
                  <a:lnTo>
                    <a:pt x="361490" y="60398"/>
                  </a:lnTo>
                  <a:lnTo>
                    <a:pt x="319618" y="75862"/>
                  </a:lnTo>
                  <a:lnTo>
                    <a:pt x="279725" y="95210"/>
                  </a:lnTo>
                  <a:lnTo>
                    <a:pt x="242049" y="118205"/>
                  </a:lnTo>
                  <a:lnTo>
                    <a:pt x="206829" y="144607"/>
                  </a:lnTo>
                  <a:lnTo>
                    <a:pt x="174303" y="174179"/>
                  </a:lnTo>
                  <a:lnTo>
                    <a:pt x="144710" y="206681"/>
                  </a:lnTo>
                  <a:lnTo>
                    <a:pt x="118289" y="241876"/>
                  </a:lnTo>
                  <a:lnTo>
                    <a:pt x="95278" y="279526"/>
                  </a:lnTo>
                  <a:lnTo>
                    <a:pt x="75916" y="319390"/>
                  </a:lnTo>
                  <a:lnTo>
                    <a:pt x="60441" y="361232"/>
                  </a:lnTo>
                  <a:lnTo>
                    <a:pt x="49092" y="404813"/>
                  </a:lnTo>
                  <a:lnTo>
                    <a:pt x="42108" y="449894"/>
                  </a:lnTo>
                  <a:lnTo>
                    <a:pt x="39727" y="496237"/>
                  </a:lnTo>
                  <a:lnTo>
                    <a:pt x="39727" y="4616992"/>
                  </a:lnTo>
                  <a:lnTo>
                    <a:pt x="42075" y="4663335"/>
                  </a:lnTo>
                  <a:lnTo>
                    <a:pt x="49092" y="4709556"/>
                  </a:lnTo>
                  <a:lnTo>
                    <a:pt x="60441" y="4753471"/>
                  </a:lnTo>
                  <a:lnTo>
                    <a:pt x="75916" y="4795513"/>
                  </a:lnTo>
                  <a:lnTo>
                    <a:pt x="95278" y="4835462"/>
                  </a:lnTo>
                  <a:lnTo>
                    <a:pt x="118289" y="4873097"/>
                  </a:lnTo>
                  <a:lnTo>
                    <a:pt x="144710" y="4908196"/>
                  </a:lnTo>
                  <a:lnTo>
                    <a:pt x="174303" y="4940539"/>
                  </a:lnTo>
                  <a:lnTo>
                    <a:pt x="206829" y="4969904"/>
                  </a:lnTo>
                  <a:lnTo>
                    <a:pt x="242049" y="4996071"/>
                  </a:lnTo>
                  <a:lnTo>
                    <a:pt x="279725" y="5018818"/>
                  </a:lnTo>
                  <a:lnTo>
                    <a:pt x="319618" y="5037925"/>
                  </a:lnTo>
                  <a:lnTo>
                    <a:pt x="361490" y="5053171"/>
                  </a:lnTo>
                  <a:lnTo>
                    <a:pt x="405102" y="5064335"/>
                  </a:lnTo>
                  <a:lnTo>
                    <a:pt x="439469" y="5069561"/>
                  </a:lnTo>
                  <a:lnTo>
                    <a:pt x="293982" y="5069561"/>
                  </a:lnTo>
                  <a:lnTo>
                    <a:pt x="331565" y="5104757"/>
                  </a:lnTo>
                  <a:lnTo>
                    <a:pt x="372336" y="5135301"/>
                  </a:lnTo>
                  <a:lnTo>
                    <a:pt x="415590" y="5160914"/>
                  </a:lnTo>
                  <a:lnTo>
                    <a:pt x="460624" y="5181320"/>
                  </a:lnTo>
                  <a:lnTo>
                    <a:pt x="506734" y="5196238"/>
                  </a:lnTo>
                  <a:lnTo>
                    <a:pt x="553216" y="5205394"/>
                  </a:lnTo>
                  <a:lnTo>
                    <a:pt x="599366" y="5208507"/>
                  </a:lnTo>
                  <a:lnTo>
                    <a:pt x="2173686" y="5208507"/>
                  </a:lnTo>
                  <a:lnTo>
                    <a:pt x="2162583" y="5213506"/>
                  </a:lnTo>
                  <a:lnTo>
                    <a:pt x="2119248" y="5228374"/>
                  </a:lnTo>
                  <a:lnTo>
                    <a:pt x="2074215" y="5239253"/>
                  </a:lnTo>
                  <a:lnTo>
                    <a:pt x="2027693" y="5245933"/>
                  </a:lnTo>
                  <a:lnTo>
                    <a:pt x="1979890" y="5248206"/>
                  </a:lnTo>
                  <a:close/>
                </a:path>
                <a:path w="2476500" h="5248275">
                  <a:moveTo>
                    <a:pt x="2054504" y="5073530"/>
                  </a:moveTo>
                  <a:lnTo>
                    <a:pt x="1856736" y="5073530"/>
                  </a:lnTo>
                  <a:lnTo>
                    <a:pt x="1903112" y="5071151"/>
                  </a:lnTo>
                  <a:lnTo>
                    <a:pt x="1948225" y="5064172"/>
                  </a:lnTo>
                  <a:lnTo>
                    <a:pt x="1991837" y="5052831"/>
                  </a:lnTo>
                  <a:lnTo>
                    <a:pt x="2033708" y="5037367"/>
                  </a:lnTo>
                  <a:lnTo>
                    <a:pt x="2073602" y="5018019"/>
                  </a:lnTo>
                  <a:lnTo>
                    <a:pt x="2111278" y="4995024"/>
                  </a:lnTo>
                  <a:lnTo>
                    <a:pt x="2146498" y="4968622"/>
                  </a:lnTo>
                  <a:lnTo>
                    <a:pt x="2179023" y="4939050"/>
                  </a:lnTo>
                  <a:lnTo>
                    <a:pt x="2208616" y="4906548"/>
                  </a:lnTo>
                  <a:lnTo>
                    <a:pt x="2235037" y="4871352"/>
                  </a:lnTo>
                  <a:lnTo>
                    <a:pt x="2258048" y="4833703"/>
                  </a:lnTo>
                  <a:lnTo>
                    <a:pt x="2277411" y="4793839"/>
                  </a:lnTo>
                  <a:lnTo>
                    <a:pt x="2292893" y="4751969"/>
                  </a:lnTo>
                  <a:lnTo>
                    <a:pt x="2304234" y="4708416"/>
                  </a:lnTo>
                  <a:lnTo>
                    <a:pt x="2310998" y="4664761"/>
                  </a:lnTo>
                  <a:lnTo>
                    <a:pt x="2311117" y="4663989"/>
                  </a:lnTo>
                  <a:lnTo>
                    <a:pt x="2311219" y="4663335"/>
                  </a:lnTo>
                  <a:lnTo>
                    <a:pt x="2313600" y="4616992"/>
                  </a:lnTo>
                  <a:lnTo>
                    <a:pt x="2313600" y="496237"/>
                  </a:lnTo>
                  <a:lnTo>
                    <a:pt x="2311219" y="449894"/>
                  </a:lnTo>
                  <a:lnTo>
                    <a:pt x="2304234" y="404813"/>
                  </a:lnTo>
                  <a:lnTo>
                    <a:pt x="2292886" y="361232"/>
                  </a:lnTo>
                  <a:lnTo>
                    <a:pt x="2277411" y="319390"/>
                  </a:lnTo>
                  <a:lnTo>
                    <a:pt x="2258048" y="279526"/>
                  </a:lnTo>
                  <a:lnTo>
                    <a:pt x="2235037" y="241876"/>
                  </a:lnTo>
                  <a:lnTo>
                    <a:pt x="2208616" y="206681"/>
                  </a:lnTo>
                  <a:lnTo>
                    <a:pt x="2179023" y="174179"/>
                  </a:lnTo>
                  <a:lnTo>
                    <a:pt x="2146498" y="144607"/>
                  </a:lnTo>
                  <a:lnTo>
                    <a:pt x="2111278" y="118205"/>
                  </a:lnTo>
                  <a:lnTo>
                    <a:pt x="2073602" y="95210"/>
                  </a:lnTo>
                  <a:lnTo>
                    <a:pt x="2033708" y="75862"/>
                  </a:lnTo>
                  <a:lnTo>
                    <a:pt x="1991837" y="60398"/>
                  </a:lnTo>
                  <a:lnTo>
                    <a:pt x="1948225" y="49057"/>
                  </a:lnTo>
                  <a:lnTo>
                    <a:pt x="1903112" y="42078"/>
                  </a:lnTo>
                  <a:lnTo>
                    <a:pt x="1856736" y="39698"/>
                  </a:lnTo>
                  <a:lnTo>
                    <a:pt x="2049931" y="39698"/>
                  </a:lnTo>
                  <a:lnTo>
                    <a:pt x="2101555" y="65007"/>
                  </a:lnTo>
                  <a:lnTo>
                    <a:pt x="2143344" y="91752"/>
                  </a:lnTo>
                  <a:lnTo>
                    <a:pt x="2182130" y="122356"/>
                  </a:lnTo>
                  <a:lnTo>
                    <a:pt x="2217650" y="156509"/>
                  </a:lnTo>
                  <a:lnTo>
                    <a:pt x="2249643" y="193901"/>
                  </a:lnTo>
                  <a:lnTo>
                    <a:pt x="2277845" y="234224"/>
                  </a:lnTo>
                  <a:lnTo>
                    <a:pt x="2316047" y="266527"/>
                  </a:lnTo>
                  <a:lnTo>
                    <a:pt x="2350978" y="302393"/>
                  </a:lnTo>
                  <a:lnTo>
                    <a:pt x="2375843" y="333471"/>
                  </a:lnTo>
                  <a:lnTo>
                    <a:pt x="2329491" y="333471"/>
                  </a:lnTo>
                  <a:lnTo>
                    <a:pt x="2340540" y="372860"/>
                  </a:lnTo>
                  <a:lnTo>
                    <a:pt x="2349354" y="413365"/>
                  </a:lnTo>
                  <a:lnTo>
                    <a:pt x="2355189" y="454615"/>
                  </a:lnTo>
                  <a:lnTo>
                    <a:pt x="2357300" y="496237"/>
                  </a:lnTo>
                  <a:lnTo>
                    <a:pt x="2357300" y="4616992"/>
                  </a:lnTo>
                  <a:lnTo>
                    <a:pt x="2355093" y="4663335"/>
                  </a:lnTo>
                  <a:lnTo>
                    <a:pt x="2348340" y="4711250"/>
                  </a:lnTo>
                  <a:lnTo>
                    <a:pt x="2337454" y="4756250"/>
                  </a:lnTo>
                  <a:lnTo>
                    <a:pt x="2322575" y="4799554"/>
                  </a:lnTo>
                  <a:lnTo>
                    <a:pt x="2303911" y="4840952"/>
                  </a:lnTo>
                  <a:lnTo>
                    <a:pt x="2281672" y="4880237"/>
                  </a:lnTo>
                  <a:lnTo>
                    <a:pt x="2256065" y="4917199"/>
                  </a:lnTo>
                  <a:lnTo>
                    <a:pt x="2227300" y="4951630"/>
                  </a:lnTo>
                  <a:lnTo>
                    <a:pt x="2195585" y="4983322"/>
                  </a:lnTo>
                  <a:lnTo>
                    <a:pt x="2161129" y="5012067"/>
                  </a:lnTo>
                  <a:lnTo>
                    <a:pt x="2124141" y="5037655"/>
                  </a:lnTo>
                  <a:lnTo>
                    <a:pt x="2084828" y="5059879"/>
                  </a:lnTo>
                  <a:lnTo>
                    <a:pt x="2054504" y="5073530"/>
                  </a:lnTo>
                  <a:close/>
                </a:path>
                <a:path w="2476500" h="5248275">
                  <a:moveTo>
                    <a:pt x="2173686" y="5208507"/>
                  </a:moveTo>
                  <a:lnTo>
                    <a:pt x="1979890" y="5208507"/>
                  </a:lnTo>
                  <a:lnTo>
                    <a:pt x="2026311" y="5206128"/>
                  </a:lnTo>
                  <a:lnTo>
                    <a:pt x="2071550" y="5199148"/>
                  </a:lnTo>
                  <a:lnTo>
                    <a:pt x="2115358" y="5187807"/>
                  </a:lnTo>
                  <a:lnTo>
                    <a:pt x="2157484" y="5172344"/>
                  </a:lnTo>
                  <a:lnTo>
                    <a:pt x="2197678" y="5152995"/>
                  </a:lnTo>
                  <a:lnTo>
                    <a:pt x="2235689" y="5130001"/>
                  </a:lnTo>
                  <a:lnTo>
                    <a:pt x="2271268" y="5103598"/>
                  </a:lnTo>
                  <a:lnTo>
                    <a:pt x="2304165" y="5074027"/>
                  </a:lnTo>
                  <a:lnTo>
                    <a:pt x="2334128" y="5041524"/>
                  </a:lnTo>
                  <a:lnTo>
                    <a:pt x="2360908" y="5006329"/>
                  </a:lnTo>
                  <a:lnTo>
                    <a:pt x="2384283" y="4968622"/>
                  </a:lnTo>
                  <a:lnTo>
                    <a:pt x="2403917" y="4928815"/>
                  </a:lnTo>
                  <a:lnTo>
                    <a:pt x="2419646" y="4886973"/>
                  </a:lnTo>
                  <a:lnTo>
                    <a:pt x="2431191" y="4843393"/>
                  </a:lnTo>
                  <a:lnTo>
                    <a:pt x="2438301" y="4798312"/>
                  </a:lnTo>
                  <a:lnTo>
                    <a:pt x="2440649" y="4753471"/>
                  </a:lnTo>
                  <a:lnTo>
                    <a:pt x="2440727" y="631213"/>
                  </a:lnTo>
                  <a:lnTo>
                    <a:pt x="2438110" y="582637"/>
                  </a:lnTo>
                  <a:lnTo>
                    <a:pt x="2430488" y="535728"/>
                  </a:lnTo>
                  <a:lnTo>
                    <a:pt x="2418211" y="490693"/>
                  </a:lnTo>
                  <a:lnTo>
                    <a:pt x="2401625" y="447742"/>
                  </a:lnTo>
                  <a:lnTo>
                    <a:pt x="2381078" y="407082"/>
                  </a:lnTo>
                  <a:lnTo>
                    <a:pt x="2356918" y="368922"/>
                  </a:lnTo>
                  <a:lnTo>
                    <a:pt x="2329491" y="333471"/>
                  </a:lnTo>
                  <a:lnTo>
                    <a:pt x="2375843" y="333471"/>
                  </a:lnTo>
                  <a:lnTo>
                    <a:pt x="2409725" y="383762"/>
                  </a:lnTo>
                  <a:lnTo>
                    <a:pt x="2432885" y="428743"/>
                  </a:lnTo>
                  <a:lnTo>
                    <a:pt x="2451468" y="476240"/>
                  </a:lnTo>
                  <a:lnTo>
                    <a:pt x="2465147" y="525992"/>
                  </a:lnTo>
                  <a:lnTo>
                    <a:pt x="2473594" y="577737"/>
                  </a:lnTo>
                  <a:lnTo>
                    <a:pt x="2476482" y="631213"/>
                  </a:lnTo>
                  <a:lnTo>
                    <a:pt x="2476410" y="4753471"/>
                  </a:lnTo>
                  <a:lnTo>
                    <a:pt x="2474275" y="4798312"/>
                  </a:lnTo>
                  <a:lnTo>
                    <a:pt x="2467522" y="4846226"/>
                  </a:lnTo>
                  <a:lnTo>
                    <a:pt x="2456636" y="4891227"/>
                  </a:lnTo>
                  <a:lnTo>
                    <a:pt x="2441757" y="4934531"/>
                  </a:lnTo>
                  <a:lnTo>
                    <a:pt x="2423093" y="4975929"/>
                  </a:lnTo>
                  <a:lnTo>
                    <a:pt x="2400854" y="5015213"/>
                  </a:lnTo>
                  <a:lnTo>
                    <a:pt x="2375247" y="5052176"/>
                  </a:lnTo>
                  <a:lnTo>
                    <a:pt x="2346482" y="5086607"/>
                  </a:lnTo>
                  <a:lnTo>
                    <a:pt x="2314767" y="5118299"/>
                  </a:lnTo>
                  <a:lnTo>
                    <a:pt x="2280311" y="5147043"/>
                  </a:lnTo>
                  <a:lnTo>
                    <a:pt x="2243323" y="5172632"/>
                  </a:lnTo>
                  <a:lnTo>
                    <a:pt x="2204010" y="5194855"/>
                  </a:lnTo>
                  <a:lnTo>
                    <a:pt x="2173686" y="5208507"/>
                  </a:lnTo>
                  <a:close/>
                </a:path>
                <a:path w="2476500" h="5248275">
                  <a:moveTo>
                    <a:pt x="1860708" y="5113229"/>
                  </a:moveTo>
                  <a:lnTo>
                    <a:pt x="500564" y="5113229"/>
                  </a:lnTo>
                  <a:lnTo>
                    <a:pt x="445380" y="5110314"/>
                  </a:lnTo>
                  <a:lnTo>
                    <a:pt x="392803" y="5101816"/>
                  </a:lnTo>
                  <a:lnTo>
                    <a:pt x="342461" y="5088107"/>
                  </a:lnTo>
                  <a:lnTo>
                    <a:pt x="293982" y="5069561"/>
                  </a:lnTo>
                  <a:lnTo>
                    <a:pt x="439469" y="5069561"/>
                  </a:lnTo>
                  <a:lnTo>
                    <a:pt x="449928" y="5071151"/>
                  </a:lnTo>
                  <a:lnTo>
                    <a:pt x="449349" y="5071151"/>
                  </a:lnTo>
                  <a:lnTo>
                    <a:pt x="496591" y="5073530"/>
                  </a:lnTo>
                  <a:lnTo>
                    <a:pt x="2054504" y="5073530"/>
                  </a:lnTo>
                  <a:lnTo>
                    <a:pt x="2043401" y="5078529"/>
                  </a:lnTo>
                  <a:lnTo>
                    <a:pt x="2000066" y="5093398"/>
                  </a:lnTo>
                  <a:lnTo>
                    <a:pt x="1955033" y="5104276"/>
                  </a:lnTo>
                  <a:lnTo>
                    <a:pt x="1908511" y="5110956"/>
                  </a:lnTo>
                  <a:lnTo>
                    <a:pt x="1860708" y="5113229"/>
                  </a:lnTo>
                  <a:close/>
                </a:path>
              </a:pathLst>
            </a:custGeom>
            <a:solidFill>
              <a:srgbClr val="E9E8E3">
                <a:alpha val="5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623420" y="2656280"/>
            <a:ext cx="2228215" cy="2711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solidFill>
                  <a:srgbClr val="E9E8E3"/>
                </a:solidFill>
                <a:latin typeface="Verdana"/>
                <a:cs typeface="Verdana"/>
              </a:rPr>
              <a:t>Calcul</a:t>
            </a:r>
            <a:r>
              <a:rPr sz="2550" spc="-35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550" spc="30" dirty="0">
                <a:solidFill>
                  <a:srgbClr val="E9E8E3"/>
                </a:solidFill>
                <a:latin typeface="Verdana"/>
                <a:cs typeface="Verdana"/>
              </a:rPr>
              <a:t>des </a:t>
            </a:r>
            <a:r>
              <a:rPr sz="2550" spc="-10" dirty="0">
                <a:solidFill>
                  <a:srgbClr val="E9E8E3"/>
                </a:solidFill>
                <a:latin typeface="Verdana"/>
                <a:cs typeface="Verdana"/>
              </a:rPr>
              <a:t>pourcentages </a:t>
            </a:r>
            <a:r>
              <a:rPr sz="2550" dirty="0">
                <a:solidFill>
                  <a:srgbClr val="E9E8E3"/>
                </a:solidFill>
                <a:latin typeface="Verdana"/>
                <a:cs typeface="Verdana"/>
              </a:rPr>
              <a:t>de</a:t>
            </a:r>
            <a:r>
              <a:rPr sz="2550" spc="-95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550" spc="-10" dirty="0">
                <a:solidFill>
                  <a:srgbClr val="E9E8E3"/>
                </a:solidFill>
                <a:latin typeface="Verdana"/>
                <a:cs typeface="Verdana"/>
              </a:rPr>
              <a:t>chaque </a:t>
            </a:r>
            <a:r>
              <a:rPr sz="2550" spc="-65" dirty="0">
                <a:solidFill>
                  <a:srgbClr val="E9E8E3"/>
                </a:solidFill>
                <a:latin typeface="Verdana"/>
                <a:cs typeface="Verdana"/>
              </a:rPr>
              <a:t>variable</a:t>
            </a:r>
            <a:r>
              <a:rPr sz="2550" spc="-175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550" spc="-25" dirty="0">
                <a:solidFill>
                  <a:srgbClr val="E9E8E3"/>
                </a:solidFill>
                <a:latin typeface="Verdana"/>
                <a:cs typeface="Verdana"/>
              </a:rPr>
              <a:t>en </a:t>
            </a:r>
            <a:r>
              <a:rPr sz="2550" spc="-10" dirty="0">
                <a:solidFill>
                  <a:srgbClr val="E9E8E3"/>
                </a:solidFill>
                <a:latin typeface="Verdana"/>
                <a:cs typeface="Verdana"/>
              </a:rPr>
              <a:t>fonction</a:t>
            </a:r>
            <a:r>
              <a:rPr sz="2550" spc="-150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E9E8E3"/>
                </a:solidFill>
                <a:latin typeface="Verdana"/>
                <a:cs typeface="Verdana"/>
              </a:rPr>
              <a:t>de</a:t>
            </a:r>
            <a:r>
              <a:rPr sz="2550" spc="-150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550" spc="-25" dirty="0">
                <a:solidFill>
                  <a:srgbClr val="E9E8E3"/>
                </a:solidFill>
                <a:latin typeface="Verdana"/>
                <a:cs typeface="Verdana"/>
              </a:rPr>
              <a:t>la </a:t>
            </a:r>
            <a:r>
              <a:rPr sz="2550" dirty="0">
                <a:solidFill>
                  <a:srgbClr val="E9E8E3"/>
                </a:solidFill>
                <a:latin typeface="Verdana"/>
                <a:cs typeface="Verdana"/>
              </a:rPr>
              <a:t>surface</a:t>
            </a:r>
            <a:r>
              <a:rPr sz="2550" spc="-185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550" spc="-10" dirty="0">
                <a:solidFill>
                  <a:srgbClr val="E9E8E3"/>
                </a:solidFill>
                <a:latin typeface="Verdana"/>
                <a:cs typeface="Verdana"/>
              </a:rPr>
              <a:t>totale</a:t>
            </a:r>
            <a:endParaRPr sz="25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91444" y="5701202"/>
            <a:ext cx="2155190" cy="108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215265">
              <a:lnSpc>
                <a:spcPct val="116199"/>
              </a:lnSpc>
              <a:spcBef>
                <a:spcPts val="110"/>
              </a:spcBef>
            </a:pPr>
            <a:r>
              <a:rPr sz="2000" spc="-35" dirty="0" err="1">
                <a:solidFill>
                  <a:srgbClr val="E9E8E3"/>
                </a:solidFill>
                <a:latin typeface="Verdana"/>
                <a:cs typeface="Verdana"/>
              </a:rPr>
              <a:t>Création</a:t>
            </a:r>
            <a:r>
              <a:rPr sz="2000" spc="-120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endParaRPr lang="fr-FR" sz="2000" spc="-120" dirty="0">
              <a:solidFill>
                <a:srgbClr val="E9E8E3"/>
              </a:solidFill>
              <a:latin typeface="Verdana"/>
              <a:cs typeface="Verdana"/>
            </a:endParaRPr>
          </a:p>
          <a:p>
            <a:pPr marL="12700" marR="5080" indent="215265">
              <a:lnSpc>
                <a:spcPct val="116199"/>
              </a:lnSpc>
              <a:spcBef>
                <a:spcPts val="110"/>
              </a:spcBef>
            </a:pPr>
            <a:r>
              <a:rPr sz="2000" spc="-25" dirty="0">
                <a:solidFill>
                  <a:srgbClr val="E9E8E3"/>
                </a:solidFill>
                <a:latin typeface="Verdana"/>
                <a:cs typeface="Verdana"/>
              </a:rPr>
              <a:t>et </a:t>
            </a:r>
            <a:r>
              <a:rPr sz="2000" spc="-10" dirty="0">
                <a:solidFill>
                  <a:srgbClr val="E9E8E3"/>
                </a:solidFill>
                <a:latin typeface="Verdana"/>
                <a:cs typeface="Verdana"/>
              </a:rPr>
              <a:t>suppression</a:t>
            </a:r>
            <a:r>
              <a:rPr sz="2000" spc="-114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E9E8E3"/>
                </a:solidFill>
                <a:latin typeface="Verdana"/>
                <a:cs typeface="Verdana"/>
              </a:rPr>
              <a:t>de</a:t>
            </a:r>
            <a:r>
              <a:rPr sz="2000" spc="-114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E9E8E3"/>
                </a:solidFill>
                <a:latin typeface="Verdana"/>
                <a:cs typeface="Verdana"/>
              </a:rPr>
              <a:t>7 </a:t>
            </a:r>
            <a:r>
              <a:rPr sz="2000" spc="-10" dirty="0">
                <a:solidFill>
                  <a:srgbClr val="E9E8E3"/>
                </a:solidFill>
                <a:latin typeface="Verdana"/>
                <a:cs typeface="Verdana"/>
              </a:rPr>
              <a:t>variables</a:t>
            </a:r>
            <a:endParaRPr sz="2000" dirty="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975771" y="2414341"/>
            <a:ext cx="2952750" cy="5248275"/>
            <a:chOff x="10975771" y="2414341"/>
            <a:chExt cx="2952750" cy="5248275"/>
          </a:xfrm>
        </p:grpSpPr>
        <p:sp>
          <p:nvSpPr>
            <p:cNvPr id="24" name="object 24"/>
            <p:cNvSpPr/>
            <p:nvPr/>
          </p:nvSpPr>
          <p:spPr>
            <a:xfrm>
              <a:off x="11265534" y="2747807"/>
              <a:ext cx="2627630" cy="4875530"/>
            </a:xfrm>
            <a:custGeom>
              <a:avLst/>
              <a:gdLst/>
              <a:ahLst/>
              <a:cxnLst/>
              <a:rect l="l" t="t" r="r" b="b"/>
              <a:pathLst>
                <a:path w="2627630" h="4875530">
                  <a:moveTo>
                    <a:pt x="2170765" y="4874948"/>
                  </a:moveTo>
                  <a:lnTo>
                    <a:pt x="310920" y="4874948"/>
                  </a:lnTo>
                  <a:lnTo>
                    <a:pt x="262664" y="4871834"/>
                  </a:lnTo>
                  <a:lnTo>
                    <a:pt x="214684" y="4862680"/>
                  </a:lnTo>
                  <a:lnTo>
                    <a:pt x="167582" y="4847761"/>
                  </a:lnTo>
                  <a:lnTo>
                    <a:pt x="121961" y="4827356"/>
                  </a:lnTo>
                  <a:lnTo>
                    <a:pt x="78422" y="4801743"/>
                  </a:lnTo>
                  <a:lnTo>
                    <a:pt x="37568" y="4771200"/>
                  </a:lnTo>
                  <a:lnTo>
                    <a:pt x="0" y="4736004"/>
                  </a:lnTo>
                  <a:lnTo>
                    <a:pt x="48996" y="4754550"/>
                  </a:lnTo>
                  <a:lnTo>
                    <a:pt x="100226" y="4768259"/>
                  </a:lnTo>
                  <a:lnTo>
                    <a:pt x="152944" y="4776757"/>
                  </a:lnTo>
                  <a:lnTo>
                    <a:pt x="206406" y="4779672"/>
                  </a:lnTo>
                  <a:lnTo>
                    <a:pt x="2051685" y="4779672"/>
                  </a:lnTo>
                  <a:lnTo>
                    <a:pt x="2096305" y="4777399"/>
                  </a:lnTo>
                  <a:lnTo>
                    <a:pt x="2140324" y="4770719"/>
                  </a:lnTo>
                  <a:lnTo>
                    <a:pt x="2183471" y="4759841"/>
                  </a:lnTo>
                  <a:lnTo>
                    <a:pt x="2225474" y="4744972"/>
                  </a:lnTo>
                  <a:lnTo>
                    <a:pt x="2266061" y="4726322"/>
                  </a:lnTo>
                  <a:lnTo>
                    <a:pt x="2304961" y="4704099"/>
                  </a:lnTo>
                  <a:lnTo>
                    <a:pt x="2341903" y="4678511"/>
                  </a:lnTo>
                  <a:lnTo>
                    <a:pt x="2376615" y="4649767"/>
                  </a:lnTo>
                  <a:lnTo>
                    <a:pt x="2408826" y="4618076"/>
                  </a:lnTo>
                  <a:lnTo>
                    <a:pt x="2438263" y="4583645"/>
                  </a:lnTo>
                  <a:lnTo>
                    <a:pt x="2464657" y="4546684"/>
                  </a:lnTo>
                  <a:lnTo>
                    <a:pt x="2487735" y="4507400"/>
                  </a:lnTo>
                  <a:lnTo>
                    <a:pt x="2507225" y="4466002"/>
                  </a:lnTo>
                  <a:lnTo>
                    <a:pt x="2522857" y="4422699"/>
                  </a:lnTo>
                  <a:lnTo>
                    <a:pt x="2534359" y="4377700"/>
                  </a:lnTo>
                  <a:lnTo>
                    <a:pt x="2541459" y="4331212"/>
                  </a:lnTo>
                  <a:lnTo>
                    <a:pt x="2543886" y="4283444"/>
                  </a:lnTo>
                  <a:lnTo>
                    <a:pt x="2543886" y="162762"/>
                  </a:lnTo>
                  <a:lnTo>
                    <a:pt x="2542335" y="121141"/>
                  </a:lnTo>
                  <a:lnTo>
                    <a:pt x="2537436" y="79892"/>
                  </a:lnTo>
                  <a:lnTo>
                    <a:pt x="2528815" y="39388"/>
                  </a:lnTo>
                  <a:lnTo>
                    <a:pt x="2516100" y="0"/>
                  </a:lnTo>
                  <a:lnTo>
                    <a:pt x="2543504" y="35450"/>
                  </a:lnTo>
                  <a:lnTo>
                    <a:pt x="2567644" y="73609"/>
                  </a:lnTo>
                  <a:lnTo>
                    <a:pt x="2588174" y="114268"/>
                  </a:lnTo>
                  <a:lnTo>
                    <a:pt x="2604745" y="157219"/>
                  </a:lnTo>
                  <a:lnTo>
                    <a:pt x="2617012" y="202252"/>
                  </a:lnTo>
                  <a:lnTo>
                    <a:pt x="2624627" y="249161"/>
                  </a:lnTo>
                  <a:lnTo>
                    <a:pt x="2627242" y="297737"/>
                  </a:lnTo>
                  <a:lnTo>
                    <a:pt x="2627242" y="4418418"/>
                  </a:lnTo>
                  <a:lnTo>
                    <a:pt x="2624863" y="4464760"/>
                  </a:lnTo>
                  <a:lnTo>
                    <a:pt x="2617885" y="4509840"/>
                  </a:lnTo>
                  <a:lnTo>
                    <a:pt x="2606546" y="4553420"/>
                  </a:lnTo>
                  <a:lnTo>
                    <a:pt x="2591084" y="4595261"/>
                  </a:lnTo>
                  <a:lnTo>
                    <a:pt x="2571738" y="4635125"/>
                  </a:lnTo>
                  <a:lnTo>
                    <a:pt x="2548747" y="4672774"/>
                  </a:lnTo>
                  <a:lnTo>
                    <a:pt x="2522348" y="4707968"/>
                  </a:lnTo>
                  <a:lnTo>
                    <a:pt x="2492780" y="4740470"/>
                  </a:lnTo>
                  <a:lnTo>
                    <a:pt x="2460282" y="4770041"/>
                  </a:lnTo>
                  <a:lnTo>
                    <a:pt x="2425092" y="4796443"/>
                  </a:lnTo>
                  <a:lnTo>
                    <a:pt x="2387448" y="4819437"/>
                  </a:lnTo>
                  <a:lnTo>
                    <a:pt x="2347588" y="4838785"/>
                  </a:lnTo>
                  <a:lnTo>
                    <a:pt x="2305752" y="4854249"/>
                  </a:lnTo>
                  <a:lnTo>
                    <a:pt x="2262177" y="4865589"/>
                  </a:lnTo>
                  <a:lnTo>
                    <a:pt x="2217102" y="4872568"/>
                  </a:lnTo>
                  <a:lnTo>
                    <a:pt x="2170765" y="4874948"/>
                  </a:lnTo>
                  <a:close/>
                </a:path>
              </a:pathLst>
            </a:custGeom>
            <a:solidFill>
              <a:srgbClr val="E9E8E3">
                <a:alpha val="5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015444" y="2454040"/>
              <a:ext cx="2750820" cy="5034280"/>
            </a:xfrm>
            <a:custGeom>
              <a:avLst/>
              <a:gdLst/>
              <a:ahLst/>
              <a:cxnLst/>
              <a:rect l="l" t="t" r="r" b="b"/>
              <a:pathLst>
                <a:path w="2750819" h="5034280">
                  <a:moveTo>
                    <a:pt x="2293816" y="5033741"/>
                  </a:moveTo>
                  <a:lnTo>
                    <a:pt x="456476" y="5033741"/>
                  </a:lnTo>
                  <a:lnTo>
                    <a:pt x="410140" y="5031405"/>
                  </a:lnTo>
                  <a:lnTo>
                    <a:pt x="365065" y="5024545"/>
                  </a:lnTo>
                  <a:lnTo>
                    <a:pt x="321490" y="5013382"/>
                  </a:lnTo>
                  <a:lnTo>
                    <a:pt x="279654" y="4998137"/>
                  </a:lnTo>
                  <a:lnTo>
                    <a:pt x="239794" y="4979030"/>
                  </a:lnTo>
                  <a:lnTo>
                    <a:pt x="202150" y="4956283"/>
                  </a:lnTo>
                  <a:lnTo>
                    <a:pt x="166960" y="4930116"/>
                  </a:lnTo>
                  <a:lnTo>
                    <a:pt x="134462" y="4900752"/>
                  </a:lnTo>
                  <a:lnTo>
                    <a:pt x="104894" y="4868410"/>
                  </a:lnTo>
                  <a:lnTo>
                    <a:pt x="78495" y="4833311"/>
                  </a:lnTo>
                  <a:lnTo>
                    <a:pt x="55504" y="4795677"/>
                  </a:lnTo>
                  <a:lnTo>
                    <a:pt x="36158" y="4755729"/>
                  </a:lnTo>
                  <a:lnTo>
                    <a:pt x="20696" y="4713687"/>
                  </a:lnTo>
                  <a:lnTo>
                    <a:pt x="9357" y="4669773"/>
                  </a:lnTo>
                  <a:lnTo>
                    <a:pt x="2379" y="4624207"/>
                  </a:lnTo>
                  <a:lnTo>
                    <a:pt x="0" y="4577211"/>
                  </a:lnTo>
                  <a:lnTo>
                    <a:pt x="0" y="456530"/>
                  </a:lnTo>
                  <a:lnTo>
                    <a:pt x="2379" y="410188"/>
                  </a:lnTo>
                  <a:lnTo>
                    <a:pt x="9357" y="365107"/>
                  </a:lnTo>
                  <a:lnTo>
                    <a:pt x="20696" y="321527"/>
                  </a:lnTo>
                  <a:lnTo>
                    <a:pt x="36158" y="279686"/>
                  </a:lnTo>
                  <a:lnTo>
                    <a:pt x="55504" y="239822"/>
                  </a:lnTo>
                  <a:lnTo>
                    <a:pt x="78495" y="202174"/>
                  </a:lnTo>
                  <a:lnTo>
                    <a:pt x="104894" y="166979"/>
                  </a:lnTo>
                  <a:lnTo>
                    <a:pt x="134462" y="134477"/>
                  </a:lnTo>
                  <a:lnTo>
                    <a:pt x="166960" y="104906"/>
                  </a:lnTo>
                  <a:lnTo>
                    <a:pt x="202150" y="78504"/>
                  </a:lnTo>
                  <a:lnTo>
                    <a:pt x="239794" y="55510"/>
                  </a:lnTo>
                  <a:lnTo>
                    <a:pt x="279654" y="36162"/>
                  </a:lnTo>
                  <a:lnTo>
                    <a:pt x="321490" y="20699"/>
                  </a:lnTo>
                  <a:lnTo>
                    <a:pt x="365065" y="9358"/>
                  </a:lnTo>
                  <a:lnTo>
                    <a:pt x="410140" y="2379"/>
                  </a:lnTo>
                  <a:lnTo>
                    <a:pt x="456476" y="0"/>
                  </a:lnTo>
                  <a:lnTo>
                    <a:pt x="2293816" y="0"/>
                  </a:lnTo>
                  <a:lnTo>
                    <a:pt x="2340152" y="2379"/>
                  </a:lnTo>
                  <a:lnTo>
                    <a:pt x="2385227" y="9358"/>
                  </a:lnTo>
                  <a:lnTo>
                    <a:pt x="2428802" y="20699"/>
                  </a:lnTo>
                  <a:lnTo>
                    <a:pt x="2470639" y="36162"/>
                  </a:lnTo>
                  <a:lnTo>
                    <a:pt x="2510498" y="55510"/>
                  </a:lnTo>
                  <a:lnTo>
                    <a:pt x="2548142" y="78504"/>
                  </a:lnTo>
                  <a:lnTo>
                    <a:pt x="2583332" y="104906"/>
                  </a:lnTo>
                  <a:lnTo>
                    <a:pt x="2615830" y="134477"/>
                  </a:lnTo>
                  <a:lnTo>
                    <a:pt x="2645398" y="166979"/>
                  </a:lnTo>
                  <a:lnTo>
                    <a:pt x="2671797" y="202174"/>
                  </a:lnTo>
                  <a:lnTo>
                    <a:pt x="2694788" y="239822"/>
                  </a:lnTo>
                  <a:lnTo>
                    <a:pt x="2714134" y="279686"/>
                  </a:lnTo>
                  <a:lnTo>
                    <a:pt x="2729596" y="321527"/>
                  </a:lnTo>
                  <a:lnTo>
                    <a:pt x="2740935" y="365107"/>
                  </a:lnTo>
                  <a:lnTo>
                    <a:pt x="2747914" y="410188"/>
                  </a:lnTo>
                  <a:lnTo>
                    <a:pt x="2750293" y="456530"/>
                  </a:lnTo>
                  <a:lnTo>
                    <a:pt x="2750293" y="4577211"/>
                  </a:lnTo>
                  <a:lnTo>
                    <a:pt x="2747914" y="4623553"/>
                  </a:lnTo>
                  <a:lnTo>
                    <a:pt x="2740935" y="4668633"/>
                  </a:lnTo>
                  <a:lnTo>
                    <a:pt x="2729596" y="4712213"/>
                  </a:lnTo>
                  <a:lnTo>
                    <a:pt x="2714134" y="4754054"/>
                  </a:lnTo>
                  <a:lnTo>
                    <a:pt x="2694788" y="4793918"/>
                  </a:lnTo>
                  <a:lnTo>
                    <a:pt x="2671797" y="4831567"/>
                  </a:lnTo>
                  <a:lnTo>
                    <a:pt x="2645398" y="4866761"/>
                  </a:lnTo>
                  <a:lnTo>
                    <a:pt x="2615830" y="4899263"/>
                  </a:lnTo>
                  <a:lnTo>
                    <a:pt x="2583332" y="4928834"/>
                  </a:lnTo>
                  <a:lnTo>
                    <a:pt x="2548142" y="4955236"/>
                  </a:lnTo>
                  <a:lnTo>
                    <a:pt x="2510498" y="4978230"/>
                  </a:lnTo>
                  <a:lnTo>
                    <a:pt x="2470639" y="4997578"/>
                  </a:lnTo>
                  <a:lnTo>
                    <a:pt x="2428802" y="5013042"/>
                  </a:lnTo>
                  <a:lnTo>
                    <a:pt x="2385227" y="5024382"/>
                  </a:lnTo>
                  <a:lnTo>
                    <a:pt x="2340152" y="5031362"/>
                  </a:lnTo>
                  <a:lnTo>
                    <a:pt x="2293816" y="5033741"/>
                  </a:lnTo>
                  <a:close/>
                </a:path>
              </a:pathLst>
            </a:custGeom>
            <a:solidFill>
              <a:srgbClr val="415343">
                <a:alpha val="5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975771" y="2414341"/>
              <a:ext cx="2952750" cy="5248275"/>
            </a:xfrm>
            <a:custGeom>
              <a:avLst/>
              <a:gdLst/>
              <a:ahLst/>
              <a:cxnLst/>
              <a:rect l="l" t="t" r="r" b="b"/>
              <a:pathLst>
                <a:path w="2952750" h="5248275">
                  <a:moveTo>
                    <a:pt x="2456560" y="5248111"/>
                  </a:moveTo>
                  <a:lnTo>
                    <a:pt x="602390" y="5248111"/>
                  </a:lnTo>
                  <a:lnTo>
                    <a:pt x="554123" y="5245305"/>
                  </a:lnTo>
                  <a:lnTo>
                    <a:pt x="506638" y="5237091"/>
                  </a:lnTo>
                  <a:lnTo>
                    <a:pt x="460298" y="5223780"/>
                  </a:lnTo>
                  <a:lnTo>
                    <a:pt x="415466" y="5205682"/>
                  </a:lnTo>
                  <a:lnTo>
                    <a:pt x="372504" y="5183105"/>
                  </a:lnTo>
                  <a:lnTo>
                    <a:pt x="331777" y="5156361"/>
                  </a:lnTo>
                  <a:lnTo>
                    <a:pt x="293647" y="5125757"/>
                  </a:lnTo>
                  <a:lnTo>
                    <a:pt x="258477" y="5091605"/>
                  </a:lnTo>
                  <a:lnTo>
                    <a:pt x="226629" y="5054213"/>
                  </a:lnTo>
                  <a:lnTo>
                    <a:pt x="198468" y="5013892"/>
                  </a:lnTo>
                  <a:lnTo>
                    <a:pt x="160299" y="4981588"/>
                  </a:lnTo>
                  <a:lnTo>
                    <a:pt x="125397" y="4945724"/>
                  </a:lnTo>
                  <a:lnTo>
                    <a:pt x="94023" y="4906459"/>
                  </a:lnTo>
                  <a:lnTo>
                    <a:pt x="66700" y="4864356"/>
                  </a:lnTo>
                  <a:lnTo>
                    <a:pt x="43559" y="4819375"/>
                  </a:lnTo>
                  <a:lnTo>
                    <a:pt x="24992" y="4771879"/>
                  </a:lnTo>
                  <a:lnTo>
                    <a:pt x="11325" y="4722128"/>
                  </a:lnTo>
                  <a:lnTo>
                    <a:pt x="2885" y="4670384"/>
                  </a:lnTo>
                  <a:lnTo>
                    <a:pt x="0" y="4616909"/>
                  </a:lnTo>
                  <a:lnTo>
                    <a:pt x="0" y="496228"/>
                  </a:lnTo>
                  <a:lnTo>
                    <a:pt x="2204" y="449886"/>
                  </a:lnTo>
                  <a:lnTo>
                    <a:pt x="2272" y="448460"/>
                  </a:lnTo>
                  <a:lnTo>
                    <a:pt x="8951" y="401972"/>
                  </a:lnTo>
                  <a:lnTo>
                    <a:pt x="19829" y="356972"/>
                  </a:lnTo>
                  <a:lnTo>
                    <a:pt x="34695" y="313669"/>
                  </a:lnTo>
                  <a:lnTo>
                    <a:pt x="53343" y="272272"/>
                  </a:lnTo>
                  <a:lnTo>
                    <a:pt x="75564" y="232988"/>
                  </a:lnTo>
                  <a:lnTo>
                    <a:pt x="101148" y="196026"/>
                  </a:lnTo>
                  <a:lnTo>
                    <a:pt x="129889" y="161596"/>
                  </a:lnTo>
                  <a:lnTo>
                    <a:pt x="161577" y="129904"/>
                  </a:lnTo>
                  <a:lnTo>
                    <a:pt x="196004" y="101160"/>
                  </a:lnTo>
                  <a:lnTo>
                    <a:pt x="232961" y="75572"/>
                  </a:lnTo>
                  <a:lnTo>
                    <a:pt x="272240" y="53349"/>
                  </a:lnTo>
                  <a:lnTo>
                    <a:pt x="313633" y="34699"/>
                  </a:lnTo>
                  <a:lnTo>
                    <a:pt x="356930" y="19831"/>
                  </a:lnTo>
                  <a:lnTo>
                    <a:pt x="401925" y="8952"/>
                  </a:lnTo>
                  <a:lnTo>
                    <a:pt x="448408" y="2272"/>
                  </a:lnTo>
                  <a:lnTo>
                    <a:pt x="496170" y="0"/>
                  </a:lnTo>
                  <a:lnTo>
                    <a:pt x="2333509" y="0"/>
                  </a:lnTo>
                  <a:lnTo>
                    <a:pt x="2386338" y="2806"/>
                  </a:lnTo>
                  <a:lnTo>
                    <a:pt x="2437475" y="11020"/>
                  </a:lnTo>
                  <a:lnTo>
                    <a:pt x="2486659" y="24331"/>
                  </a:lnTo>
                  <a:lnTo>
                    <a:pt x="2526541" y="39698"/>
                  </a:lnTo>
                  <a:lnTo>
                    <a:pt x="496170" y="39698"/>
                  </a:lnTo>
                  <a:lnTo>
                    <a:pt x="449833" y="42077"/>
                  </a:lnTo>
                  <a:lnTo>
                    <a:pt x="404758" y="49056"/>
                  </a:lnTo>
                  <a:lnTo>
                    <a:pt x="361184" y="60397"/>
                  </a:lnTo>
                  <a:lnTo>
                    <a:pt x="319347" y="75860"/>
                  </a:lnTo>
                  <a:lnTo>
                    <a:pt x="279488" y="95208"/>
                  </a:lnTo>
                  <a:lnTo>
                    <a:pt x="241844" y="118203"/>
                  </a:lnTo>
                  <a:lnTo>
                    <a:pt x="206654" y="144605"/>
                  </a:lnTo>
                  <a:lnTo>
                    <a:pt x="174155" y="174176"/>
                  </a:lnTo>
                  <a:lnTo>
                    <a:pt x="144588" y="206678"/>
                  </a:lnTo>
                  <a:lnTo>
                    <a:pt x="118189" y="241872"/>
                  </a:lnTo>
                  <a:lnTo>
                    <a:pt x="95197" y="279521"/>
                  </a:lnTo>
                  <a:lnTo>
                    <a:pt x="75852" y="319385"/>
                  </a:lnTo>
                  <a:lnTo>
                    <a:pt x="60390" y="361226"/>
                  </a:lnTo>
                  <a:lnTo>
                    <a:pt x="49051" y="404806"/>
                  </a:lnTo>
                  <a:lnTo>
                    <a:pt x="42072" y="449886"/>
                  </a:lnTo>
                  <a:lnTo>
                    <a:pt x="39693" y="496228"/>
                  </a:lnTo>
                  <a:lnTo>
                    <a:pt x="39693" y="4616909"/>
                  </a:lnTo>
                  <a:lnTo>
                    <a:pt x="42039" y="4663251"/>
                  </a:lnTo>
                  <a:lnTo>
                    <a:pt x="49051" y="4709471"/>
                  </a:lnTo>
                  <a:lnTo>
                    <a:pt x="60390" y="4753385"/>
                  </a:lnTo>
                  <a:lnTo>
                    <a:pt x="75852" y="4795427"/>
                  </a:lnTo>
                  <a:lnTo>
                    <a:pt x="95197" y="4835375"/>
                  </a:lnTo>
                  <a:lnTo>
                    <a:pt x="118189" y="4873009"/>
                  </a:lnTo>
                  <a:lnTo>
                    <a:pt x="144588" y="4908108"/>
                  </a:lnTo>
                  <a:lnTo>
                    <a:pt x="174155" y="4940450"/>
                  </a:lnTo>
                  <a:lnTo>
                    <a:pt x="206654" y="4969814"/>
                  </a:lnTo>
                  <a:lnTo>
                    <a:pt x="241844" y="4995981"/>
                  </a:lnTo>
                  <a:lnTo>
                    <a:pt x="279488" y="5018728"/>
                  </a:lnTo>
                  <a:lnTo>
                    <a:pt x="319347" y="5037835"/>
                  </a:lnTo>
                  <a:lnTo>
                    <a:pt x="361184" y="5053080"/>
                  </a:lnTo>
                  <a:lnTo>
                    <a:pt x="404758" y="5064243"/>
                  </a:lnTo>
                  <a:lnTo>
                    <a:pt x="439096" y="5069469"/>
                  </a:lnTo>
                  <a:lnTo>
                    <a:pt x="293732" y="5069469"/>
                  </a:lnTo>
                  <a:lnTo>
                    <a:pt x="331294" y="5104665"/>
                  </a:lnTo>
                  <a:lnTo>
                    <a:pt x="372102" y="5135209"/>
                  </a:lnTo>
                  <a:lnTo>
                    <a:pt x="415516" y="5160821"/>
                  </a:lnTo>
                  <a:lnTo>
                    <a:pt x="460893" y="5181226"/>
                  </a:lnTo>
                  <a:lnTo>
                    <a:pt x="507592" y="5196145"/>
                  </a:lnTo>
                  <a:lnTo>
                    <a:pt x="554972" y="5205300"/>
                  </a:lnTo>
                  <a:lnTo>
                    <a:pt x="602390" y="5208413"/>
                  </a:lnTo>
                  <a:lnTo>
                    <a:pt x="2650191" y="5208413"/>
                  </a:lnTo>
                  <a:lnTo>
                    <a:pt x="2639097" y="5213412"/>
                  </a:lnTo>
                  <a:lnTo>
                    <a:pt x="2595799" y="5228280"/>
                  </a:lnTo>
                  <a:lnTo>
                    <a:pt x="2550805" y="5239158"/>
                  </a:lnTo>
                  <a:lnTo>
                    <a:pt x="2504322" y="5245838"/>
                  </a:lnTo>
                  <a:lnTo>
                    <a:pt x="2456560" y="5248111"/>
                  </a:lnTo>
                  <a:close/>
                </a:path>
                <a:path w="2952750" h="5248275">
                  <a:moveTo>
                    <a:pt x="2531110" y="5073439"/>
                  </a:moveTo>
                  <a:lnTo>
                    <a:pt x="2333509" y="5073439"/>
                  </a:lnTo>
                  <a:lnTo>
                    <a:pt x="2379846" y="5071060"/>
                  </a:lnTo>
                  <a:lnTo>
                    <a:pt x="2424921" y="5064080"/>
                  </a:lnTo>
                  <a:lnTo>
                    <a:pt x="2468496" y="5052740"/>
                  </a:lnTo>
                  <a:lnTo>
                    <a:pt x="2510332" y="5037276"/>
                  </a:lnTo>
                  <a:lnTo>
                    <a:pt x="2550191" y="5017928"/>
                  </a:lnTo>
                  <a:lnTo>
                    <a:pt x="2587836" y="4994934"/>
                  </a:lnTo>
                  <a:lnTo>
                    <a:pt x="2623026" y="4968532"/>
                  </a:lnTo>
                  <a:lnTo>
                    <a:pt x="2655524" y="4938961"/>
                  </a:lnTo>
                  <a:lnTo>
                    <a:pt x="2685092" y="4906459"/>
                  </a:lnTo>
                  <a:lnTo>
                    <a:pt x="2711491" y="4871265"/>
                  </a:lnTo>
                  <a:lnTo>
                    <a:pt x="2734482" y="4833616"/>
                  </a:lnTo>
                  <a:lnTo>
                    <a:pt x="2753828" y="4793752"/>
                  </a:lnTo>
                  <a:lnTo>
                    <a:pt x="2769297" y="4751883"/>
                  </a:lnTo>
                  <a:lnTo>
                    <a:pt x="2780629" y="4708331"/>
                  </a:lnTo>
                  <a:lnTo>
                    <a:pt x="2787386" y="4664677"/>
                  </a:lnTo>
                  <a:lnTo>
                    <a:pt x="2787506" y="4663905"/>
                  </a:lnTo>
                  <a:lnTo>
                    <a:pt x="2787607" y="4663251"/>
                  </a:lnTo>
                  <a:lnTo>
                    <a:pt x="2789986" y="4616909"/>
                  </a:lnTo>
                  <a:lnTo>
                    <a:pt x="2789986" y="496228"/>
                  </a:lnTo>
                  <a:lnTo>
                    <a:pt x="2787607" y="449886"/>
                  </a:lnTo>
                  <a:lnTo>
                    <a:pt x="2780629" y="404806"/>
                  </a:lnTo>
                  <a:lnTo>
                    <a:pt x="2769290" y="361226"/>
                  </a:lnTo>
                  <a:lnTo>
                    <a:pt x="2753828" y="319385"/>
                  </a:lnTo>
                  <a:lnTo>
                    <a:pt x="2734482" y="279521"/>
                  </a:lnTo>
                  <a:lnTo>
                    <a:pt x="2711491" y="241872"/>
                  </a:lnTo>
                  <a:lnTo>
                    <a:pt x="2685092" y="206678"/>
                  </a:lnTo>
                  <a:lnTo>
                    <a:pt x="2655524" y="174176"/>
                  </a:lnTo>
                  <a:lnTo>
                    <a:pt x="2623026" y="144605"/>
                  </a:lnTo>
                  <a:lnTo>
                    <a:pt x="2587836" y="118203"/>
                  </a:lnTo>
                  <a:lnTo>
                    <a:pt x="2550191" y="95208"/>
                  </a:lnTo>
                  <a:lnTo>
                    <a:pt x="2510332" y="75860"/>
                  </a:lnTo>
                  <a:lnTo>
                    <a:pt x="2468496" y="60397"/>
                  </a:lnTo>
                  <a:lnTo>
                    <a:pt x="2424921" y="49056"/>
                  </a:lnTo>
                  <a:lnTo>
                    <a:pt x="2379846" y="42077"/>
                  </a:lnTo>
                  <a:lnTo>
                    <a:pt x="2333509" y="39698"/>
                  </a:lnTo>
                  <a:lnTo>
                    <a:pt x="2526541" y="39698"/>
                  </a:lnTo>
                  <a:lnTo>
                    <a:pt x="2578121" y="65005"/>
                  </a:lnTo>
                  <a:lnTo>
                    <a:pt x="2619875" y="91750"/>
                  </a:lnTo>
                  <a:lnTo>
                    <a:pt x="2658628" y="122354"/>
                  </a:lnTo>
                  <a:lnTo>
                    <a:pt x="2694118" y="156506"/>
                  </a:lnTo>
                  <a:lnTo>
                    <a:pt x="2726083" y="193898"/>
                  </a:lnTo>
                  <a:lnTo>
                    <a:pt x="2754262" y="234219"/>
                  </a:lnTo>
                  <a:lnTo>
                    <a:pt x="2792431" y="266522"/>
                  </a:lnTo>
                  <a:lnTo>
                    <a:pt x="2827333" y="302387"/>
                  </a:lnTo>
                  <a:lnTo>
                    <a:pt x="2852177" y="333465"/>
                  </a:lnTo>
                  <a:lnTo>
                    <a:pt x="2805864" y="333465"/>
                  </a:lnTo>
                  <a:lnTo>
                    <a:pt x="2816903" y="372853"/>
                  </a:lnTo>
                  <a:lnTo>
                    <a:pt x="2825711" y="413358"/>
                  </a:lnTo>
                  <a:lnTo>
                    <a:pt x="2831541" y="454607"/>
                  </a:lnTo>
                  <a:lnTo>
                    <a:pt x="2833649" y="496228"/>
                  </a:lnTo>
                  <a:lnTo>
                    <a:pt x="2833649" y="4616909"/>
                  </a:lnTo>
                  <a:lnTo>
                    <a:pt x="2831444" y="4663251"/>
                  </a:lnTo>
                  <a:lnTo>
                    <a:pt x="2824697" y="4711165"/>
                  </a:lnTo>
                  <a:lnTo>
                    <a:pt x="2813820" y="4756165"/>
                  </a:lnTo>
                  <a:lnTo>
                    <a:pt x="2798953" y="4799468"/>
                  </a:lnTo>
                  <a:lnTo>
                    <a:pt x="2780306" y="4840865"/>
                  </a:lnTo>
                  <a:lnTo>
                    <a:pt x="2758085" y="4880149"/>
                  </a:lnTo>
                  <a:lnTo>
                    <a:pt x="2732500" y="4917110"/>
                  </a:lnTo>
                  <a:lnTo>
                    <a:pt x="2703760" y="4951541"/>
                  </a:lnTo>
                  <a:lnTo>
                    <a:pt x="2672072" y="4983233"/>
                  </a:lnTo>
                  <a:lnTo>
                    <a:pt x="2637645" y="5011977"/>
                  </a:lnTo>
                  <a:lnTo>
                    <a:pt x="2600688" y="5037564"/>
                  </a:lnTo>
                  <a:lnTo>
                    <a:pt x="2561409" y="5059787"/>
                  </a:lnTo>
                  <a:lnTo>
                    <a:pt x="2531110" y="5073439"/>
                  </a:lnTo>
                  <a:close/>
                </a:path>
                <a:path w="2952750" h="5248275">
                  <a:moveTo>
                    <a:pt x="2650191" y="5208413"/>
                  </a:moveTo>
                  <a:lnTo>
                    <a:pt x="2456560" y="5208413"/>
                  </a:lnTo>
                  <a:lnTo>
                    <a:pt x="2502941" y="5206034"/>
                  </a:lnTo>
                  <a:lnTo>
                    <a:pt x="2548142" y="5199055"/>
                  </a:lnTo>
                  <a:lnTo>
                    <a:pt x="2591912" y="5187714"/>
                  </a:lnTo>
                  <a:lnTo>
                    <a:pt x="2634003" y="5172250"/>
                  </a:lnTo>
                  <a:lnTo>
                    <a:pt x="2674162" y="5152902"/>
                  </a:lnTo>
                  <a:lnTo>
                    <a:pt x="2712142" y="5129908"/>
                  </a:lnTo>
                  <a:lnTo>
                    <a:pt x="2747691" y="5103506"/>
                  </a:lnTo>
                  <a:lnTo>
                    <a:pt x="2780559" y="5073935"/>
                  </a:lnTo>
                  <a:lnTo>
                    <a:pt x="2810497" y="5041433"/>
                  </a:lnTo>
                  <a:lnTo>
                    <a:pt x="2837254" y="5006239"/>
                  </a:lnTo>
                  <a:lnTo>
                    <a:pt x="2860610" y="4968532"/>
                  </a:lnTo>
                  <a:lnTo>
                    <a:pt x="2880227" y="4928726"/>
                  </a:lnTo>
                  <a:lnTo>
                    <a:pt x="2895943" y="4886885"/>
                  </a:lnTo>
                  <a:lnTo>
                    <a:pt x="2907478" y="4843305"/>
                  </a:lnTo>
                  <a:lnTo>
                    <a:pt x="2914582" y="4798225"/>
                  </a:lnTo>
                  <a:lnTo>
                    <a:pt x="2916927" y="4753385"/>
                  </a:lnTo>
                  <a:lnTo>
                    <a:pt x="2917006" y="631202"/>
                  </a:lnTo>
                  <a:lnTo>
                    <a:pt x="2914391" y="582627"/>
                  </a:lnTo>
                  <a:lnTo>
                    <a:pt x="2906776" y="535718"/>
                  </a:lnTo>
                  <a:lnTo>
                    <a:pt x="2894509" y="490684"/>
                  </a:lnTo>
                  <a:lnTo>
                    <a:pt x="2877937" y="447734"/>
                  </a:lnTo>
                  <a:lnTo>
                    <a:pt x="2857408" y="407075"/>
                  </a:lnTo>
                  <a:lnTo>
                    <a:pt x="2833267" y="368916"/>
                  </a:lnTo>
                  <a:lnTo>
                    <a:pt x="2805864" y="333465"/>
                  </a:lnTo>
                  <a:lnTo>
                    <a:pt x="2852177" y="333465"/>
                  </a:lnTo>
                  <a:lnTo>
                    <a:pt x="2886030" y="383755"/>
                  </a:lnTo>
                  <a:lnTo>
                    <a:pt x="2909171" y="428735"/>
                  </a:lnTo>
                  <a:lnTo>
                    <a:pt x="2927738" y="476232"/>
                  </a:lnTo>
                  <a:lnTo>
                    <a:pt x="2941405" y="525983"/>
                  </a:lnTo>
                  <a:lnTo>
                    <a:pt x="2949844" y="577726"/>
                  </a:lnTo>
                  <a:lnTo>
                    <a:pt x="2952730" y="631202"/>
                  </a:lnTo>
                  <a:lnTo>
                    <a:pt x="2952659" y="4753385"/>
                  </a:lnTo>
                  <a:lnTo>
                    <a:pt x="2950525" y="4798225"/>
                  </a:lnTo>
                  <a:lnTo>
                    <a:pt x="2950457" y="4799651"/>
                  </a:lnTo>
                  <a:lnTo>
                    <a:pt x="2943778" y="4846139"/>
                  </a:lnTo>
                  <a:lnTo>
                    <a:pt x="2932901" y="4891139"/>
                  </a:lnTo>
                  <a:lnTo>
                    <a:pt x="2918034" y="4934442"/>
                  </a:lnTo>
                  <a:lnTo>
                    <a:pt x="2899387" y="4975839"/>
                  </a:lnTo>
                  <a:lnTo>
                    <a:pt x="2877166" y="5015123"/>
                  </a:lnTo>
                  <a:lnTo>
                    <a:pt x="2851581" y="5052084"/>
                  </a:lnTo>
                  <a:lnTo>
                    <a:pt x="2822841" y="5086515"/>
                  </a:lnTo>
                  <a:lnTo>
                    <a:pt x="2791153" y="5118207"/>
                  </a:lnTo>
                  <a:lnTo>
                    <a:pt x="2756726" y="5146951"/>
                  </a:lnTo>
                  <a:lnTo>
                    <a:pt x="2719769" y="5172538"/>
                  </a:lnTo>
                  <a:lnTo>
                    <a:pt x="2680490" y="5194762"/>
                  </a:lnTo>
                  <a:lnTo>
                    <a:pt x="2650191" y="5208413"/>
                  </a:lnTo>
                  <a:close/>
                </a:path>
                <a:path w="2952750" h="5248275">
                  <a:moveTo>
                    <a:pt x="2337479" y="5113137"/>
                  </a:moveTo>
                  <a:lnTo>
                    <a:pt x="500139" y="5113137"/>
                  </a:lnTo>
                  <a:lnTo>
                    <a:pt x="445002" y="5110222"/>
                  </a:lnTo>
                  <a:lnTo>
                    <a:pt x="392470" y="5101724"/>
                  </a:lnTo>
                  <a:lnTo>
                    <a:pt x="342171" y="5088016"/>
                  </a:lnTo>
                  <a:lnTo>
                    <a:pt x="293732" y="5069469"/>
                  </a:lnTo>
                  <a:lnTo>
                    <a:pt x="439096" y="5069469"/>
                  </a:lnTo>
                  <a:lnTo>
                    <a:pt x="449547" y="5071060"/>
                  </a:lnTo>
                  <a:lnTo>
                    <a:pt x="448968" y="5071060"/>
                  </a:lnTo>
                  <a:lnTo>
                    <a:pt x="496170" y="5073439"/>
                  </a:lnTo>
                  <a:lnTo>
                    <a:pt x="2531110" y="5073439"/>
                  </a:lnTo>
                  <a:lnTo>
                    <a:pt x="2520016" y="5078437"/>
                  </a:lnTo>
                  <a:lnTo>
                    <a:pt x="2476718" y="5093306"/>
                  </a:lnTo>
                  <a:lnTo>
                    <a:pt x="2431724" y="5104184"/>
                  </a:lnTo>
                  <a:lnTo>
                    <a:pt x="2385241" y="5110864"/>
                  </a:lnTo>
                  <a:lnTo>
                    <a:pt x="2337479" y="5113137"/>
                  </a:lnTo>
                  <a:close/>
                </a:path>
              </a:pathLst>
            </a:custGeom>
            <a:solidFill>
              <a:srgbClr val="E9E8E3">
                <a:alpha val="5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298287" y="2698103"/>
            <a:ext cx="2307590" cy="2882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5700"/>
              </a:lnSpc>
              <a:spcBef>
                <a:spcPts val="100"/>
              </a:spcBef>
            </a:pPr>
            <a:r>
              <a:rPr sz="2700" dirty="0">
                <a:solidFill>
                  <a:srgbClr val="E9E8E3"/>
                </a:solidFill>
                <a:latin typeface="Verdana"/>
                <a:cs typeface="Verdana"/>
              </a:rPr>
              <a:t>Calcul</a:t>
            </a:r>
            <a:r>
              <a:rPr sz="2700" spc="-105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700" dirty="0">
                <a:solidFill>
                  <a:srgbClr val="E9E8E3"/>
                </a:solidFill>
                <a:latin typeface="Verdana"/>
                <a:cs typeface="Verdana"/>
              </a:rPr>
              <a:t>de</a:t>
            </a:r>
            <a:r>
              <a:rPr sz="2700" spc="-105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700" spc="-25" dirty="0">
                <a:solidFill>
                  <a:srgbClr val="E9E8E3"/>
                </a:solidFill>
                <a:latin typeface="Verdana"/>
                <a:cs typeface="Verdana"/>
              </a:rPr>
              <a:t>la </a:t>
            </a:r>
            <a:r>
              <a:rPr sz="2700" spc="-20" dirty="0">
                <a:solidFill>
                  <a:srgbClr val="E9E8E3"/>
                </a:solidFill>
                <a:latin typeface="Verdana"/>
                <a:cs typeface="Verdana"/>
              </a:rPr>
              <a:t>distance</a:t>
            </a:r>
            <a:r>
              <a:rPr sz="2700" spc="-150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700" spc="-25" dirty="0">
                <a:solidFill>
                  <a:srgbClr val="E9E8E3"/>
                </a:solidFill>
                <a:latin typeface="Verdana"/>
                <a:cs typeface="Verdana"/>
              </a:rPr>
              <a:t>de </a:t>
            </a:r>
            <a:r>
              <a:rPr sz="2700" spc="-65" dirty="0">
                <a:solidFill>
                  <a:srgbClr val="E9E8E3"/>
                </a:solidFill>
                <a:latin typeface="Verdana"/>
                <a:cs typeface="Verdana"/>
              </a:rPr>
              <a:t>Haversine</a:t>
            </a:r>
            <a:r>
              <a:rPr sz="2700" spc="-150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700" spc="-85" dirty="0">
                <a:solidFill>
                  <a:srgbClr val="E9E8E3"/>
                </a:solidFill>
                <a:latin typeface="Verdana"/>
                <a:cs typeface="Verdana"/>
              </a:rPr>
              <a:t>par </a:t>
            </a:r>
            <a:r>
              <a:rPr sz="2700" spc="-60" dirty="0">
                <a:solidFill>
                  <a:srgbClr val="E9E8E3"/>
                </a:solidFill>
                <a:latin typeface="Verdana"/>
                <a:cs typeface="Verdana"/>
              </a:rPr>
              <a:t>rapport</a:t>
            </a:r>
            <a:r>
              <a:rPr sz="2700" spc="-185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700" spc="-35" dirty="0">
                <a:solidFill>
                  <a:srgbClr val="E9E8E3"/>
                </a:solidFill>
                <a:latin typeface="Verdana"/>
                <a:cs typeface="Verdana"/>
              </a:rPr>
              <a:t>au </a:t>
            </a:r>
            <a:r>
              <a:rPr sz="2700" spc="-10" dirty="0">
                <a:solidFill>
                  <a:srgbClr val="E9E8E3"/>
                </a:solidFill>
                <a:latin typeface="Verdana"/>
                <a:cs typeface="Verdana"/>
              </a:rPr>
              <a:t>centre</a:t>
            </a:r>
            <a:r>
              <a:rPr sz="2700" spc="-225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700" spc="-35" dirty="0">
                <a:solidFill>
                  <a:srgbClr val="E9E8E3"/>
                </a:solidFill>
                <a:latin typeface="Verdana"/>
                <a:cs typeface="Verdana"/>
              </a:rPr>
              <a:t>de </a:t>
            </a:r>
            <a:r>
              <a:rPr sz="2700" spc="-10" dirty="0">
                <a:solidFill>
                  <a:srgbClr val="E9E8E3"/>
                </a:solidFill>
                <a:latin typeface="Verdana"/>
                <a:cs typeface="Verdana"/>
              </a:rPr>
              <a:t>Seattle.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327772" y="6185903"/>
            <a:ext cx="2193290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sz="2000" spc="-25" dirty="0">
                <a:solidFill>
                  <a:srgbClr val="E9E8E3"/>
                </a:solidFill>
                <a:latin typeface="Verdana"/>
                <a:cs typeface="Verdana"/>
              </a:rPr>
              <a:t>Suppression</a:t>
            </a:r>
            <a:r>
              <a:rPr sz="2000" spc="-95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E9E8E3"/>
                </a:solidFill>
                <a:latin typeface="Verdana"/>
                <a:cs typeface="Verdana"/>
              </a:rPr>
              <a:t>de</a:t>
            </a:r>
            <a:r>
              <a:rPr sz="2000" spc="-95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E9E8E3"/>
                </a:solidFill>
                <a:latin typeface="Verdana"/>
                <a:cs typeface="Verdana"/>
              </a:rPr>
              <a:t>2 </a:t>
            </a:r>
            <a:r>
              <a:rPr sz="2000" spc="-10" dirty="0">
                <a:solidFill>
                  <a:srgbClr val="E9E8E3"/>
                </a:solidFill>
                <a:latin typeface="Verdana"/>
                <a:cs typeface="Verdana"/>
              </a:rPr>
              <a:t>variables</a:t>
            </a:r>
            <a:endParaRPr sz="2000" dirty="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909406" y="2414318"/>
            <a:ext cx="2372360" cy="5248275"/>
            <a:chOff x="2909406" y="2414318"/>
            <a:chExt cx="2372360" cy="5248275"/>
          </a:xfrm>
        </p:grpSpPr>
        <p:sp>
          <p:nvSpPr>
            <p:cNvPr id="30" name="object 30"/>
            <p:cNvSpPr/>
            <p:nvPr/>
          </p:nvSpPr>
          <p:spPr>
            <a:xfrm>
              <a:off x="3199646" y="2747787"/>
              <a:ext cx="2045970" cy="4875530"/>
            </a:xfrm>
            <a:custGeom>
              <a:avLst/>
              <a:gdLst/>
              <a:ahLst/>
              <a:cxnLst/>
              <a:rect l="l" t="t" r="r" b="b"/>
              <a:pathLst>
                <a:path w="2045970" h="4875530">
                  <a:moveTo>
                    <a:pt x="1588484" y="4874991"/>
                  </a:moveTo>
                  <a:lnTo>
                    <a:pt x="307733" y="4874991"/>
                  </a:lnTo>
                  <a:lnTo>
                    <a:pt x="260766" y="4871878"/>
                  </a:lnTo>
                  <a:lnTo>
                    <a:pt x="213689" y="4862723"/>
                  </a:lnTo>
                  <a:lnTo>
                    <a:pt x="167167" y="4847804"/>
                  </a:lnTo>
                  <a:lnTo>
                    <a:pt x="121870" y="4827399"/>
                  </a:lnTo>
                  <a:lnTo>
                    <a:pt x="78465" y="4801786"/>
                  </a:lnTo>
                  <a:lnTo>
                    <a:pt x="37619" y="4771242"/>
                  </a:lnTo>
                  <a:lnTo>
                    <a:pt x="0" y="4736046"/>
                  </a:lnTo>
                  <a:lnTo>
                    <a:pt x="49077" y="4754592"/>
                  </a:lnTo>
                  <a:lnTo>
                    <a:pt x="100391" y="4768301"/>
                  </a:lnTo>
                  <a:lnTo>
                    <a:pt x="153195" y="4776799"/>
                  </a:lnTo>
                  <a:lnTo>
                    <a:pt x="206745" y="4779714"/>
                  </a:lnTo>
                  <a:lnTo>
                    <a:pt x="1469208" y="4779714"/>
                  </a:lnTo>
                  <a:lnTo>
                    <a:pt x="1513902" y="4777441"/>
                  </a:lnTo>
                  <a:lnTo>
                    <a:pt x="1557993" y="4770761"/>
                  </a:lnTo>
                  <a:lnTo>
                    <a:pt x="1601211" y="4759883"/>
                  </a:lnTo>
                  <a:lnTo>
                    <a:pt x="1643282" y="4745014"/>
                  </a:lnTo>
                  <a:lnTo>
                    <a:pt x="1683936" y="4726364"/>
                  </a:lnTo>
                  <a:lnTo>
                    <a:pt x="1722900" y="4704141"/>
                  </a:lnTo>
                  <a:lnTo>
                    <a:pt x="1759903" y="4678553"/>
                  </a:lnTo>
                  <a:lnTo>
                    <a:pt x="1794672" y="4649809"/>
                  </a:lnTo>
                  <a:lnTo>
                    <a:pt x="1826935" y="4618117"/>
                  </a:lnTo>
                  <a:lnTo>
                    <a:pt x="1856422" y="4583686"/>
                  </a:lnTo>
                  <a:lnTo>
                    <a:pt x="1882858" y="4546724"/>
                  </a:lnTo>
                  <a:lnTo>
                    <a:pt x="1905974" y="4507440"/>
                  </a:lnTo>
                  <a:lnTo>
                    <a:pt x="1925497" y="4466042"/>
                  </a:lnTo>
                  <a:lnTo>
                    <a:pt x="1941154" y="4422739"/>
                  </a:lnTo>
                  <a:lnTo>
                    <a:pt x="1952675" y="4377738"/>
                  </a:lnTo>
                  <a:lnTo>
                    <a:pt x="1959786" y="4331250"/>
                  </a:lnTo>
                  <a:lnTo>
                    <a:pt x="1962217" y="4283481"/>
                  </a:lnTo>
                  <a:lnTo>
                    <a:pt x="1962217" y="162764"/>
                  </a:lnTo>
                  <a:lnTo>
                    <a:pt x="1960664" y="121142"/>
                  </a:lnTo>
                  <a:lnTo>
                    <a:pt x="1955757" y="79893"/>
                  </a:lnTo>
                  <a:lnTo>
                    <a:pt x="1947121" y="39388"/>
                  </a:lnTo>
                  <a:lnTo>
                    <a:pt x="1934386" y="0"/>
                  </a:lnTo>
                  <a:lnTo>
                    <a:pt x="1961835" y="35450"/>
                  </a:lnTo>
                  <a:lnTo>
                    <a:pt x="1986015" y="73610"/>
                  </a:lnTo>
                  <a:lnTo>
                    <a:pt x="2006578" y="114269"/>
                  </a:lnTo>
                  <a:lnTo>
                    <a:pt x="2023177" y="157220"/>
                  </a:lnTo>
                  <a:lnTo>
                    <a:pt x="2035464" y="202254"/>
                  </a:lnTo>
                  <a:lnTo>
                    <a:pt x="2043091" y="249163"/>
                  </a:lnTo>
                  <a:lnTo>
                    <a:pt x="2045711" y="297739"/>
                  </a:lnTo>
                  <a:lnTo>
                    <a:pt x="2045711" y="4418457"/>
                  </a:lnTo>
                  <a:lnTo>
                    <a:pt x="2043328" y="4464799"/>
                  </a:lnTo>
                  <a:lnTo>
                    <a:pt x="2036338" y="4509880"/>
                  </a:lnTo>
                  <a:lnTo>
                    <a:pt x="2024980" y="4553460"/>
                  </a:lnTo>
                  <a:lnTo>
                    <a:pt x="2009493" y="4595302"/>
                  </a:lnTo>
                  <a:lnTo>
                    <a:pt x="1990116" y="4635166"/>
                  </a:lnTo>
                  <a:lnTo>
                    <a:pt x="1967086" y="4672815"/>
                  </a:lnTo>
                  <a:lnTo>
                    <a:pt x="1940644" y="4708010"/>
                  </a:lnTo>
                  <a:lnTo>
                    <a:pt x="1911028" y="4740512"/>
                  </a:lnTo>
                  <a:lnTo>
                    <a:pt x="1878476" y="4770083"/>
                  </a:lnTo>
                  <a:lnTo>
                    <a:pt x="1843228" y="4796485"/>
                  </a:lnTo>
                  <a:lnTo>
                    <a:pt x="1805522" y="4819480"/>
                  </a:lnTo>
                  <a:lnTo>
                    <a:pt x="1765598" y="4838828"/>
                  </a:lnTo>
                  <a:lnTo>
                    <a:pt x="1723693" y="4854292"/>
                  </a:lnTo>
                  <a:lnTo>
                    <a:pt x="1680046" y="4865632"/>
                  </a:lnTo>
                  <a:lnTo>
                    <a:pt x="1634897" y="4872612"/>
                  </a:lnTo>
                  <a:lnTo>
                    <a:pt x="1588484" y="4874991"/>
                  </a:lnTo>
                  <a:close/>
                </a:path>
              </a:pathLst>
            </a:custGeom>
            <a:solidFill>
              <a:srgbClr val="E9E8E3">
                <a:alpha val="5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949173" y="2454017"/>
              <a:ext cx="2169160" cy="5034280"/>
            </a:xfrm>
            <a:custGeom>
              <a:avLst/>
              <a:gdLst/>
              <a:ahLst/>
              <a:cxnLst/>
              <a:rect l="l" t="t" r="r" b="b"/>
              <a:pathLst>
                <a:path w="2169160" h="5034280">
                  <a:moveTo>
                    <a:pt x="1711737" y="5033785"/>
                  </a:moveTo>
                  <a:lnTo>
                    <a:pt x="457226" y="5033785"/>
                  </a:lnTo>
                  <a:lnTo>
                    <a:pt x="410813" y="5031450"/>
                  </a:lnTo>
                  <a:lnTo>
                    <a:pt x="365664" y="5024590"/>
                  </a:lnTo>
                  <a:lnTo>
                    <a:pt x="322018" y="5013426"/>
                  </a:lnTo>
                  <a:lnTo>
                    <a:pt x="280113" y="4998181"/>
                  </a:lnTo>
                  <a:lnTo>
                    <a:pt x="240188" y="4979074"/>
                  </a:lnTo>
                  <a:lnTo>
                    <a:pt x="202482" y="4956327"/>
                  </a:lnTo>
                  <a:lnTo>
                    <a:pt x="167234" y="4930160"/>
                  </a:lnTo>
                  <a:lnTo>
                    <a:pt x="134683" y="4900795"/>
                  </a:lnTo>
                  <a:lnTo>
                    <a:pt x="105066" y="4868453"/>
                  </a:lnTo>
                  <a:lnTo>
                    <a:pt x="78624" y="4833354"/>
                  </a:lnTo>
                  <a:lnTo>
                    <a:pt x="55595" y="4795720"/>
                  </a:lnTo>
                  <a:lnTo>
                    <a:pt x="36217" y="4755771"/>
                  </a:lnTo>
                  <a:lnTo>
                    <a:pt x="20730" y="4713729"/>
                  </a:lnTo>
                  <a:lnTo>
                    <a:pt x="9372" y="4669814"/>
                  </a:lnTo>
                  <a:lnTo>
                    <a:pt x="2383" y="4624248"/>
                  </a:lnTo>
                  <a:lnTo>
                    <a:pt x="0" y="4577251"/>
                  </a:lnTo>
                  <a:lnTo>
                    <a:pt x="0" y="456534"/>
                  </a:lnTo>
                  <a:lnTo>
                    <a:pt x="2383" y="410191"/>
                  </a:lnTo>
                  <a:lnTo>
                    <a:pt x="9372" y="365111"/>
                  </a:lnTo>
                  <a:lnTo>
                    <a:pt x="20730" y="321530"/>
                  </a:lnTo>
                  <a:lnTo>
                    <a:pt x="36217" y="279689"/>
                  </a:lnTo>
                  <a:lnTo>
                    <a:pt x="55595" y="239824"/>
                  </a:lnTo>
                  <a:lnTo>
                    <a:pt x="78624" y="202176"/>
                  </a:lnTo>
                  <a:lnTo>
                    <a:pt x="105066" y="166981"/>
                  </a:lnTo>
                  <a:lnTo>
                    <a:pt x="134683" y="134479"/>
                  </a:lnTo>
                  <a:lnTo>
                    <a:pt x="167234" y="104907"/>
                  </a:lnTo>
                  <a:lnTo>
                    <a:pt x="202482" y="78505"/>
                  </a:lnTo>
                  <a:lnTo>
                    <a:pt x="240188" y="55511"/>
                  </a:lnTo>
                  <a:lnTo>
                    <a:pt x="280113" y="36162"/>
                  </a:lnTo>
                  <a:lnTo>
                    <a:pt x="322018" y="20699"/>
                  </a:lnTo>
                  <a:lnTo>
                    <a:pt x="365664" y="9358"/>
                  </a:lnTo>
                  <a:lnTo>
                    <a:pt x="410813" y="2379"/>
                  </a:lnTo>
                  <a:lnTo>
                    <a:pt x="457226" y="0"/>
                  </a:lnTo>
                  <a:lnTo>
                    <a:pt x="1711737" y="0"/>
                  </a:lnTo>
                  <a:lnTo>
                    <a:pt x="1758150" y="2379"/>
                  </a:lnTo>
                  <a:lnTo>
                    <a:pt x="1803299" y="9358"/>
                  </a:lnTo>
                  <a:lnTo>
                    <a:pt x="1846945" y="20699"/>
                  </a:lnTo>
                  <a:lnTo>
                    <a:pt x="1888850" y="36162"/>
                  </a:lnTo>
                  <a:lnTo>
                    <a:pt x="1928775" y="55511"/>
                  </a:lnTo>
                  <a:lnTo>
                    <a:pt x="1966481" y="78505"/>
                  </a:lnTo>
                  <a:lnTo>
                    <a:pt x="2001729" y="104907"/>
                  </a:lnTo>
                  <a:lnTo>
                    <a:pt x="2034280" y="134479"/>
                  </a:lnTo>
                  <a:lnTo>
                    <a:pt x="2063897" y="166981"/>
                  </a:lnTo>
                  <a:lnTo>
                    <a:pt x="2090339" y="202176"/>
                  </a:lnTo>
                  <a:lnTo>
                    <a:pt x="2113368" y="239824"/>
                  </a:lnTo>
                  <a:lnTo>
                    <a:pt x="2132746" y="279689"/>
                  </a:lnTo>
                  <a:lnTo>
                    <a:pt x="2148233" y="321530"/>
                  </a:lnTo>
                  <a:lnTo>
                    <a:pt x="2159591" y="365111"/>
                  </a:lnTo>
                  <a:lnTo>
                    <a:pt x="2166580" y="410191"/>
                  </a:lnTo>
                  <a:lnTo>
                    <a:pt x="2168963" y="456534"/>
                  </a:lnTo>
                  <a:lnTo>
                    <a:pt x="2168963" y="4577251"/>
                  </a:lnTo>
                  <a:lnTo>
                    <a:pt x="2166580" y="4623594"/>
                  </a:lnTo>
                  <a:lnTo>
                    <a:pt x="2159591" y="4668674"/>
                  </a:lnTo>
                  <a:lnTo>
                    <a:pt x="2148233" y="4712255"/>
                  </a:lnTo>
                  <a:lnTo>
                    <a:pt x="2132746" y="4754096"/>
                  </a:lnTo>
                  <a:lnTo>
                    <a:pt x="2113368" y="4793961"/>
                  </a:lnTo>
                  <a:lnTo>
                    <a:pt x="2090339" y="4831609"/>
                  </a:lnTo>
                  <a:lnTo>
                    <a:pt x="2063897" y="4866804"/>
                  </a:lnTo>
                  <a:lnTo>
                    <a:pt x="2034280" y="4899306"/>
                  </a:lnTo>
                  <a:lnTo>
                    <a:pt x="2001729" y="4928878"/>
                  </a:lnTo>
                  <a:lnTo>
                    <a:pt x="1966481" y="4955280"/>
                  </a:lnTo>
                  <a:lnTo>
                    <a:pt x="1928775" y="4978274"/>
                  </a:lnTo>
                  <a:lnTo>
                    <a:pt x="1888850" y="4997623"/>
                  </a:lnTo>
                  <a:lnTo>
                    <a:pt x="1846945" y="5013086"/>
                  </a:lnTo>
                  <a:lnTo>
                    <a:pt x="1803299" y="5024427"/>
                  </a:lnTo>
                  <a:lnTo>
                    <a:pt x="1758150" y="5031406"/>
                  </a:lnTo>
                  <a:lnTo>
                    <a:pt x="1711737" y="5033785"/>
                  </a:lnTo>
                  <a:close/>
                </a:path>
              </a:pathLst>
            </a:custGeom>
            <a:solidFill>
              <a:srgbClr val="415343">
                <a:alpha val="5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09406" y="2414318"/>
              <a:ext cx="2372360" cy="5248275"/>
            </a:xfrm>
            <a:custGeom>
              <a:avLst/>
              <a:gdLst/>
              <a:ahLst/>
              <a:cxnLst/>
              <a:rect l="l" t="t" r="r" b="b"/>
              <a:pathLst>
                <a:path w="2372360" h="5248275">
                  <a:moveTo>
                    <a:pt x="1874748" y="5248158"/>
                  </a:moveTo>
                  <a:lnTo>
                    <a:pt x="599086" y="5248158"/>
                  </a:lnTo>
                  <a:lnTo>
                    <a:pt x="551903" y="5245352"/>
                  </a:lnTo>
                  <a:lnTo>
                    <a:pt x="505271" y="5237138"/>
                  </a:lnTo>
                  <a:lnTo>
                    <a:pt x="459581" y="5223827"/>
                  </a:lnTo>
                  <a:lnTo>
                    <a:pt x="415220" y="5205728"/>
                  </a:lnTo>
                  <a:lnTo>
                    <a:pt x="372580" y="5183152"/>
                  </a:lnTo>
                  <a:lnTo>
                    <a:pt x="332048" y="5156407"/>
                  </a:lnTo>
                  <a:lnTo>
                    <a:pt x="294014" y="5125803"/>
                  </a:lnTo>
                  <a:lnTo>
                    <a:pt x="258867" y="5091650"/>
                  </a:lnTo>
                  <a:lnTo>
                    <a:pt x="226997" y="5054258"/>
                  </a:lnTo>
                  <a:lnTo>
                    <a:pt x="198794" y="5013936"/>
                  </a:lnTo>
                  <a:lnTo>
                    <a:pt x="160562" y="4981633"/>
                  </a:lnTo>
                  <a:lnTo>
                    <a:pt x="125603" y="4945768"/>
                  </a:lnTo>
                  <a:lnTo>
                    <a:pt x="94178" y="4906503"/>
                  </a:lnTo>
                  <a:lnTo>
                    <a:pt x="66810" y="4864399"/>
                  </a:lnTo>
                  <a:lnTo>
                    <a:pt x="43631" y="4819419"/>
                  </a:lnTo>
                  <a:lnTo>
                    <a:pt x="25033" y="4771922"/>
                  </a:lnTo>
                  <a:lnTo>
                    <a:pt x="11344" y="4722171"/>
                  </a:lnTo>
                  <a:lnTo>
                    <a:pt x="2890" y="4670426"/>
                  </a:lnTo>
                  <a:lnTo>
                    <a:pt x="0" y="4616950"/>
                  </a:lnTo>
                  <a:lnTo>
                    <a:pt x="0" y="496232"/>
                  </a:lnTo>
                  <a:lnTo>
                    <a:pt x="2208" y="449890"/>
                  </a:lnTo>
                  <a:lnTo>
                    <a:pt x="8966" y="401975"/>
                  </a:lnTo>
                  <a:lnTo>
                    <a:pt x="19861" y="356975"/>
                  </a:lnTo>
                  <a:lnTo>
                    <a:pt x="34752" y="313672"/>
                  </a:lnTo>
                  <a:lnTo>
                    <a:pt x="53431" y="272274"/>
                  </a:lnTo>
                  <a:lnTo>
                    <a:pt x="75688" y="232990"/>
                  </a:lnTo>
                  <a:lnTo>
                    <a:pt x="101315" y="196028"/>
                  </a:lnTo>
                  <a:lnTo>
                    <a:pt x="130102" y="161597"/>
                  </a:lnTo>
                  <a:lnTo>
                    <a:pt x="161842" y="129905"/>
                  </a:lnTo>
                  <a:lnTo>
                    <a:pt x="196325" y="101161"/>
                  </a:lnTo>
                  <a:lnTo>
                    <a:pt x="233343" y="75573"/>
                  </a:lnTo>
                  <a:lnTo>
                    <a:pt x="272687" y="53350"/>
                  </a:lnTo>
                  <a:lnTo>
                    <a:pt x="314148" y="34700"/>
                  </a:lnTo>
                  <a:lnTo>
                    <a:pt x="357517" y="19831"/>
                  </a:lnTo>
                  <a:lnTo>
                    <a:pt x="402585" y="8952"/>
                  </a:lnTo>
                  <a:lnTo>
                    <a:pt x="449144" y="2272"/>
                  </a:lnTo>
                  <a:lnTo>
                    <a:pt x="496985" y="0"/>
                  </a:lnTo>
                  <a:lnTo>
                    <a:pt x="1751496" y="0"/>
                  </a:lnTo>
                  <a:lnTo>
                    <a:pt x="1804411" y="2806"/>
                  </a:lnTo>
                  <a:lnTo>
                    <a:pt x="1855632" y="11020"/>
                  </a:lnTo>
                  <a:lnTo>
                    <a:pt x="1904897" y="24331"/>
                  </a:lnTo>
                  <a:lnTo>
                    <a:pt x="1944844" y="39698"/>
                  </a:lnTo>
                  <a:lnTo>
                    <a:pt x="496985" y="39698"/>
                  </a:lnTo>
                  <a:lnTo>
                    <a:pt x="450572" y="42078"/>
                  </a:lnTo>
                  <a:lnTo>
                    <a:pt x="405423" y="49057"/>
                  </a:lnTo>
                  <a:lnTo>
                    <a:pt x="361777" y="60397"/>
                  </a:lnTo>
                  <a:lnTo>
                    <a:pt x="319872" y="75861"/>
                  </a:lnTo>
                  <a:lnTo>
                    <a:pt x="279947" y="95209"/>
                  </a:lnTo>
                  <a:lnTo>
                    <a:pt x="242241" y="118204"/>
                  </a:lnTo>
                  <a:lnTo>
                    <a:pt x="206993" y="144606"/>
                  </a:lnTo>
                  <a:lnTo>
                    <a:pt x="174441" y="174177"/>
                  </a:lnTo>
                  <a:lnTo>
                    <a:pt x="144825" y="206680"/>
                  </a:lnTo>
                  <a:lnTo>
                    <a:pt x="118383" y="241874"/>
                  </a:lnTo>
                  <a:lnTo>
                    <a:pt x="95354" y="279523"/>
                  </a:lnTo>
                  <a:lnTo>
                    <a:pt x="75976" y="319387"/>
                  </a:lnTo>
                  <a:lnTo>
                    <a:pt x="60489" y="361229"/>
                  </a:lnTo>
                  <a:lnTo>
                    <a:pt x="49131" y="404809"/>
                  </a:lnTo>
                  <a:lnTo>
                    <a:pt x="42141" y="449890"/>
                  </a:lnTo>
                  <a:lnTo>
                    <a:pt x="39758" y="496232"/>
                  </a:lnTo>
                  <a:lnTo>
                    <a:pt x="39758" y="4616950"/>
                  </a:lnTo>
                  <a:lnTo>
                    <a:pt x="42108" y="4663293"/>
                  </a:lnTo>
                  <a:lnTo>
                    <a:pt x="49131" y="4709513"/>
                  </a:lnTo>
                  <a:lnTo>
                    <a:pt x="60489" y="4753428"/>
                  </a:lnTo>
                  <a:lnTo>
                    <a:pt x="75976" y="4795470"/>
                  </a:lnTo>
                  <a:lnTo>
                    <a:pt x="95354" y="4835419"/>
                  </a:lnTo>
                  <a:lnTo>
                    <a:pt x="118383" y="4873053"/>
                  </a:lnTo>
                  <a:lnTo>
                    <a:pt x="144825" y="4908152"/>
                  </a:lnTo>
                  <a:lnTo>
                    <a:pt x="174441" y="4940494"/>
                  </a:lnTo>
                  <a:lnTo>
                    <a:pt x="206993" y="4969859"/>
                  </a:lnTo>
                  <a:lnTo>
                    <a:pt x="242241" y="4996025"/>
                  </a:lnTo>
                  <a:lnTo>
                    <a:pt x="279947" y="5018773"/>
                  </a:lnTo>
                  <a:lnTo>
                    <a:pt x="319872" y="5037880"/>
                  </a:lnTo>
                  <a:lnTo>
                    <a:pt x="361777" y="5053125"/>
                  </a:lnTo>
                  <a:lnTo>
                    <a:pt x="405423" y="5064289"/>
                  </a:lnTo>
                  <a:lnTo>
                    <a:pt x="439818" y="5069514"/>
                  </a:lnTo>
                  <a:lnTo>
                    <a:pt x="294215" y="5069514"/>
                  </a:lnTo>
                  <a:lnTo>
                    <a:pt x="331826" y="5104711"/>
                  </a:lnTo>
                  <a:lnTo>
                    <a:pt x="372613" y="5135254"/>
                  </a:lnTo>
                  <a:lnTo>
                    <a:pt x="415860" y="5160868"/>
                  </a:lnTo>
                  <a:lnTo>
                    <a:pt x="460849" y="5181272"/>
                  </a:lnTo>
                  <a:lnTo>
                    <a:pt x="506861" y="5196191"/>
                  </a:lnTo>
                  <a:lnTo>
                    <a:pt x="553179" y="5205346"/>
                  </a:lnTo>
                  <a:lnTo>
                    <a:pt x="599086" y="5208460"/>
                  </a:lnTo>
                  <a:lnTo>
                    <a:pt x="2068697" y="5208460"/>
                  </a:lnTo>
                  <a:lnTo>
                    <a:pt x="2057585" y="5213458"/>
                  </a:lnTo>
                  <a:lnTo>
                    <a:pt x="2014216" y="5228327"/>
                  </a:lnTo>
                  <a:lnTo>
                    <a:pt x="1969148" y="5239205"/>
                  </a:lnTo>
                  <a:lnTo>
                    <a:pt x="1922589" y="5245885"/>
                  </a:lnTo>
                  <a:lnTo>
                    <a:pt x="1874748" y="5248158"/>
                  </a:lnTo>
                  <a:close/>
                </a:path>
                <a:path w="2372360" h="5248275">
                  <a:moveTo>
                    <a:pt x="1949421" y="5073484"/>
                  </a:moveTo>
                  <a:lnTo>
                    <a:pt x="1751496" y="5073484"/>
                  </a:lnTo>
                  <a:lnTo>
                    <a:pt x="1797908" y="5071105"/>
                  </a:lnTo>
                  <a:lnTo>
                    <a:pt x="1843057" y="5064126"/>
                  </a:lnTo>
                  <a:lnTo>
                    <a:pt x="1886704" y="5052785"/>
                  </a:lnTo>
                  <a:lnTo>
                    <a:pt x="1928609" y="5037321"/>
                  </a:lnTo>
                  <a:lnTo>
                    <a:pt x="1968534" y="5017973"/>
                  </a:lnTo>
                  <a:lnTo>
                    <a:pt x="2006240" y="4994979"/>
                  </a:lnTo>
                  <a:lnTo>
                    <a:pt x="2041488" y="4968577"/>
                  </a:lnTo>
                  <a:lnTo>
                    <a:pt x="2074039" y="4939005"/>
                  </a:lnTo>
                  <a:lnTo>
                    <a:pt x="2103655" y="4906503"/>
                  </a:lnTo>
                  <a:lnTo>
                    <a:pt x="2130098" y="4871308"/>
                  </a:lnTo>
                  <a:lnTo>
                    <a:pt x="2153127" y="4833659"/>
                  </a:lnTo>
                  <a:lnTo>
                    <a:pt x="2172504" y="4793795"/>
                  </a:lnTo>
                  <a:lnTo>
                    <a:pt x="2187999" y="4751925"/>
                  </a:lnTo>
                  <a:lnTo>
                    <a:pt x="2199349" y="4708373"/>
                  </a:lnTo>
                  <a:lnTo>
                    <a:pt x="2206118" y="4664719"/>
                  </a:lnTo>
                  <a:lnTo>
                    <a:pt x="2206238" y="4663947"/>
                  </a:lnTo>
                  <a:lnTo>
                    <a:pt x="2206339" y="4663293"/>
                  </a:lnTo>
                  <a:lnTo>
                    <a:pt x="2208722" y="4616950"/>
                  </a:lnTo>
                  <a:lnTo>
                    <a:pt x="2208722" y="496232"/>
                  </a:lnTo>
                  <a:lnTo>
                    <a:pt x="2206339" y="449890"/>
                  </a:lnTo>
                  <a:lnTo>
                    <a:pt x="2199349" y="404809"/>
                  </a:lnTo>
                  <a:lnTo>
                    <a:pt x="2187992" y="361229"/>
                  </a:lnTo>
                  <a:lnTo>
                    <a:pt x="2172504" y="319387"/>
                  </a:lnTo>
                  <a:lnTo>
                    <a:pt x="2153127" y="279523"/>
                  </a:lnTo>
                  <a:lnTo>
                    <a:pt x="2130098" y="241874"/>
                  </a:lnTo>
                  <a:lnTo>
                    <a:pt x="2103655" y="206680"/>
                  </a:lnTo>
                  <a:lnTo>
                    <a:pt x="2074039" y="174177"/>
                  </a:lnTo>
                  <a:lnTo>
                    <a:pt x="2041488" y="144606"/>
                  </a:lnTo>
                  <a:lnTo>
                    <a:pt x="2006240" y="118204"/>
                  </a:lnTo>
                  <a:lnTo>
                    <a:pt x="1968534" y="95209"/>
                  </a:lnTo>
                  <a:lnTo>
                    <a:pt x="1928609" y="75861"/>
                  </a:lnTo>
                  <a:lnTo>
                    <a:pt x="1886704" y="60397"/>
                  </a:lnTo>
                  <a:lnTo>
                    <a:pt x="1843057" y="49057"/>
                  </a:lnTo>
                  <a:lnTo>
                    <a:pt x="1797908" y="42078"/>
                  </a:lnTo>
                  <a:lnTo>
                    <a:pt x="1751496" y="39698"/>
                  </a:lnTo>
                  <a:lnTo>
                    <a:pt x="1944844" y="39698"/>
                  </a:lnTo>
                  <a:lnTo>
                    <a:pt x="1996510" y="65006"/>
                  </a:lnTo>
                  <a:lnTo>
                    <a:pt x="2038332" y="91751"/>
                  </a:lnTo>
                  <a:lnTo>
                    <a:pt x="2077148" y="122355"/>
                  </a:lnTo>
                  <a:lnTo>
                    <a:pt x="2112697" y="156507"/>
                  </a:lnTo>
                  <a:lnTo>
                    <a:pt x="2144715" y="193900"/>
                  </a:lnTo>
                  <a:lnTo>
                    <a:pt x="2172939" y="234221"/>
                  </a:lnTo>
                  <a:lnTo>
                    <a:pt x="2211171" y="266525"/>
                  </a:lnTo>
                  <a:lnTo>
                    <a:pt x="2246131" y="302390"/>
                  </a:lnTo>
                  <a:lnTo>
                    <a:pt x="2271015" y="333468"/>
                  </a:lnTo>
                  <a:lnTo>
                    <a:pt x="2224626" y="333468"/>
                  </a:lnTo>
                  <a:lnTo>
                    <a:pt x="2235684" y="372856"/>
                  </a:lnTo>
                  <a:lnTo>
                    <a:pt x="2244505" y="413361"/>
                  </a:lnTo>
                  <a:lnTo>
                    <a:pt x="2250345" y="454611"/>
                  </a:lnTo>
                  <a:lnTo>
                    <a:pt x="2252457" y="496232"/>
                  </a:lnTo>
                  <a:lnTo>
                    <a:pt x="2252457" y="4616950"/>
                  </a:lnTo>
                  <a:lnTo>
                    <a:pt x="2250249" y="4663293"/>
                  </a:lnTo>
                  <a:lnTo>
                    <a:pt x="2243490" y="4711207"/>
                  </a:lnTo>
                  <a:lnTo>
                    <a:pt x="2232595" y="4756207"/>
                  </a:lnTo>
                  <a:lnTo>
                    <a:pt x="2217704" y="4799510"/>
                  </a:lnTo>
                  <a:lnTo>
                    <a:pt x="2199026" y="4840908"/>
                  </a:lnTo>
                  <a:lnTo>
                    <a:pt x="2176769" y="4880192"/>
                  </a:lnTo>
                  <a:lnTo>
                    <a:pt x="2151142" y="4917154"/>
                  </a:lnTo>
                  <a:lnTo>
                    <a:pt x="2122354" y="4951585"/>
                  </a:lnTo>
                  <a:lnTo>
                    <a:pt x="2090614" y="4983277"/>
                  </a:lnTo>
                  <a:lnTo>
                    <a:pt x="2056131" y="5012021"/>
                  </a:lnTo>
                  <a:lnTo>
                    <a:pt x="2019113" y="5037609"/>
                  </a:lnTo>
                  <a:lnTo>
                    <a:pt x="1979769" y="5059833"/>
                  </a:lnTo>
                  <a:lnTo>
                    <a:pt x="1949421" y="5073484"/>
                  </a:lnTo>
                  <a:close/>
                </a:path>
                <a:path w="2372360" h="5248275">
                  <a:moveTo>
                    <a:pt x="2068697" y="5208460"/>
                  </a:moveTo>
                  <a:lnTo>
                    <a:pt x="1874748" y="5208460"/>
                  </a:lnTo>
                  <a:lnTo>
                    <a:pt x="1921206" y="5206080"/>
                  </a:lnTo>
                  <a:lnTo>
                    <a:pt x="1966481" y="5199101"/>
                  </a:lnTo>
                  <a:lnTo>
                    <a:pt x="2010323" y="5187760"/>
                  </a:lnTo>
                  <a:lnTo>
                    <a:pt x="2052482" y="5172297"/>
                  </a:lnTo>
                  <a:lnTo>
                    <a:pt x="2092708" y="5152948"/>
                  </a:lnTo>
                  <a:lnTo>
                    <a:pt x="2130750" y="5129954"/>
                  </a:lnTo>
                  <a:lnTo>
                    <a:pt x="2166357" y="5103552"/>
                  </a:lnTo>
                  <a:lnTo>
                    <a:pt x="2199280" y="5073981"/>
                  </a:lnTo>
                  <a:lnTo>
                    <a:pt x="2229267" y="5041478"/>
                  </a:lnTo>
                  <a:lnTo>
                    <a:pt x="2256068" y="5006284"/>
                  </a:lnTo>
                  <a:lnTo>
                    <a:pt x="2279462" y="4968577"/>
                  </a:lnTo>
                  <a:lnTo>
                    <a:pt x="2299112" y="4928770"/>
                  </a:lnTo>
                  <a:lnTo>
                    <a:pt x="2314853" y="4886929"/>
                  </a:lnTo>
                  <a:lnTo>
                    <a:pt x="2326407" y="4843349"/>
                  </a:lnTo>
                  <a:lnTo>
                    <a:pt x="2333523" y="4798268"/>
                  </a:lnTo>
                  <a:lnTo>
                    <a:pt x="2335872" y="4753428"/>
                  </a:lnTo>
                  <a:lnTo>
                    <a:pt x="2335951" y="631208"/>
                  </a:lnTo>
                  <a:lnTo>
                    <a:pt x="2333331" y="582632"/>
                  </a:lnTo>
                  <a:lnTo>
                    <a:pt x="2325704" y="535723"/>
                  </a:lnTo>
                  <a:lnTo>
                    <a:pt x="2313417" y="490688"/>
                  </a:lnTo>
                  <a:lnTo>
                    <a:pt x="2296818" y="447738"/>
                  </a:lnTo>
                  <a:lnTo>
                    <a:pt x="2276254" y="407078"/>
                  </a:lnTo>
                  <a:lnTo>
                    <a:pt x="2252075" y="368919"/>
                  </a:lnTo>
                  <a:lnTo>
                    <a:pt x="2224626" y="333468"/>
                  </a:lnTo>
                  <a:lnTo>
                    <a:pt x="2271015" y="333468"/>
                  </a:lnTo>
                  <a:lnTo>
                    <a:pt x="2304923" y="383758"/>
                  </a:lnTo>
                  <a:lnTo>
                    <a:pt x="2328102" y="428739"/>
                  </a:lnTo>
                  <a:lnTo>
                    <a:pt x="2346700" y="476236"/>
                  </a:lnTo>
                  <a:lnTo>
                    <a:pt x="2360389" y="525987"/>
                  </a:lnTo>
                  <a:lnTo>
                    <a:pt x="2368843" y="577732"/>
                  </a:lnTo>
                  <a:lnTo>
                    <a:pt x="2371734" y="631208"/>
                  </a:lnTo>
                  <a:lnTo>
                    <a:pt x="2371662" y="4753428"/>
                  </a:lnTo>
                  <a:lnTo>
                    <a:pt x="2369525" y="4798268"/>
                  </a:lnTo>
                  <a:lnTo>
                    <a:pt x="2362767" y="4846182"/>
                  </a:lnTo>
                  <a:lnTo>
                    <a:pt x="2351872" y="4891183"/>
                  </a:lnTo>
                  <a:lnTo>
                    <a:pt x="2336981" y="4934486"/>
                  </a:lnTo>
                  <a:lnTo>
                    <a:pt x="2318302" y="4975884"/>
                  </a:lnTo>
                  <a:lnTo>
                    <a:pt x="2296045" y="5015168"/>
                  </a:lnTo>
                  <a:lnTo>
                    <a:pt x="2270419" y="5052130"/>
                  </a:lnTo>
                  <a:lnTo>
                    <a:pt x="2241631" y="5086561"/>
                  </a:lnTo>
                  <a:lnTo>
                    <a:pt x="2209891" y="5118253"/>
                  </a:lnTo>
                  <a:lnTo>
                    <a:pt x="2175408" y="5146997"/>
                  </a:lnTo>
                  <a:lnTo>
                    <a:pt x="2138390" y="5172585"/>
                  </a:lnTo>
                  <a:lnTo>
                    <a:pt x="2099046" y="5194808"/>
                  </a:lnTo>
                  <a:lnTo>
                    <a:pt x="2068697" y="5208460"/>
                  </a:lnTo>
                  <a:close/>
                </a:path>
                <a:path w="2372360" h="5248275">
                  <a:moveTo>
                    <a:pt x="1755472" y="5113183"/>
                  </a:moveTo>
                  <a:lnTo>
                    <a:pt x="500961" y="5113183"/>
                  </a:lnTo>
                  <a:lnTo>
                    <a:pt x="445733" y="5110268"/>
                  </a:lnTo>
                  <a:lnTo>
                    <a:pt x="393115" y="5101770"/>
                  </a:lnTo>
                  <a:lnTo>
                    <a:pt x="342733" y="5088061"/>
                  </a:lnTo>
                  <a:lnTo>
                    <a:pt x="294215" y="5069514"/>
                  </a:lnTo>
                  <a:lnTo>
                    <a:pt x="439818" y="5069514"/>
                  </a:lnTo>
                  <a:lnTo>
                    <a:pt x="450285" y="5071105"/>
                  </a:lnTo>
                  <a:lnTo>
                    <a:pt x="449706" y="5071105"/>
                  </a:lnTo>
                  <a:lnTo>
                    <a:pt x="496985" y="5073484"/>
                  </a:lnTo>
                  <a:lnTo>
                    <a:pt x="1949421" y="5073484"/>
                  </a:lnTo>
                  <a:lnTo>
                    <a:pt x="1938309" y="5078483"/>
                  </a:lnTo>
                  <a:lnTo>
                    <a:pt x="1894940" y="5093351"/>
                  </a:lnTo>
                  <a:lnTo>
                    <a:pt x="1849871" y="5104230"/>
                  </a:lnTo>
                  <a:lnTo>
                    <a:pt x="1803312" y="5110910"/>
                  </a:lnTo>
                  <a:lnTo>
                    <a:pt x="1755472" y="5113183"/>
                  </a:lnTo>
                  <a:close/>
                </a:path>
              </a:pathLst>
            </a:custGeom>
            <a:solidFill>
              <a:srgbClr val="E9E8E3">
                <a:alpha val="5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943834" y="2668459"/>
            <a:ext cx="2035810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90805" algn="ctr">
              <a:lnSpc>
                <a:spcPct val="115399"/>
              </a:lnSpc>
              <a:spcBef>
                <a:spcPts val="100"/>
              </a:spcBef>
            </a:pPr>
            <a:r>
              <a:rPr sz="2600" dirty="0">
                <a:solidFill>
                  <a:srgbClr val="E9E8E3"/>
                </a:solidFill>
                <a:latin typeface="Verdana"/>
                <a:cs typeface="Verdana"/>
              </a:rPr>
              <a:t>Calcul</a:t>
            </a:r>
            <a:r>
              <a:rPr sz="2600" spc="-114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600" spc="-25" dirty="0">
                <a:solidFill>
                  <a:srgbClr val="E9E8E3"/>
                </a:solidFill>
                <a:latin typeface="Verdana"/>
                <a:cs typeface="Verdana"/>
              </a:rPr>
              <a:t>du </a:t>
            </a:r>
            <a:r>
              <a:rPr sz="2600" spc="-10" dirty="0">
                <a:solidFill>
                  <a:srgbClr val="E9E8E3"/>
                </a:solidFill>
                <a:latin typeface="Verdana"/>
                <a:cs typeface="Verdana"/>
              </a:rPr>
              <a:t>nombre total d'usage </a:t>
            </a:r>
            <a:r>
              <a:rPr sz="2600" spc="-60" dirty="0">
                <a:solidFill>
                  <a:srgbClr val="E9E8E3"/>
                </a:solidFill>
                <a:latin typeface="Verdana"/>
                <a:cs typeface="Verdana"/>
              </a:rPr>
              <a:t>pour</a:t>
            </a:r>
            <a:r>
              <a:rPr sz="2600" spc="-190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600" spc="-10" dirty="0">
                <a:solidFill>
                  <a:srgbClr val="E9E8E3"/>
                </a:solidFill>
                <a:latin typeface="Verdana"/>
                <a:cs typeface="Verdana"/>
              </a:rPr>
              <a:t>chaque propriété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12346" y="6348300"/>
            <a:ext cx="1720850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sz="2000" spc="-10" dirty="0">
                <a:solidFill>
                  <a:srgbClr val="E9E8E3"/>
                </a:solidFill>
                <a:latin typeface="Verdana"/>
                <a:cs typeface="Verdana"/>
              </a:rPr>
              <a:t>Suppression </a:t>
            </a:r>
            <a:r>
              <a:rPr sz="2000" spc="-70" dirty="0">
                <a:solidFill>
                  <a:srgbClr val="E9E8E3"/>
                </a:solidFill>
                <a:latin typeface="Verdana"/>
                <a:cs typeface="Verdana"/>
              </a:rPr>
              <a:t>d'une</a:t>
            </a:r>
            <a:r>
              <a:rPr sz="2000" spc="-125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E9E8E3"/>
                </a:solidFill>
                <a:latin typeface="Verdana"/>
                <a:cs typeface="Verdana"/>
              </a:rPr>
              <a:t>variable</a:t>
            </a:r>
            <a:endParaRPr sz="2000" dirty="0">
              <a:latin typeface="Verdana"/>
              <a:cs typeface="Verdana"/>
            </a:endParaRPr>
          </a:p>
        </p:txBody>
      </p:sp>
      <p:pic>
        <p:nvPicPr>
          <p:cNvPr id="35" name="object 3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68066" y="33083"/>
            <a:ext cx="1619249" cy="628649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14289836" y="2414382"/>
            <a:ext cx="2724150" cy="5248275"/>
            <a:chOff x="14289836" y="2414382"/>
            <a:chExt cx="2724150" cy="5248275"/>
          </a:xfrm>
        </p:grpSpPr>
        <p:sp>
          <p:nvSpPr>
            <p:cNvPr id="37" name="object 37"/>
            <p:cNvSpPr/>
            <p:nvPr/>
          </p:nvSpPr>
          <p:spPr>
            <a:xfrm>
              <a:off x="14579918" y="2747843"/>
              <a:ext cx="2398395" cy="4874895"/>
            </a:xfrm>
            <a:custGeom>
              <a:avLst/>
              <a:gdLst/>
              <a:ahLst/>
              <a:cxnLst/>
              <a:rect l="l" t="t" r="r" b="b"/>
              <a:pathLst>
                <a:path w="2398394" h="4874895">
                  <a:moveTo>
                    <a:pt x="1941325" y="4874872"/>
                  </a:moveTo>
                  <a:lnTo>
                    <a:pt x="309791" y="4874872"/>
                  </a:lnTo>
                  <a:lnTo>
                    <a:pt x="262027" y="4871758"/>
                  </a:lnTo>
                  <a:lnTo>
                    <a:pt x="214384" y="4862604"/>
                  </a:lnTo>
                  <a:lnTo>
                    <a:pt x="167492" y="4847685"/>
                  </a:lnTo>
                  <a:lnTo>
                    <a:pt x="121979" y="4827281"/>
                  </a:lnTo>
                  <a:lnTo>
                    <a:pt x="78474" y="4801668"/>
                  </a:lnTo>
                  <a:lnTo>
                    <a:pt x="37605" y="4771125"/>
                  </a:lnTo>
                  <a:lnTo>
                    <a:pt x="0" y="4735930"/>
                  </a:lnTo>
                  <a:lnTo>
                    <a:pt x="49050" y="4754476"/>
                  </a:lnTo>
                  <a:lnTo>
                    <a:pt x="100336" y="4768184"/>
                  </a:lnTo>
                  <a:lnTo>
                    <a:pt x="153112" y="4776682"/>
                  </a:lnTo>
                  <a:lnTo>
                    <a:pt x="206633" y="4779597"/>
                  </a:lnTo>
                  <a:lnTo>
                    <a:pt x="1822113" y="4779597"/>
                  </a:lnTo>
                  <a:lnTo>
                    <a:pt x="1866783" y="4777324"/>
                  </a:lnTo>
                  <a:lnTo>
                    <a:pt x="1910850" y="4770644"/>
                  </a:lnTo>
                  <a:lnTo>
                    <a:pt x="1954045" y="4759766"/>
                  </a:lnTo>
                  <a:lnTo>
                    <a:pt x="1996094" y="4744898"/>
                  </a:lnTo>
                  <a:lnTo>
                    <a:pt x="2036725" y="4726248"/>
                  </a:lnTo>
                  <a:lnTo>
                    <a:pt x="2075668" y="4704025"/>
                  </a:lnTo>
                  <a:lnTo>
                    <a:pt x="2112651" y="4678438"/>
                  </a:lnTo>
                  <a:lnTo>
                    <a:pt x="2147401" y="4649695"/>
                  </a:lnTo>
                  <a:lnTo>
                    <a:pt x="2179647" y="4618004"/>
                  </a:lnTo>
                  <a:lnTo>
                    <a:pt x="2209117" y="4583573"/>
                  </a:lnTo>
                  <a:lnTo>
                    <a:pt x="2235540" y="4546612"/>
                  </a:lnTo>
                  <a:lnTo>
                    <a:pt x="2258643" y="4507329"/>
                  </a:lnTo>
                  <a:lnTo>
                    <a:pt x="2278155" y="4465932"/>
                  </a:lnTo>
                  <a:lnTo>
                    <a:pt x="2293804" y="4422630"/>
                  </a:lnTo>
                  <a:lnTo>
                    <a:pt x="2305318" y="4377631"/>
                  </a:lnTo>
                  <a:lnTo>
                    <a:pt x="2312426" y="4331144"/>
                  </a:lnTo>
                  <a:lnTo>
                    <a:pt x="2314856" y="4283377"/>
                  </a:lnTo>
                  <a:lnTo>
                    <a:pt x="2314856" y="162760"/>
                  </a:lnTo>
                  <a:lnTo>
                    <a:pt x="2313303" y="121139"/>
                  </a:lnTo>
                  <a:lnTo>
                    <a:pt x="2308398" y="79891"/>
                  </a:lnTo>
                  <a:lnTo>
                    <a:pt x="2299768" y="39387"/>
                  </a:lnTo>
                  <a:lnTo>
                    <a:pt x="2287040" y="0"/>
                  </a:lnTo>
                  <a:lnTo>
                    <a:pt x="2314473" y="35450"/>
                  </a:lnTo>
                  <a:lnTo>
                    <a:pt x="2338640" y="73608"/>
                  </a:lnTo>
                  <a:lnTo>
                    <a:pt x="2359192" y="114266"/>
                  </a:lnTo>
                  <a:lnTo>
                    <a:pt x="2375782" y="157216"/>
                  </a:lnTo>
                  <a:lnTo>
                    <a:pt x="2388063" y="202249"/>
                  </a:lnTo>
                  <a:lnTo>
                    <a:pt x="2395686" y="249157"/>
                  </a:lnTo>
                  <a:lnTo>
                    <a:pt x="2398304" y="297732"/>
                  </a:lnTo>
                  <a:lnTo>
                    <a:pt x="2398304" y="4418349"/>
                  </a:lnTo>
                  <a:lnTo>
                    <a:pt x="2395922" y="4464690"/>
                  </a:lnTo>
                  <a:lnTo>
                    <a:pt x="2388936" y="4509769"/>
                  </a:lnTo>
                  <a:lnTo>
                    <a:pt x="2377584" y="4553349"/>
                  </a:lnTo>
                  <a:lnTo>
                    <a:pt x="2362106" y="4595189"/>
                  </a:lnTo>
                  <a:lnTo>
                    <a:pt x="2342739" y="4635053"/>
                  </a:lnTo>
                  <a:lnTo>
                    <a:pt x="2319722" y="4672700"/>
                  </a:lnTo>
                  <a:lnTo>
                    <a:pt x="2293294" y="4707894"/>
                  </a:lnTo>
                  <a:lnTo>
                    <a:pt x="2263694" y="4740396"/>
                  </a:lnTo>
                  <a:lnTo>
                    <a:pt x="2231160" y="4769966"/>
                  </a:lnTo>
                  <a:lnTo>
                    <a:pt x="2195931" y="4796368"/>
                  </a:lnTo>
                  <a:lnTo>
                    <a:pt x="2158246" y="4819362"/>
                  </a:lnTo>
                  <a:lnTo>
                    <a:pt x="2118342" y="4838710"/>
                  </a:lnTo>
                  <a:lnTo>
                    <a:pt x="2076460" y="4854173"/>
                  </a:lnTo>
                  <a:lnTo>
                    <a:pt x="2032837" y="4865513"/>
                  </a:lnTo>
                  <a:lnTo>
                    <a:pt x="1987713" y="4872492"/>
                  </a:lnTo>
                  <a:lnTo>
                    <a:pt x="1941325" y="4874872"/>
                  </a:lnTo>
                  <a:close/>
                </a:path>
              </a:pathLst>
            </a:custGeom>
            <a:solidFill>
              <a:srgbClr val="E9E8E3">
                <a:alpha val="5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4329573" y="2454080"/>
              <a:ext cx="2521585" cy="5034280"/>
            </a:xfrm>
            <a:custGeom>
              <a:avLst/>
              <a:gdLst/>
              <a:ahLst/>
              <a:cxnLst/>
              <a:rect l="l" t="t" r="r" b="b"/>
              <a:pathLst>
                <a:path w="2521584" h="5034280">
                  <a:moveTo>
                    <a:pt x="2064511" y="5033662"/>
                  </a:moveTo>
                  <a:lnTo>
                    <a:pt x="456978" y="5033662"/>
                  </a:lnTo>
                  <a:lnTo>
                    <a:pt x="410591" y="5031327"/>
                  </a:lnTo>
                  <a:lnTo>
                    <a:pt x="365466" y="5024467"/>
                  </a:lnTo>
                  <a:lnTo>
                    <a:pt x="321843" y="5013304"/>
                  </a:lnTo>
                  <a:lnTo>
                    <a:pt x="279961" y="4998058"/>
                  </a:lnTo>
                  <a:lnTo>
                    <a:pt x="240058" y="4978952"/>
                  </a:lnTo>
                  <a:lnTo>
                    <a:pt x="202373" y="4956205"/>
                  </a:lnTo>
                  <a:lnTo>
                    <a:pt x="167144" y="4930039"/>
                  </a:lnTo>
                  <a:lnTo>
                    <a:pt x="134610" y="4900675"/>
                  </a:lnTo>
                  <a:lnTo>
                    <a:pt x="105009" y="4868334"/>
                  </a:lnTo>
                  <a:lnTo>
                    <a:pt x="78582" y="4833236"/>
                  </a:lnTo>
                  <a:lnTo>
                    <a:pt x="55565" y="4795602"/>
                  </a:lnTo>
                  <a:lnTo>
                    <a:pt x="36198" y="4755655"/>
                  </a:lnTo>
                  <a:lnTo>
                    <a:pt x="20719" y="4713613"/>
                  </a:lnTo>
                  <a:lnTo>
                    <a:pt x="9367" y="4669700"/>
                  </a:lnTo>
                  <a:lnTo>
                    <a:pt x="2381" y="4624135"/>
                  </a:lnTo>
                  <a:lnTo>
                    <a:pt x="0" y="4577139"/>
                  </a:lnTo>
                  <a:lnTo>
                    <a:pt x="0" y="456523"/>
                  </a:lnTo>
                  <a:lnTo>
                    <a:pt x="2381" y="410181"/>
                  </a:lnTo>
                  <a:lnTo>
                    <a:pt x="9367" y="365102"/>
                  </a:lnTo>
                  <a:lnTo>
                    <a:pt x="20719" y="321522"/>
                  </a:lnTo>
                  <a:lnTo>
                    <a:pt x="36198" y="279682"/>
                  </a:lnTo>
                  <a:lnTo>
                    <a:pt x="55565" y="239819"/>
                  </a:lnTo>
                  <a:lnTo>
                    <a:pt x="78582" y="202171"/>
                  </a:lnTo>
                  <a:lnTo>
                    <a:pt x="105009" y="166977"/>
                  </a:lnTo>
                  <a:lnTo>
                    <a:pt x="134610" y="134475"/>
                  </a:lnTo>
                  <a:lnTo>
                    <a:pt x="167144" y="104905"/>
                  </a:lnTo>
                  <a:lnTo>
                    <a:pt x="202373" y="78503"/>
                  </a:lnTo>
                  <a:lnTo>
                    <a:pt x="240058" y="55509"/>
                  </a:lnTo>
                  <a:lnTo>
                    <a:pt x="279961" y="36162"/>
                  </a:lnTo>
                  <a:lnTo>
                    <a:pt x="321843" y="20698"/>
                  </a:lnTo>
                  <a:lnTo>
                    <a:pt x="365466" y="9358"/>
                  </a:lnTo>
                  <a:lnTo>
                    <a:pt x="410591" y="2379"/>
                  </a:lnTo>
                  <a:lnTo>
                    <a:pt x="456978" y="0"/>
                  </a:lnTo>
                  <a:lnTo>
                    <a:pt x="2064511" y="0"/>
                  </a:lnTo>
                  <a:lnTo>
                    <a:pt x="2110898" y="2379"/>
                  </a:lnTo>
                  <a:lnTo>
                    <a:pt x="2156023" y="9358"/>
                  </a:lnTo>
                  <a:lnTo>
                    <a:pt x="2199646" y="20698"/>
                  </a:lnTo>
                  <a:lnTo>
                    <a:pt x="2241528" y="36162"/>
                  </a:lnTo>
                  <a:lnTo>
                    <a:pt x="2281431" y="55509"/>
                  </a:lnTo>
                  <a:lnTo>
                    <a:pt x="2319117" y="78503"/>
                  </a:lnTo>
                  <a:lnTo>
                    <a:pt x="2354346" y="104905"/>
                  </a:lnTo>
                  <a:lnTo>
                    <a:pt x="2386879" y="134475"/>
                  </a:lnTo>
                  <a:lnTo>
                    <a:pt x="2416480" y="166977"/>
                  </a:lnTo>
                  <a:lnTo>
                    <a:pt x="2442908" y="202171"/>
                  </a:lnTo>
                  <a:lnTo>
                    <a:pt x="2465924" y="239819"/>
                  </a:lnTo>
                  <a:lnTo>
                    <a:pt x="2485291" y="279682"/>
                  </a:lnTo>
                  <a:lnTo>
                    <a:pt x="2500770" y="321522"/>
                  </a:lnTo>
                  <a:lnTo>
                    <a:pt x="2512122" y="365102"/>
                  </a:lnTo>
                  <a:lnTo>
                    <a:pt x="2519108" y="410181"/>
                  </a:lnTo>
                  <a:lnTo>
                    <a:pt x="2521490" y="456523"/>
                  </a:lnTo>
                  <a:lnTo>
                    <a:pt x="2521490" y="4577139"/>
                  </a:lnTo>
                  <a:lnTo>
                    <a:pt x="2519108" y="4623481"/>
                  </a:lnTo>
                  <a:lnTo>
                    <a:pt x="2512122" y="4668560"/>
                  </a:lnTo>
                  <a:lnTo>
                    <a:pt x="2500770" y="4712139"/>
                  </a:lnTo>
                  <a:lnTo>
                    <a:pt x="2485291" y="4753980"/>
                  </a:lnTo>
                  <a:lnTo>
                    <a:pt x="2465924" y="4793843"/>
                  </a:lnTo>
                  <a:lnTo>
                    <a:pt x="2442908" y="4831491"/>
                  </a:lnTo>
                  <a:lnTo>
                    <a:pt x="2416480" y="4866685"/>
                  </a:lnTo>
                  <a:lnTo>
                    <a:pt x="2386879" y="4899186"/>
                  </a:lnTo>
                  <a:lnTo>
                    <a:pt x="2354346" y="4928757"/>
                  </a:lnTo>
                  <a:lnTo>
                    <a:pt x="2319117" y="4955159"/>
                  </a:lnTo>
                  <a:lnTo>
                    <a:pt x="2281431" y="4978152"/>
                  </a:lnTo>
                  <a:lnTo>
                    <a:pt x="2241528" y="4997500"/>
                  </a:lnTo>
                  <a:lnTo>
                    <a:pt x="2199646" y="5012963"/>
                  </a:lnTo>
                  <a:lnTo>
                    <a:pt x="2156023" y="5024304"/>
                  </a:lnTo>
                  <a:lnTo>
                    <a:pt x="2110898" y="5031283"/>
                  </a:lnTo>
                  <a:lnTo>
                    <a:pt x="2064511" y="5033662"/>
                  </a:lnTo>
                  <a:close/>
                </a:path>
              </a:pathLst>
            </a:custGeom>
            <a:solidFill>
              <a:srgbClr val="415343">
                <a:alpha val="5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289836" y="2414382"/>
              <a:ext cx="2724150" cy="5248275"/>
            </a:xfrm>
            <a:custGeom>
              <a:avLst/>
              <a:gdLst/>
              <a:ahLst/>
              <a:cxnLst/>
              <a:rect l="l" t="t" r="r" b="b"/>
              <a:pathLst>
                <a:path w="2724150" h="5248275">
                  <a:moveTo>
                    <a:pt x="2227434" y="5248029"/>
                  </a:moveTo>
                  <a:lnTo>
                    <a:pt x="601344" y="5248029"/>
                  </a:lnTo>
                  <a:lnTo>
                    <a:pt x="553487" y="5245223"/>
                  </a:lnTo>
                  <a:lnTo>
                    <a:pt x="506320" y="5237009"/>
                  </a:lnTo>
                  <a:lnTo>
                    <a:pt x="460218" y="5223699"/>
                  </a:lnTo>
                  <a:lnTo>
                    <a:pt x="415553" y="5205601"/>
                  </a:lnTo>
                  <a:lnTo>
                    <a:pt x="372701" y="5183024"/>
                  </a:lnTo>
                  <a:lnTo>
                    <a:pt x="332033" y="5156280"/>
                  </a:lnTo>
                  <a:lnTo>
                    <a:pt x="293924" y="5125677"/>
                  </a:lnTo>
                  <a:lnTo>
                    <a:pt x="258747" y="5091525"/>
                  </a:lnTo>
                  <a:lnTo>
                    <a:pt x="226877" y="5054134"/>
                  </a:lnTo>
                  <a:lnTo>
                    <a:pt x="198686" y="5013813"/>
                  </a:lnTo>
                  <a:lnTo>
                    <a:pt x="160475" y="4981511"/>
                  </a:lnTo>
                  <a:lnTo>
                    <a:pt x="125534" y="4945647"/>
                  </a:lnTo>
                  <a:lnTo>
                    <a:pt x="94127" y="4906382"/>
                  </a:lnTo>
                  <a:lnTo>
                    <a:pt x="66773" y="4864280"/>
                  </a:lnTo>
                  <a:lnTo>
                    <a:pt x="43607" y="4819300"/>
                  </a:lnTo>
                  <a:lnTo>
                    <a:pt x="25019" y="4771805"/>
                  </a:lnTo>
                  <a:lnTo>
                    <a:pt x="11337" y="4722055"/>
                  </a:lnTo>
                  <a:lnTo>
                    <a:pt x="2888" y="4670311"/>
                  </a:lnTo>
                  <a:lnTo>
                    <a:pt x="0" y="4616837"/>
                  </a:lnTo>
                  <a:lnTo>
                    <a:pt x="0" y="496220"/>
                  </a:lnTo>
                  <a:lnTo>
                    <a:pt x="2207" y="449879"/>
                  </a:lnTo>
                  <a:lnTo>
                    <a:pt x="2275" y="448453"/>
                  </a:lnTo>
                  <a:lnTo>
                    <a:pt x="8961" y="401966"/>
                  </a:lnTo>
                  <a:lnTo>
                    <a:pt x="19850" y="356966"/>
                  </a:lnTo>
                  <a:lnTo>
                    <a:pt x="34733" y="313664"/>
                  </a:lnTo>
                  <a:lnTo>
                    <a:pt x="53402" y="272267"/>
                  </a:lnTo>
                  <a:lnTo>
                    <a:pt x="75647" y="232984"/>
                  </a:lnTo>
                  <a:lnTo>
                    <a:pt x="101260" y="196023"/>
                  </a:lnTo>
                  <a:lnTo>
                    <a:pt x="130032" y="161593"/>
                  </a:lnTo>
                  <a:lnTo>
                    <a:pt x="161754" y="129902"/>
                  </a:lnTo>
                  <a:lnTo>
                    <a:pt x="196219" y="101159"/>
                  </a:lnTo>
                  <a:lnTo>
                    <a:pt x="233217" y="75571"/>
                  </a:lnTo>
                  <a:lnTo>
                    <a:pt x="272539" y="53349"/>
                  </a:lnTo>
                  <a:lnTo>
                    <a:pt x="313977" y="34699"/>
                  </a:lnTo>
                  <a:lnTo>
                    <a:pt x="357323" y="19831"/>
                  </a:lnTo>
                  <a:lnTo>
                    <a:pt x="402367" y="8952"/>
                  </a:lnTo>
                  <a:lnTo>
                    <a:pt x="448901" y="2272"/>
                  </a:lnTo>
                  <a:lnTo>
                    <a:pt x="496716" y="0"/>
                  </a:lnTo>
                  <a:lnTo>
                    <a:pt x="2104248" y="0"/>
                  </a:lnTo>
                  <a:lnTo>
                    <a:pt x="2157134" y="2806"/>
                  </a:lnTo>
                  <a:lnTo>
                    <a:pt x="2208328" y="11020"/>
                  </a:lnTo>
                  <a:lnTo>
                    <a:pt x="2257566" y="24330"/>
                  </a:lnTo>
                  <a:lnTo>
                    <a:pt x="2297492" y="39697"/>
                  </a:lnTo>
                  <a:lnTo>
                    <a:pt x="496716" y="39697"/>
                  </a:lnTo>
                  <a:lnTo>
                    <a:pt x="450328" y="42076"/>
                  </a:lnTo>
                  <a:lnTo>
                    <a:pt x="405203" y="49056"/>
                  </a:lnTo>
                  <a:lnTo>
                    <a:pt x="361581" y="60396"/>
                  </a:lnTo>
                  <a:lnTo>
                    <a:pt x="319698" y="75859"/>
                  </a:lnTo>
                  <a:lnTo>
                    <a:pt x="279795" y="95207"/>
                  </a:lnTo>
                  <a:lnTo>
                    <a:pt x="242110" y="118201"/>
                  </a:lnTo>
                  <a:lnTo>
                    <a:pt x="206881" y="144602"/>
                  </a:lnTo>
                  <a:lnTo>
                    <a:pt x="174347" y="174173"/>
                  </a:lnTo>
                  <a:lnTo>
                    <a:pt x="144747" y="206674"/>
                  </a:lnTo>
                  <a:lnTo>
                    <a:pt x="118319" y="241868"/>
                  </a:lnTo>
                  <a:lnTo>
                    <a:pt x="95302" y="279516"/>
                  </a:lnTo>
                  <a:lnTo>
                    <a:pt x="75935" y="319380"/>
                  </a:lnTo>
                  <a:lnTo>
                    <a:pt x="60456" y="361220"/>
                  </a:lnTo>
                  <a:lnTo>
                    <a:pt x="49105" y="404799"/>
                  </a:lnTo>
                  <a:lnTo>
                    <a:pt x="42119" y="449879"/>
                  </a:lnTo>
                  <a:lnTo>
                    <a:pt x="39737" y="496220"/>
                  </a:lnTo>
                  <a:lnTo>
                    <a:pt x="39737" y="4616837"/>
                  </a:lnTo>
                  <a:lnTo>
                    <a:pt x="42085" y="4663178"/>
                  </a:lnTo>
                  <a:lnTo>
                    <a:pt x="49105" y="4709397"/>
                  </a:lnTo>
                  <a:lnTo>
                    <a:pt x="60456" y="4753311"/>
                  </a:lnTo>
                  <a:lnTo>
                    <a:pt x="75935" y="4795352"/>
                  </a:lnTo>
                  <a:lnTo>
                    <a:pt x="95302" y="4835300"/>
                  </a:lnTo>
                  <a:lnTo>
                    <a:pt x="118319" y="4872933"/>
                  </a:lnTo>
                  <a:lnTo>
                    <a:pt x="144747" y="4908031"/>
                  </a:lnTo>
                  <a:lnTo>
                    <a:pt x="174347" y="4940373"/>
                  </a:lnTo>
                  <a:lnTo>
                    <a:pt x="206881" y="4969737"/>
                  </a:lnTo>
                  <a:lnTo>
                    <a:pt x="242110" y="4995903"/>
                  </a:lnTo>
                  <a:lnTo>
                    <a:pt x="279795" y="5018649"/>
                  </a:lnTo>
                  <a:lnTo>
                    <a:pt x="319698" y="5037756"/>
                  </a:lnTo>
                  <a:lnTo>
                    <a:pt x="361581" y="5053001"/>
                  </a:lnTo>
                  <a:lnTo>
                    <a:pt x="405203" y="5064164"/>
                  </a:lnTo>
                  <a:lnTo>
                    <a:pt x="439579" y="5069390"/>
                  </a:lnTo>
                  <a:lnTo>
                    <a:pt x="294055" y="5069390"/>
                  </a:lnTo>
                  <a:lnTo>
                    <a:pt x="331653" y="5104585"/>
                  </a:lnTo>
                  <a:lnTo>
                    <a:pt x="372472" y="5135128"/>
                  </a:lnTo>
                  <a:lnTo>
                    <a:pt x="415838" y="5160741"/>
                  </a:lnTo>
                  <a:lnTo>
                    <a:pt x="461081" y="5181145"/>
                  </a:lnTo>
                  <a:lnTo>
                    <a:pt x="507528" y="5196064"/>
                  </a:lnTo>
                  <a:lnTo>
                    <a:pt x="554506" y="5205218"/>
                  </a:lnTo>
                  <a:lnTo>
                    <a:pt x="601344" y="5208332"/>
                  </a:lnTo>
                  <a:lnTo>
                    <a:pt x="2421278" y="5208332"/>
                  </a:lnTo>
                  <a:lnTo>
                    <a:pt x="2410172" y="5213330"/>
                  </a:lnTo>
                  <a:lnTo>
                    <a:pt x="2366826" y="5228198"/>
                  </a:lnTo>
                  <a:lnTo>
                    <a:pt x="2321782" y="5239077"/>
                  </a:lnTo>
                  <a:lnTo>
                    <a:pt x="2275249" y="5245756"/>
                  </a:lnTo>
                  <a:lnTo>
                    <a:pt x="2227434" y="5248029"/>
                  </a:lnTo>
                  <a:close/>
                </a:path>
                <a:path w="2724150" h="5248275">
                  <a:moveTo>
                    <a:pt x="2302066" y="5073360"/>
                  </a:moveTo>
                  <a:lnTo>
                    <a:pt x="2104248" y="5073360"/>
                  </a:lnTo>
                  <a:lnTo>
                    <a:pt x="2150636" y="5070980"/>
                  </a:lnTo>
                  <a:lnTo>
                    <a:pt x="2195760" y="5064001"/>
                  </a:lnTo>
                  <a:lnTo>
                    <a:pt x="2239383" y="5052661"/>
                  </a:lnTo>
                  <a:lnTo>
                    <a:pt x="2281265" y="5037198"/>
                  </a:lnTo>
                  <a:lnTo>
                    <a:pt x="2321168" y="5017850"/>
                  </a:lnTo>
                  <a:lnTo>
                    <a:pt x="2358854" y="4994856"/>
                  </a:lnTo>
                  <a:lnTo>
                    <a:pt x="2394083" y="4968455"/>
                  </a:lnTo>
                  <a:lnTo>
                    <a:pt x="2426617" y="4938884"/>
                  </a:lnTo>
                  <a:lnTo>
                    <a:pt x="2456217" y="4906382"/>
                  </a:lnTo>
                  <a:lnTo>
                    <a:pt x="2482645" y="4871189"/>
                  </a:lnTo>
                  <a:lnTo>
                    <a:pt x="2505662" y="4833541"/>
                  </a:lnTo>
                  <a:lnTo>
                    <a:pt x="2525029" y="4793677"/>
                  </a:lnTo>
                  <a:lnTo>
                    <a:pt x="2540515" y="4751809"/>
                  </a:lnTo>
                  <a:lnTo>
                    <a:pt x="2551859" y="4708258"/>
                  </a:lnTo>
                  <a:lnTo>
                    <a:pt x="2558624" y="4664604"/>
                  </a:lnTo>
                  <a:lnTo>
                    <a:pt x="2558744" y="4663832"/>
                  </a:lnTo>
                  <a:lnTo>
                    <a:pt x="2558845" y="4663178"/>
                  </a:lnTo>
                  <a:lnTo>
                    <a:pt x="2561227" y="4616837"/>
                  </a:lnTo>
                  <a:lnTo>
                    <a:pt x="2561227" y="496220"/>
                  </a:lnTo>
                  <a:lnTo>
                    <a:pt x="2558845" y="449879"/>
                  </a:lnTo>
                  <a:lnTo>
                    <a:pt x="2551859" y="404799"/>
                  </a:lnTo>
                  <a:lnTo>
                    <a:pt x="2540507" y="361220"/>
                  </a:lnTo>
                  <a:lnTo>
                    <a:pt x="2525029" y="319380"/>
                  </a:lnTo>
                  <a:lnTo>
                    <a:pt x="2505662" y="279516"/>
                  </a:lnTo>
                  <a:lnTo>
                    <a:pt x="2482645" y="241868"/>
                  </a:lnTo>
                  <a:lnTo>
                    <a:pt x="2456217" y="206674"/>
                  </a:lnTo>
                  <a:lnTo>
                    <a:pt x="2426617" y="174173"/>
                  </a:lnTo>
                  <a:lnTo>
                    <a:pt x="2394083" y="144602"/>
                  </a:lnTo>
                  <a:lnTo>
                    <a:pt x="2358854" y="118201"/>
                  </a:lnTo>
                  <a:lnTo>
                    <a:pt x="2321168" y="95207"/>
                  </a:lnTo>
                  <a:lnTo>
                    <a:pt x="2281265" y="75859"/>
                  </a:lnTo>
                  <a:lnTo>
                    <a:pt x="2239383" y="60396"/>
                  </a:lnTo>
                  <a:lnTo>
                    <a:pt x="2195760" y="49056"/>
                  </a:lnTo>
                  <a:lnTo>
                    <a:pt x="2150636" y="42076"/>
                  </a:lnTo>
                  <a:lnTo>
                    <a:pt x="2104248" y="39697"/>
                  </a:lnTo>
                  <a:lnTo>
                    <a:pt x="2297492" y="39697"/>
                  </a:lnTo>
                  <a:lnTo>
                    <a:pt x="2349129" y="65004"/>
                  </a:lnTo>
                  <a:lnTo>
                    <a:pt x="2390929" y="91749"/>
                  </a:lnTo>
                  <a:lnTo>
                    <a:pt x="2429724" y="122352"/>
                  </a:lnTo>
                  <a:lnTo>
                    <a:pt x="2465253" y="156504"/>
                  </a:lnTo>
                  <a:lnTo>
                    <a:pt x="2497254" y="193895"/>
                  </a:lnTo>
                  <a:lnTo>
                    <a:pt x="2525463" y="234216"/>
                  </a:lnTo>
                  <a:lnTo>
                    <a:pt x="2563674" y="266518"/>
                  </a:lnTo>
                  <a:lnTo>
                    <a:pt x="2598615" y="302382"/>
                  </a:lnTo>
                  <a:lnTo>
                    <a:pt x="2623486" y="333460"/>
                  </a:lnTo>
                  <a:lnTo>
                    <a:pt x="2577122" y="333460"/>
                  </a:lnTo>
                  <a:lnTo>
                    <a:pt x="2588174" y="372847"/>
                  </a:lnTo>
                  <a:lnTo>
                    <a:pt x="2596990" y="413351"/>
                  </a:lnTo>
                  <a:lnTo>
                    <a:pt x="2602827" y="454600"/>
                  </a:lnTo>
                  <a:lnTo>
                    <a:pt x="2604938" y="496220"/>
                  </a:lnTo>
                  <a:lnTo>
                    <a:pt x="2604938" y="4616837"/>
                  </a:lnTo>
                  <a:lnTo>
                    <a:pt x="2602731" y="4663178"/>
                  </a:lnTo>
                  <a:lnTo>
                    <a:pt x="2602663" y="4664604"/>
                  </a:lnTo>
                  <a:lnTo>
                    <a:pt x="2595976" y="4711091"/>
                  </a:lnTo>
                  <a:lnTo>
                    <a:pt x="2585087" y="4756090"/>
                  </a:lnTo>
                  <a:lnTo>
                    <a:pt x="2570204" y="4799393"/>
                  </a:lnTo>
                  <a:lnTo>
                    <a:pt x="2551536" y="4840789"/>
                  </a:lnTo>
                  <a:lnTo>
                    <a:pt x="2529291" y="4880073"/>
                  </a:lnTo>
                  <a:lnTo>
                    <a:pt x="2503678" y="4917034"/>
                  </a:lnTo>
                  <a:lnTo>
                    <a:pt x="2474906" y="4951464"/>
                  </a:lnTo>
                  <a:lnTo>
                    <a:pt x="2443183" y="4983155"/>
                  </a:lnTo>
                  <a:lnTo>
                    <a:pt x="2408718" y="5011898"/>
                  </a:lnTo>
                  <a:lnTo>
                    <a:pt x="2371720" y="5037486"/>
                  </a:lnTo>
                  <a:lnTo>
                    <a:pt x="2332398" y="5059708"/>
                  </a:lnTo>
                  <a:lnTo>
                    <a:pt x="2302066" y="5073360"/>
                  </a:lnTo>
                  <a:close/>
                </a:path>
                <a:path w="2724150" h="5248275">
                  <a:moveTo>
                    <a:pt x="2421278" y="5208332"/>
                  </a:moveTo>
                  <a:lnTo>
                    <a:pt x="2227434" y="5208332"/>
                  </a:lnTo>
                  <a:lnTo>
                    <a:pt x="2273866" y="5205952"/>
                  </a:lnTo>
                  <a:lnTo>
                    <a:pt x="2319117" y="5198973"/>
                  </a:lnTo>
                  <a:lnTo>
                    <a:pt x="2362935" y="5187633"/>
                  </a:lnTo>
                  <a:lnTo>
                    <a:pt x="2405072" y="5172170"/>
                  </a:lnTo>
                  <a:lnTo>
                    <a:pt x="2445276" y="5152822"/>
                  </a:lnTo>
                  <a:lnTo>
                    <a:pt x="2483297" y="5129828"/>
                  </a:lnTo>
                  <a:lnTo>
                    <a:pt x="2518885" y="5103427"/>
                  </a:lnTo>
                  <a:lnTo>
                    <a:pt x="2551789" y="5073856"/>
                  </a:lnTo>
                  <a:lnTo>
                    <a:pt x="2581760" y="5041354"/>
                  </a:lnTo>
                  <a:lnTo>
                    <a:pt x="2608547" y="5006161"/>
                  </a:lnTo>
                  <a:lnTo>
                    <a:pt x="2631928" y="4968455"/>
                  </a:lnTo>
                  <a:lnTo>
                    <a:pt x="2651567" y="4928649"/>
                  </a:lnTo>
                  <a:lnTo>
                    <a:pt x="2667300" y="4886809"/>
                  </a:lnTo>
                  <a:lnTo>
                    <a:pt x="2678848" y="4843230"/>
                  </a:lnTo>
                  <a:lnTo>
                    <a:pt x="2685960" y="4798150"/>
                  </a:lnTo>
                  <a:lnTo>
                    <a:pt x="2688307" y="4753311"/>
                  </a:lnTo>
                  <a:lnTo>
                    <a:pt x="2688386" y="631192"/>
                  </a:lnTo>
                  <a:lnTo>
                    <a:pt x="2685768" y="582618"/>
                  </a:lnTo>
                  <a:lnTo>
                    <a:pt x="2678145" y="535710"/>
                  </a:lnTo>
                  <a:lnTo>
                    <a:pt x="2665864" y="490676"/>
                  </a:lnTo>
                  <a:lnTo>
                    <a:pt x="2649274" y="447727"/>
                  </a:lnTo>
                  <a:lnTo>
                    <a:pt x="2628722" y="407068"/>
                  </a:lnTo>
                  <a:lnTo>
                    <a:pt x="2604556" y="368910"/>
                  </a:lnTo>
                  <a:lnTo>
                    <a:pt x="2577122" y="333460"/>
                  </a:lnTo>
                  <a:lnTo>
                    <a:pt x="2623486" y="333460"/>
                  </a:lnTo>
                  <a:lnTo>
                    <a:pt x="2657376" y="383749"/>
                  </a:lnTo>
                  <a:lnTo>
                    <a:pt x="2680542" y="428729"/>
                  </a:lnTo>
                  <a:lnTo>
                    <a:pt x="2699130" y="476224"/>
                  </a:lnTo>
                  <a:lnTo>
                    <a:pt x="2712812" y="525974"/>
                  </a:lnTo>
                  <a:lnTo>
                    <a:pt x="2721261" y="577717"/>
                  </a:lnTo>
                  <a:lnTo>
                    <a:pt x="2724150" y="631192"/>
                  </a:lnTo>
                  <a:lnTo>
                    <a:pt x="2724078" y="4753311"/>
                  </a:lnTo>
                  <a:lnTo>
                    <a:pt x="2721942" y="4798150"/>
                  </a:lnTo>
                  <a:lnTo>
                    <a:pt x="2721874" y="4799576"/>
                  </a:lnTo>
                  <a:lnTo>
                    <a:pt x="2715188" y="4846063"/>
                  </a:lnTo>
                  <a:lnTo>
                    <a:pt x="2704299" y="4891062"/>
                  </a:lnTo>
                  <a:lnTo>
                    <a:pt x="2689416" y="4934365"/>
                  </a:lnTo>
                  <a:lnTo>
                    <a:pt x="2670747" y="4975762"/>
                  </a:lnTo>
                  <a:lnTo>
                    <a:pt x="2648502" y="5015045"/>
                  </a:lnTo>
                  <a:lnTo>
                    <a:pt x="2622890" y="5052006"/>
                  </a:lnTo>
                  <a:lnTo>
                    <a:pt x="2594117" y="5086436"/>
                  </a:lnTo>
                  <a:lnTo>
                    <a:pt x="2562395" y="5118127"/>
                  </a:lnTo>
                  <a:lnTo>
                    <a:pt x="2527930" y="5146870"/>
                  </a:lnTo>
                  <a:lnTo>
                    <a:pt x="2490932" y="5172458"/>
                  </a:lnTo>
                  <a:lnTo>
                    <a:pt x="2451610" y="5194680"/>
                  </a:lnTo>
                  <a:lnTo>
                    <a:pt x="2421278" y="5208332"/>
                  </a:lnTo>
                  <a:close/>
                </a:path>
                <a:path w="2724150" h="5248275">
                  <a:moveTo>
                    <a:pt x="2108222" y="5113057"/>
                  </a:moveTo>
                  <a:lnTo>
                    <a:pt x="500689" y="5113057"/>
                  </a:lnTo>
                  <a:lnTo>
                    <a:pt x="445492" y="5110142"/>
                  </a:lnTo>
                  <a:lnTo>
                    <a:pt x="392902" y="5101644"/>
                  </a:lnTo>
                  <a:lnTo>
                    <a:pt x="342547" y="5087936"/>
                  </a:lnTo>
                  <a:lnTo>
                    <a:pt x="294055" y="5069390"/>
                  </a:lnTo>
                  <a:lnTo>
                    <a:pt x="439579" y="5069390"/>
                  </a:lnTo>
                  <a:lnTo>
                    <a:pt x="450041" y="5070980"/>
                  </a:lnTo>
                  <a:lnTo>
                    <a:pt x="449462" y="5070980"/>
                  </a:lnTo>
                  <a:lnTo>
                    <a:pt x="496716" y="5073360"/>
                  </a:lnTo>
                  <a:lnTo>
                    <a:pt x="2302066" y="5073360"/>
                  </a:lnTo>
                  <a:lnTo>
                    <a:pt x="2290960" y="5078358"/>
                  </a:lnTo>
                  <a:lnTo>
                    <a:pt x="2247614" y="5093226"/>
                  </a:lnTo>
                  <a:lnTo>
                    <a:pt x="2202570" y="5104105"/>
                  </a:lnTo>
                  <a:lnTo>
                    <a:pt x="2156037" y="5110784"/>
                  </a:lnTo>
                  <a:lnTo>
                    <a:pt x="2108222" y="5113057"/>
                  </a:lnTo>
                  <a:close/>
                </a:path>
              </a:pathLst>
            </a:custGeom>
            <a:solidFill>
              <a:srgbClr val="E9E8E3">
                <a:alpha val="588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4567039" y="2706349"/>
            <a:ext cx="216662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5399"/>
              </a:lnSpc>
              <a:spcBef>
                <a:spcPts val="100"/>
              </a:spcBef>
            </a:pPr>
            <a:r>
              <a:rPr sz="2600" dirty="0">
                <a:solidFill>
                  <a:srgbClr val="E9E8E3"/>
                </a:solidFill>
                <a:latin typeface="Verdana"/>
                <a:cs typeface="Verdana"/>
              </a:rPr>
              <a:t>Passage</a:t>
            </a:r>
            <a:r>
              <a:rPr sz="2600" spc="20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600" spc="-25" dirty="0">
                <a:solidFill>
                  <a:srgbClr val="E9E8E3"/>
                </a:solidFill>
                <a:latin typeface="Verdana"/>
                <a:cs typeface="Verdana"/>
              </a:rPr>
              <a:t>au </a:t>
            </a:r>
            <a:r>
              <a:rPr sz="2600" spc="-80" dirty="0">
                <a:solidFill>
                  <a:srgbClr val="E9E8E3"/>
                </a:solidFill>
                <a:latin typeface="Verdana"/>
                <a:cs typeface="Verdana"/>
              </a:rPr>
              <a:t>log10</a:t>
            </a:r>
            <a:r>
              <a:rPr sz="2600" spc="-170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600" spc="-509" dirty="0">
                <a:solidFill>
                  <a:srgbClr val="E9E8E3"/>
                </a:solidFill>
                <a:latin typeface="Verdana"/>
                <a:cs typeface="Verdana"/>
              </a:rPr>
              <a:t>+1</a:t>
            </a:r>
            <a:r>
              <a:rPr sz="2600" spc="-170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600" spc="-55" dirty="0">
                <a:solidFill>
                  <a:srgbClr val="E9E8E3"/>
                </a:solidFill>
                <a:latin typeface="Verdana"/>
                <a:cs typeface="Verdana"/>
              </a:rPr>
              <a:t>pour </a:t>
            </a:r>
            <a:r>
              <a:rPr sz="2600" spc="60" dirty="0">
                <a:solidFill>
                  <a:srgbClr val="E9E8E3"/>
                </a:solidFill>
                <a:latin typeface="Verdana"/>
                <a:cs typeface="Verdana"/>
              </a:rPr>
              <a:t>les</a:t>
            </a:r>
            <a:r>
              <a:rPr sz="2600" spc="-190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600" spc="-10" dirty="0">
                <a:solidFill>
                  <a:srgbClr val="E9E8E3"/>
                </a:solidFill>
                <a:latin typeface="Verdana"/>
                <a:cs typeface="Verdana"/>
              </a:rPr>
              <a:t>variables cibles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565049" y="6098487"/>
            <a:ext cx="2193290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sz="2000" spc="-25" dirty="0">
                <a:solidFill>
                  <a:srgbClr val="E9E8E3"/>
                </a:solidFill>
                <a:latin typeface="Verdana"/>
                <a:cs typeface="Verdana"/>
              </a:rPr>
              <a:t>Suppression</a:t>
            </a:r>
            <a:r>
              <a:rPr sz="2000" spc="-95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E9E8E3"/>
                </a:solidFill>
                <a:latin typeface="Verdana"/>
                <a:cs typeface="Verdana"/>
              </a:rPr>
              <a:t>de</a:t>
            </a:r>
            <a:r>
              <a:rPr sz="2000" spc="-95" dirty="0">
                <a:solidFill>
                  <a:srgbClr val="E9E8E3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E9E8E3"/>
                </a:solidFill>
                <a:latin typeface="Verdana"/>
                <a:cs typeface="Verdana"/>
              </a:rPr>
              <a:t>2 </a:t>
            </a:r>
            <a:r>
              <a:rPr sz="2000" spc="-10" dirty="0">
                <a:solidFill>
                  <a:srgbClr val="E9E8E3"/>
                </a:solidFill>
                <a:latin typeface="Verdana"/>
                <a:cs typeface="Verdana"/>
              </a:rPr>
              <a:t>variables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554" y="2619476"/>
            <a:ext cx="6457949" cy="340994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02417"/>
            <a:ext cx="7048500" cy="4080510"/>
            <a:chOff x="0" y="6202417"/>
            <a:chExt cx="7048500" cy="40805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372" y="6202417"/>
              <a:ext cx="6515099" cy="33337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539423"/>
              <a:ext cx="742949" cy="74294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668066" y="33093"/>
            <a:ext cx="1619249" cy="6286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23373" y="6202417"/>
            <a:ext cx="6724649" cy="36004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23373" y="2431923"/>
            <a:ext cx="6724649" cy="360044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273876" y="4098675"/>
            <a:ext cx="2686050" cy="1228090"/>
          </a:xfrm>
          <a:custGeom>
            <a:avLst/>
            <a:gdLst/>
            <a:ahLst/>
            <a:cxnLst/>
            <a:rect l="l" t="t" r="r" b="b"/>
            <a:pathLst>
              <a:path w="2686050" h="1228089">
                <a:moveTo>
                  <a:pt x="1502811" y="246144"/>
                </a:moveTo>
                <a:lnTo>
                  <a:pt x="1475445" y="235524"/>
                </a:lnTo>
                <a:lnTo>
                  <a:pt x="1454073" y="214127"/>
                </a:lnTo>
                <a:lnTo>
                  <a:pt x="1440081" y="182356"/>
                </a:lnTo>
                <a:lnTo>
                  <a:pt x="1436827" y="171474"/>
                </a:lnTo>
                <a:lnTo>
                  <a:pt x="1433372" y="160681"/>
                </a:lnTo>
                <a:lnTo>
                  <a:pt x="1430051" y="149889"/>
                </a:lnTo>
                <a:lnTo>
                  <a:pt x="1427199" y="139007"/>
                </a:lnTo>
                <a:lnTo>
                  <a:pt x="1418789" y="86937"/>
                </a:lnTo>
                <a:lnTo>
                  <a:pt x="1420551" y="50532"/>
                </a:lnTo>
                <a:lnTo>
                  <a:pt x="1420670" y="48078"/>
                </a:lnTo>
                <a:lnTo>
                  <a:pt x="1433789" y="21355"/>
                </a:lnTo>
                <a:lnTo>
                  <a:pt x="1459094" y="5688"/>
                </a:lnTo>
                <a:lnTo>
                  <a:pt x="1497532" y="0"/>
                </a:lnTo>
                <a:lnTo>
                  <a:pt x="1550051" y="3213"/>
                </a:lnTo>
                <a:lnTo>
                  <a:pt x="1600218" y="9627"/>
                </a:lnTo>
                <a:lnTo>
                  <a:pt x="1650245" y="16646"/>
                </a:lnTo>
                <a:lnTo>
                  <a:pt x="1700134" y="24259"/>
                </a:lnTo>
                <a:lnTo>
                  <a:pt x="1749889" y="32452"/>
                </a:lnTo>
                <a:lnTo>
                  <a:pt x="1799512" y="41214"/>
                </a:lnTo>
                <a:lnTo>
                  <a:pt x="1849006" y="50532"/>
                </a:lnTo>
                <a:lnTo>
                  <a:pt x="1898375" y="60393"/>
                </a:lnTo>
                <a:lnTo>
                  <a:pt x="1947620" y="70785"/>
                </a:lnTo>
                <a:lnTo>
                  <a:pt x="1996745" y="81696"/>
                </a:lnTo>
                <a:lnTo>
                  <a:pt x="2045753" y="93114"/>
                </a:lnTo>
                <a:lnTo>
                  <a:pt x="2094646" y="105025"/>
                </a:lnTo>
                <a:lnTo>
                  <a:pt x="2143427" y="117418"/>
                </a:lnTo>
                <a:lnTo>
                  <a:pt x="2240667" y="143599"/>
                </a:lnTo>
                <a:lnTo>
                  <a:pt x="2337209" y="171474"/>
                </a:lnTo>
                <a:lnTo>
                  <a:pt x="2433932" y="201194"/>
                </a:lnTo>
                <a:lnTo>
                  <a:pt x="2530004" y="232411"/>
                </a:lnTo>
                <a:lnTo>
                  <a:pt x="2556888" y="242511"/>
                </a:lnTo>
                <a:lnTo>
                  <a:pt x="1567115" y="242511"/>
                </a:lnTo>
                <a:lnTo>
                  <a:pt x="1534784" y="245583"/>
                </a:lnTo>
                <a:lnTo>
                  <a:pt x="1502811" y="246144"/>
                </a:lnTo>
                <a:close/>
              </a:path>
              <a:path w="2686050" h="1228089">
                <a:moveTo>
                  <a:pt x="2665861" y="437527"/>
                </a:moveTo>
                <a:lnTo>
                  <a:pt x="885828" y="437527"/>
                </a:lnTo>
                <a:lnTo>
                  <a:pt x="935800" y="436187"/>
                </a:lnTo>
                <a:lnTo>
                  <a:pt x="986105" y="433639"/>
                </a:lnTo>
                <a:lnTo>
                  <a:pt x="1036301" y="430064"/>
                </a:lnTo>
                <a:lnTo>
                  <a:pt x="1086406" y="425628"/>
                </a:lnTo>
                <a:lnTo>
                  <a:pt x="1136435" y="420502"/>
                </a:lnTo>
                <a:lnTo>
                  <a:pt x="1386020" y="390383"/>
                </a:lnTo>
                <a:lnTo>
                  <a:pt x="1485897" y="379381"/>
                </a:lnTo>
                <a:lnTo>
                  <a:pt x="1535910" y="374778"/>
                </a:lnTo>
                <a:lnTo>
                  <a:pt x="1585995" y="370996"/>
                </a:lnTo>
                <a:lnTo>
                  <a:pt x="1683692" y="365585"/>
                </a:lnTo>
                <a:lnTo>
                  <a:pt x="1731198" y="362173"/>
                </a:lnTo>
                <a:lnTo>
                  <a:pt x="1968702" y="340423"/>
                </a:lnTo>
                <a:lnTo>
                  <a:pt x="1970849" y="334436"/>
                </a:lnTo>
                <a:lnTo>
                  <a:pt x="1970372" y="328688"/>
                </a:lnTo>
                <a:lnTo>
                  <a:pt x="1761855" y="277427"/>
                </a:lnTo>
                <a:lnTo>
                  <a:pt x="1628645" y="249658"/>
                </a:lnTo>
                <a:lnTo>
                  <a:pt x="1567115" y="242511"/>
                </a:lnTo>
                <a:lnTo>
                  <a:pt x="2556888" y="242511"/>
                </a:lnTo>
                <a:lnTo>
                  <a:pt x="2573231" y="248650"/>
                </a:lnTo>
                <a:lnTo>
                  <a:pt x="2610057" y="269270"/>
                </a:lnTo>
                <a:lnTo>
                  <a:pt x="2637745" y="297385"/>
                </a:lnTo>
                <a:lnTo>
                  <a:pt x="2649160" y="325335"/>
                </a:lnTo>
                <a:lnTo>
                  <a:pt x="2008301" y="325335"/>
                </a:lnTo>
                <a:lnTo>
                  <a:pt x="2006870" y="326533"/>
                </a:lnTo>
                <a:lnTo>
                  <a:pt x="2005438" y="326772"/>
                </a:lnTo>
                <a:lnTo>
                  <a:pt x="2004007" y="327491"/>
                </a:lnTo>
                <a:lnTo>
                  <a:pt x="2004484" y="327730"/>
                </a:lnTo>
                <a:lnTo>
                  <a:pt x="2004722" y="327970"/>
                </a:lnTo>
                <a:lnTo>
                  <a:pt x="2650236" y="327970"/>
                </a:lnTo>
                <a:lnTo>
                  <a:pt x="2653560" y="336111"/>
                </a:lnTo>
                <a:lnTo>
                  <a:pt x="2653659" y="340423"/>
                </a:lnTo>
                <a:lnTo>
                  <a:pt x="2653758" y="344715"/>
                </a:lnTo>
                <a:lnTo>
                  <a:pt x="2653862" y="349241"/>
                </a:lnTo>
                <a:lnTo>
                  <a:pt x="2653966" y="353796"/>
                </a:lnTo>
                <a:lnTo>
                  <a:pt x="2654067" y="358175"/>
                </a:lnTo>
                <a:lnTo>
                  <a:pt x="2654159" y="362173"/>
                </a:lnTo>
                <a:lnTo>
                  <a:pt x="2654237" y="365585"/>
                </a:lnTo>
                <a:lnTo>
                  <a:pt x="2654361" y="370996"/>
                </a:lnTo>
                <a:lnTo>
                  <a:pt x="2654448" y="374778"/>
                </a:lnTo>
                <a:lnTo>
                  <a:pt x="2654554" y="379381"/>
                </a:lnTo>
                <a:lnTo>
                  <a:pt x="2654674" y="384639"/>
                </a:lnTo>
                <a:lnTo>
                  <a:pt x="2654764" y="388562"/>
                </a:lnTo>
                <a:lnTo>
                  <a:pt x="2656777" y="410663"/>
                </a:lnTo>
                <a:lnTo>
                  <a:pt x="2664783" y="434785"/>
                </a:lnTo>
                <a:lnTo>
                  <a:pt x="2665861" y="437527"/>
                </a:lnTo>
                <a:close/>
              </a:path>
              <a:path w="2686050" h="1228089">
                <a:moveTo>
                  <a:pt x="2650236" y="327970"/>
                </a:moveTo>
                <a:lnTo>
                  <a:pt x="2004961" y="327970"/>
                </a:lnTo>
                <a:lnTo>
                  <a:pt x="2007347" y="326533"/>
                </a:lnTo>
                <a:lnTo>
                  <a:pt x="2008301" y="325335"/>
                </a:lnTo>
                <a:lnTo>
                  <a:pt x="2649160" y="325335"/>
                </a:lnTo>
                <a:lnTo>
                  <a:pt x="2650040" y="327491"/>
                </a:lnTo>
                <a:lnTo>
                  <a:pt x="2650138" y="327730"/>
                </a:lnTo>
                <a:lnTo>
                  <a:pt x="2650236" y="327970"/>
                </a:lnTo>
                <a:close/>
              </a:path>
              <a:path w="2686050" h="1228089">
                <a:moveTo>
                  <a:pt x="224875" y="725676"/>
                </a:moveTo>
                <a:lnTo>
                  <a:pt x="179234" y="718838"/>
                </a:lnTo>
                <a:lnTo>
                  <a:pt x="139390" y="701783"/>
                </a:lnTo>
                <a:lnTo>
                  <a:pt x="104252" y="676540"/>
                </a:lnTo>
                <a:lnTo>
                  <a:pt x="72733" y="645144"/>
                </a:lnTo>
                <a:lnTo>
                  <a:pt x="43742" y="609625"/>
                </a:lnTo>
                <a:lnTo>
                  <a:pt x="16191" y="572016"/>
                </a:lnTo>
                <a:lnTo>
                  <a:pt x="0" y="524865"/>
                </a:lnTo>
                <a:lnTo>
                  <a:pt x="16023" y="511831"/>
                </a:lnTo>
                <a:lnTo>
                  <a:pt x="101791" y="493268"/>
                </a:lnTo>
                <a:lnTo>
                  <a:pt x="155511" y="487847"/>
                </a:lnTo>
                <a:lnTo>
                  <a:pt x="209444" y="484540"/>
                </a:lnTo>
                <a:lnTo>
                  <a:pt x="263476" y="481833"/>
                </a:lnTo>
                <a:lnTo>
                  <a:pt x="317495" y="478207"/>
                </a:lnTo>
                <a:lnTo>
                  <a:pt x="371388" y="472146"/>
                </a:lnTo>
                <a:lnTo>
                  <a:pt x="525929" y="450432"/>
                </a:lnTo>
                <a:lnTo>
                  <a:pt x="577642" y="444365"/>
                </a:lnTo>
                <a:lnTo>
                  <a:pt x="629366" y="439510"/>
                </a:lnTo>
                <a:lnTo>
                  <a:pt x="681952" y="436187"/>
                </a:lnTo>
                <a:lnTo>
                  <a:pt x="683311" y="436187"/>
                </a:lnTo>
                <a:lnTo>
                  <a:pt x="732636" y="434943"/>
                </a:lnTo>
                <a:lnTo>
                  <a:pt x="784075" y="435982"/>
                </a:lnTo>
                <a:lnTo>
                  <a:pt x="834802" y="437527"/>
                </a:lnTo>
                <a:lnTo>
                  <a:pt x="2665861" y="437527"/>
                </a:lnTo>
                <a:lnTo>
                  <a:pt x="2674758" y="460164"/>
                </a:lnTo>
                <a:lnTo>
                  <a:pt x="2682674" y="486037"/>
                </a:lnTo>
                <a:lnTo>
                  <a:pt x="2685522" y="524218"/>
                </a:lnTo>
                <a:lnTo>
                  <a:pt x="2676293" y="553306"/>
                </a:lnTo>
                <a:lnTo>
                  <a:pt x="2656777" y="576061"/>
                </a:lnTo>
                <a:lnTo>
                  <a:pt x="2628762" y="595247"/>
                </a:lnTo>
                <a:lnTo>
                  <a:pt x="2627126" y="596205"/>
                </a:lnTo>
                <a:lnTo>
                  <a:pt x="2004245" y="596205"/>
                </a:lnTo>
                <a:lnTo>
                  <a:pt x="1801995" y="613020"/>
                </a:lnTo>
                <a:lnTo>
                  <a:pt x="556823" y="696748"/>
                </a:lnTo>
                <a:lnTo>
                  <a:pt x="401255" y="710158"/>
                </a:lnTo>
                <a:lnTo>
                  <a:pt x="349442" y="715235"/>
                </a:lnTo>
                <a:lnTo>
                  <a:pt x="331275" y="716425"/>
                </a:lnTo>
                <a:lnTo>
                  <a:pt x="313063" y="716851"/>
                </a:lnTo>
                <a:lnTo>
                  <a:pt x="295030" y="717727"/>
                </a:lnTo>
                <a:lnTo>
                  <a:pt x="277400" y="720264"/>
                </a:lnTo>
                <a:lnTo>
                  <a:pt x="224875" y="725676"/>
                </a:lnTo>
                <a:close/>
              </a:path>
              <a:path w="2686050" h="1228089">
                <a:moveTo>
                  <a:pt x="1678002" y="1227547"/>
                </a:moveTo>
                <a:lnTo>
                  <a:pt x="1636283" y="1175755"/>
                </a:lnTo>
                <a:lnTo>
                  <a:pt x="1616688" y="1136142"/>
                </a:lnTo>
                <a:lnTo>
                  <a:pt x="1601822" y="1093464"/>
                </a:lnTo>
                <a:lnTo>
                  <a:pt x="1593705" y="1048793"/>
                </a:lnTo>
                <a:lnTo>
                  <a:pt x="1594351" y="1003420"/>
                </a:lnTo>
                <a:lnTo>
                  <a:pt x="1594355" y="1003202"/>
                </a:lnTo>
                <a:lnTo>
                  <a:pt x="1605789" y="957762"/>
                </a:lnTo>
                <a:lnTo>
                  <a:pt x="1630027" y="913546"/>
                </a:lnTo>
                <a:lnTo>
                  <a:pt x="1669086" y="871626"/>
                </a:lnTo>
                <a:lnTo>
                  <a:pt x="1750979" y="800629"/>
                </a:lnTo>
                <a:lnTo>
                  <a:pt x="1792147" y="765469"/>
                </a:lnTo>
                <a:lnTo>
                  <a:pt x="1833931" y="731068"/>
                </a:lnTo>
                <a:lnTo>
                  <a:pt x="1876683" y="697825"/>
                </a:lnTo>
                <a:lnTo>
                  <a:pt x="1920754" y="666138"/>
                </a:lnTo>
                <a:lnTo>
                  <a:pt x="1941481" y="653157"/>
                </a:lnTo>
                <a:lnTo>
                  <a:pt x="1963126" y="639344"/>
                </a:lnTo>
                <a:lnTo>
                  <a:pt x="1984457" y="621446"/>
                </a:lnTo>
                <a:lnTo>
                  <a:pt x="2004245" y="596205"/>
                </a:lnTo>
                <a:lnTo>
                  <a:pt x="2627126" y="596205"/>
                </a:lnTo>
                <a:lnTo>
                  <a:pt x="2512392" y="663953"/>
                </a:lnTo>
                <a:lnTo>
                  <a:pt x="2261471" y="815902"/>
                </a:lnTo>
                <a:lnTo>
                  <a:pt x="2177132" y="868243"/>
                </a:lnTo>
                <a:lnTo>
                  <a:pt x="2093348" y="921449"/>
                </a:lnTo>
                <a:lnTo>
                  <a:pt x="2051714" y="948453"/>
                </a:lnTo>
                <a:lnTo>
                  <a:pt x="2010278" y="975767"/>
                </a:lnTo>
                <a:lnTo>
                  <a:pt x="1969060" y="1003420"/>
                </a:lnTo>
                <a:lnTo>
                  <a:pt x="1928079" y="1031444"/>
                </a:lnTo>
                <a:lnTo>
                  <a:pt x="1887357" y="1059870"/>
                </a:lnTo>
                <a:lnTo>
                  <a:pt x="1807094" y="1114812"/>
                </a:lnTo>
                <a:lnTo>
                  <a:pt x="1768366" y="1144123"/>
                </a:lnTo>
                <a:lnTo>
                  <a:pt x="1732465" y="1176836"/>
                </a:lnTo>
                <a:lnTo>
                  <a:pt x="1700813" y="1214584"/>
                </a:lnTo>
                <a:lnTo>
                  <a:pt x="1689083" y="1225882"/>
                </a:lnTo>
                <a:lnTo>
                  <a:pt x="1678002" y="1227547"/>
                </a:lnTo>
                <a:close/>
              </a:path>
            </a:pathLst>
          </a:custGeom>
          <a:solidFill>
            <a:srgbClr val="153B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016000" y="129175"/>
            <a:ext cx="1233868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5" dirty="0"/>
              <a:t>Analyse</a:t>
            </a:r>
            <a:r>
              <a:rPr spc="-385" dirty="0"/>
              <a:t> </a:t>
            </a:r>
            <a:r>
              <a:rPr spc="-315" dirty="0"/>
              <a:t>de</a:t>
            </a:r>
            <a:r>
              <a:rPr spc="-380" dirty="0"/>
              <a:t> </a:t>
            </a:r>
            <a:r>
              <a:rPr spc="-250" dirty="0"/>
              <a:t>la</a:t>
            </a:r>
            <a:r>
              <a:rPr spc="-380" dirty="0"/>
              <a:t> </a:t>
            </a:r>
            <a:r>
              <a:rPr spc="-225" dirty="0"/>
              <a:t>distribution</a:t>
            </a:r>
            <a:r>
              <a:rPr spc="-380" dirty="0"/>
              <a:t> </a:t>
            </a:r>
            <a:r>
              <a:rPr spc="-280" dirty="0"/>
              <a:t>des</a:t>
            </a:r>
            <a:r>
              <a:rPr spc="-380" dirty="0"/>
              <a:t> </a:t>
            </a:r>
            <a:r>
              <a:rPr spc="-240" dirty="0"/>
              <a:t>variables</a:t>
            </a:r>
            <a:r>
              <a:rPr spc="-380" dirty="0"/>
              <a:t> </a:t>
            </a:r>
            <a:r>
              <a:rPr spc="-285" dirty="0"/>
              <a:t>cibles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415102" y="1493049"/>
            <a:ext cx="2724150" cy="2046586"/>
          </a:xfrm>
          <a:prstGeom prst="rect">
            <a:avLst/>
          </a:prstGeom>
          <a:solidFill>
            <a:srgbClr val="008037"/>
          </a:solidFill>
        </p:spPr>
        <p:txBody>
          <a:bodyPr vert="horz" wrap="square" lIns="0" tIns="122555" rIns="0" bIns="0" rtlCol="0">
            <a:spAutoFit/>
          </a:bodyPr>
          <a:lstStyle/>
          <a:p>
            <a:pPr marL="280670" marR="270510" indent="-635" algn="ctr">
              <a:lnSpc>
                <a:spcPct val="115399"/>
              </a:lnSpc>
              <a:spcBef>
                <a:spcPts val="965"/>
              </a:spcBef>
            </a:pPr>
            <a:r>
              <a:rPr sz="2600" spc="-10" dirty="0">
                <a:solidFill>
                  <a:srgbClr val="FFFFFF"/>
                </a:solidFill>
                <a:latin typeface="Verdana"/>
                <a:cs typeface="Verdana"/>
              </a:rPr>
              <a:t>distributions </a:t>
            </a:r>
            <a:r>
              <a:rPr sz="2600" spc="-55" dirty="0" err="1">
                <a:solidFill>
                  <a:srgbClr val="FFFFFF"/>
                </a:solidFill>
                <a:latin typeface="Verdana"/>
                <a:cs typeface="Verdana"/>
              </a:rPr>
              <a:t>asymétriques</a:t>
            </a:r>
            <a:r>
              <a:rPr sz="26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10" dirty="0" err="1">
                <a:solidFill>
                  <a:srgbClr val="FFFFFF"/>
                </a:solidFill>
                <a:latin typeface="Verdana"/>
                <a:cs typeface="Verdana"/>
              </a:rPr>
              <a:t>concentrée</a:t>
            </a:r>
            <a:r>
              <a:rPr lang="fr-FR" sz="2600" spc="-1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</a:p>
          <a:p>
            <a:pPr marL="280670" marR="270510" indent="-635" algn="ctr">
              <a:lnSpc>
                <a:spcPct val="115399"/>
              </a:lnSpc>
              <a:spcBef>
                <a:spcPts val="965"/>
              </a:spcBef>
            </a:pPr>
            <a:r>
              <a:rPr sz="2600" spc="-100" dirty="0" err="1">
                <a:solidFill>
                  <a:srgbClr val="FFFFFF"/>
                </a:solidFill>
                <a:latin typeface="Verdana"/>
                <a:cs typeface="Verdana"/>
              </a:rPr>
              <a:t>autour</a:t>
            </a:r>
            <a:r>
              <a:rPr sz="2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endParaRPr sz="26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41840" y="6040104"/>
            <a:ext cx="2273300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 marR="5080" indent="-184785">
              <a:lnSpc>
                <a:spcPct val="115599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Une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transformation </a:t>
            </a:r>
            <a:r>
              <a:rPr sz="2000" dirty="0">
                <a:latin typeface="Arial"/>
                <a:cs typeface="Arial"/>
              </a:rPr>
              <a:t>log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est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effectuée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73876" y="7402612"/>
            <a:ext cx="2686050" cy="1228090"/>
          </a:xfrm>
          <a:custGeom>
            <a:avLst/>
            <a:gdLst/>
            <a:ahLst/>
            <a:cxnLst/>
            <a:rect l="l" t="t" r="r" b="b"/>
            <a:pathLst>
              <a:path w="2686050" h="1228090">
                <a:moveTo>
                  <a:pt x="1502811" y="246144"/>
                </a:moveTo>
                <a:lnTo>
                  <a:pt x="1475445" y="235524"/>
                </a:lnTo>
                <a:lnTo>
                  <a:pt x="1454073" y="214127"/>
                </a:lnTo>
                <a:lnTo>
                  <a:pt x="1440081" y="182356"/>
                </a:lnTo>
                <a:lnTo>
                  <a:pt x="1436827" y="171474"/>
                </a:lnTo>
                <a:lnTo>
                  <a:pt x="1433372" y="160681"/>
                </a:lnTo>
                <a:lnTo>
                  <a:pt x="1430051" y="149889"/>
                </a:lnTo>
                <a:lnTo>
                  <a:pt x="1427199" y="139007"/>
                </a:lnTo>
                <a:lnTo>
                  <a:pt x="1418789" y="86937"/>
                </a:lnTo>
                <a:lnTo>
                  <a:pt x="1420551" y="50532"/>
                </a:lnTo>
                <a:lnTo>
                  <a:pt x="1420670" y="48078"/>
                </a:lnTo>
                <a:lnTo>
                  <a:pt x="1433789" y="21355"/>
                </a:lnTo>
                <a:lnTo>
                  <a:pt x="1459094" y="5688"/>
                </a:lnTo>
                <a:lnTo>
                  <a:pt x="1497532" y="0"/>
                </a:lnTo>
                <a:lnTo>
                  <a:pt x="1550051" y="3213"/>
                </a:lnTo>
                <a:lnTo>
                  <a:pt x="1600218" y="9627"/>
                </a:lnTo>
                <a:lnTo>
                  <a:pt x="1650245" y="16646"/>
                </a:lnTo>
                <a:lnTo>
                  <a:pt x="1700134" y="24259"/>
                </a:lnTo>
                <a:lnTo>
                  <a:pt x="1749889" y="32452"/>
                </a:lnTo>
                <a:lnTo>
                  <a:pt x="1799512" y="41214"/>
                </a:lnTo>
                <a:lnTo>
                  <a:pt x="1849006" y="50532"/>
                </a:lnTo>
                <a:lnTo>
                  <a:pt x="1898375" y="60393"/>
                </a:lnTo>
                <a:lnTo>
                  <a:pt x="1947620" y="70785"/>
                </a:lnTo>
                <a:lnTo>
                  <a:pt x="1996745" y="81696"/>
                </a:lnTo>
                <a:lnTo>
                  <a:pt x="2045753" y="93114"/>
                </a:lnTo>
                <a:lnTo>
                  <a:pt x="2094646" y="105025"/>
                </a:lnTo>
                <a:lnTo>
                  <a:pt x="2143427" y="117418"/>
                </a:lnTo>
                <a:lnTo>
                  <a:pt x="2240667" y="143599"/>
                </a:lnTo>
                <a:lnTo>
                  <a:pt x="2337209" y="171474"/>
                </a:lnTo>
                <a:lnTo>
                  <a:pt x="2433932" y="201194"/>
                </a:lnTo>
                <a:lnTo>
                  <a:pt x="2530004" y="232411"/>
                </a:lnTo>
                <a:lnTo>
                  <a:pt x="2556888" y="242511"/>
                </a:lnTo>
                <a:lnTo>
                  <a:pt x="1567115" y="242511"/>
                </a:lnTo>
                <a:lnTo>
                  <a:pt x="1534784" y="245583"/>
                </a:lnTo>
                <a:lnTo>
                  <a:pt x="1502811" y="246144"/>
                </a:lnTo>
                <a:close/>
              </a:path>
              <a:path w="2686050" h="1228090">
                <a:moveTo>
                  <a:pt x="2665861" y="437527"/>
                </a:moveTo>
                <a:lnTo>
                  <a:pt x="885828" y="437527"/>
                </a:lnTo>
                <a:lnTo>
                  <a:pt x="935800" y="436187"/>
                </a:lnTo>
                <a:lnTo>
                  <a:pt x="986105" y="433639"/>
                </a:lnTo>
                <a:lnTo>
                  <a:pt x="1036301" y="430064"/>
                </a:lnTo>
                <a:lnTo>
                  <a:pt x="1086406" y="425628"/>
                </a:lnTo>
                <a:lnTo>
                  <a:pt x="1136435" y="420502"/>
                </a:lnTo>
                <a:lnTo>
                  <a:pt x="1386020" y="390383"/>
                </a:lnTo>
                <a:lnTo>
                  <a:pt x="1485897" y="379381"/>
                </a:lnTo>
                <a:lnTo>
                  <a:pt x="1535910" y="374778"/>
                </a:lnTo>
                <a:lnTo>
                  <a:pt x="1585995" y="370996"/>
                </a:lnTo>
                <a:lnTo>
                  <a:pt x="1683692" y="365585"/>
                </a:lnTo>
                <a:lnTo>
                  <a:pt x="1731198" y="362173"/>
                </a:lnTo>
                <a:lnTo>
                  <a:pt x="1968702" y="340423"/>
                </a:lnTo>
                <a:lnTo>
                  <a:pt x="1970849" y="334436"/>
                </a:lnTo>
                <a:lnTo>
                  <a:pt x="1970372" y="328688"/>
                </a:lnTo>
                <a:lnTo>
                  <a:pt x="1761855" y="277427"/>
                </a:lnTo>
                <a:lnTo>
                  <a:pt x="1628645" y="249658"/>
                </a:lnTo>
                <a:lnTo>
                  <a:pt x="1567115" y="242511"/>
                </a:lnTo>
                <a:lnTo>
                  <a:pt x="2556888" y="242511"/>
                </a:lnTo>
                <a:lnTo>
                  <a:pt x="2573231" y="248650"/>
                </a:lnTo>
                <a:lnTo>
                  <a:pt x="2610057" y="269270"/>
                </a:lnTo>
                <a:lnTo>
                  <a:pt x="2637745" y="297385"/>
                </a:lnTo>
                <a:lnTo>
                  <a:pt x="2649160" y="325335"/>
                </a:lnTo>
                <a:lnTo>
                  <a:pt x="2008301" y="325335"/>
                </a:lnTo>
                <a:lnTo>
                  <a:pt x="2006870" y="326533"/>
                </a:lnTo>
                <a:lnTo>
                  <a:pt x="2005438" y="326772"/>
                </a:lnTo>
                <a:lnTo>
                  <a:pt x="2004007" y="327491"/>
                </a:lnTo>
                <a:lnTo>
                  <a:pt x="2004484" y="327730"/>
                </a:lnTo>
                <a:lnTo>
                  <a:pt x="2004722" y="327970"/>
                </a:lnTo>
                <a:lnTo>
                  <a:pt x="2650236" y="327970"/>
                </a:lnTo>
                <a:lnTo>
                  <a:pt x="2653560" y="336111"/>
                </a:lnTo>
                <a:lnTo>
                  <a:pt x="2653659" y="340423"/>
                </a:lnTo>
                <a:lnTo>
                  <a:pt x="2653758" y="344715"/>
                </a:lnTo>
                <a:lnTo>
                  <a:pt x="2653862" y="349241"/>
                </a:lnTo>
                <a:lnTo>
                  <a:pt x="2653966" y="353796"/>
                </a:lnTo>
                <a:lnTo>
                  <a:pt x="2654067" y="358175"/>
                </a:lnTo>
                <a:lnTo>
                  <a:pt x="2654159" y="362173"/>
                </a:lnTo>
                <a:lnTo>
                  <a:pt x="2654237" y="365585"/>
                </a:lnTo>
                <a:lnTo>
                  <a:pt x="2654361" y="370996"/>
                </a:lnTo>
                <a:lnTo>
                  <a:pt x="2654448" y="374778"/>
                </a:lnTo>
                <a:lnTo>
                  <a:pt x="2654554" y="379381"/>
                </a:lnTo>
                <a:lnTo>
                  <a:pt x="2654674" y="384639"/>
                </a:lnTo>
                <a:lnTo>
                  <a:pt x="2654764" y="388562"/>
                </a:lnTo>
                <a:lnTo>
                  <a:pt x="2656777" y="410663"/>
                </a:lnTo>
                <a:lnTo>
                  <a:pt x="2664783" y="434785"/>
                </a:lnTo>
                <a:lnTo>
                  <a:pt x="2665861" y="437527"/>
                </a:lnTo>
                <a:close/>
              </a:path>
              <a:path w="2686050" h="1228090">
                <a:moveTo>
                  <a:pt x="2650236" y="327970"/>
                </a:moveTo>
                <a:lnTo>
                  <a:pt x="2004961" y="327970"/>
                </a:lnTo>
                <a:lnTo>
                  <a:pt x="2007347" y="326533"/>
                </a:lnTo>
                <a:lnTo>
                  <a:pt x="2008301" y="325335"/>
                </a:lnTo>
                <a:lnTo>
                  <a:pt x="2649160" y="325335"/>
                </a:lnTo>
                <a:lnTo>
                  <a:pt x="2650040" y="327491"/>
                </a:lnTo>
                <a:lnTo>
                  <a:pt x="2650138" y="327730"/>
                </a:lnTo>
                <a:lnTo>
                  <a:pt x="2650236" y="327970"/>
                </a:lnTo>
                <a:close/>
              </a:path>
              <a:path w="2686050" h="1228090">
                <a:moveTo>
                  <a:pt x="224875" y="725676"/>
                </a:moveTo>
                <a:lnTo>
                  <a:pt x="179234" y="718838"/>
                </a:lnTo>
                <a:lnTo>
                  <a:pt x="139390" y="701783"/>
                </a:lnTo>
                <a:lnTo>
                  <a:pt x="104252" y="676540"/>
                </a:lnTo>
                <a:lnTo>
                  <a:pt x="72733" y="645144"/>
                </a:lnTo>
                <a:lnTo>
                  <a:pt x="43742" y="609625"/>
                </a:lnTo>
                <a:lnTo>
                  <a:pt x="16191" y="572016"/>
                </a:lnTo>
                <a:lnTo>
                  <a:pt x="0" y="524865"/>
                </a:lnTo>
                <a:lnTo>
                  <a:pt x="16023" y="511831"/>
                </a:lnTo>
                <a:lnTo>
                  <a:pt x="101791" y="493268"/>
                </a:lnTo>
                <a:lnTo>
                  <a:pt x="155511" y="487847"/>
                </a:lnTo>
                <a:lnTo>
                  <a:pt x="209444" y="484540"/>
                </a:lnTo>
                <a:lnTo>
                  <a:pt x="263476" y="481833"/>
                </a:lnTo>
                <a:lnTo>
                  <a:pt x="317495" y="478207"/>
                </a:lnTo>
                <a:lnTo>
                  <a:pt x="371388" y="472146"/>
                </a:lnTo>
                <a:lnTo>
                  <a:pt x="525929" y="450432"/>
                </a:lnTo>
                <a:lnTo>
                  <a:pt x="577642" y="444365"/>
                </a:lnTo>
                <a:lnTo>
                  <a:pt x="629366" y="439510"/>
                </a:lnTo>
                <a:lnTo>
                  <a:pt x="681952" y="436187"/>
                </a:lnTo>
                <a:lnTo>
                  <a:pt x="683311" y="436187"/>
                </a:lnTo>
                <a:lnTo>
                  <a:pt x="732636" y="434943"/>
                </a:lnTo>
                <a:lnTo>
                  <a:pt x="784075" y="435982"/>
                </a:lnTo>
                <a:lnTo>
                  <a:pt x="834802" y="437527"/>
                </a:lnTo>
                <a:lnTo>
                  <a:pt x="2665861" y="437527"/>
                </a:lnTo>
                <a:lnTo>
                  <a:pt x="2674758" y="460164"/>
                </a:lnTo>
                <a:lnTo>
                  <a:pt x="2682674" y="486037"/>
                </a:lnTo>
                <a:lnTo>
                  <a:pt x="2685522" y="524218"/>
                </a:lnTo>
                <a:lnTo>
                  <a:pt x="2676293" y="553306"/>
                </a:lnTo>
                <a:lnTo>
                  <a:pt x="2656777" y="576061"/>
                </a:lnTo>
                <a:lnTo>
                  <a:pt x="2628762" y="595247"/>
                </a:lnTo>
                <a:lnTo>
                  <a:pt x="2627126" y="596205"/>
                </a:lnTo>
                <a:lnTo>
                  <a:pt x="2004245" y="596205"/>
                </a:lnTo>
                <a:lnTo>
                  <a:pt x="1801995" y="613020"/>
                </a:lnTo>
                <a:lnTo>
                  <a:pt x="556823" y="696748"/>
                </a:lnTo>
                <a:lnTo>
                  <a:pt x="401255" y="710158"/>
                </a:lnTo>
                <a:lnTo>
                  <a:pt x="349442" y="715235"/>
                </a:lnTo>
                <a:lnTo>
                  <a:pt x="331275" y="716425"/>
                </a:lnTo>
                <a:lnTo>
                  <a:pt x="313063" y="716851"/>
                </a:lnTo>
                <a:lnTo>
                  <a:pt x="295030" y="717727"/>
                </a:lnTo>
                <a:lnTo>
                  <a:pt x="277400" y="720264"/>
                </a:lnTo>
                <a:lnTo>
                  <a:pt x="224875" y="725676"/>
                </a:lnTo>
                <a:close/>
              </a:path>
              <a:path w="2686050" h="1228090">
                <a:moveTo>
                  <a:pt x="1678002" y="1227547"/>
                </a:moveTo>
                <a:lnTo>
                  <a:pt x="1636283" y="1175755"/>
                </a:lnTo>
                <a:lnTo>
                  <a:pt x="1616688" y="1136142"/>
                </a:lnTo>
                <a:lnTo>
                  <a:pt x="1601822" y="1093464"/>
                </a:lnTo>
                <a:lnTo>
                  <a:pt x="1593705" y="1048793"/>
                </a:lnTo>
                <a:lnTo>
                  <a:pt x="1594351" y="1003420"/>
                </a:lnTo>
                <a:lnTo>
                  <a:pt x="1594355" y="1003202"/>
                </a:lnTo>
                <a:lnTo>
                  <a:pt x="1605789" y="957762"/>
                </a:lnTo>
                <a:lnTo>
                  <a:pt x="1630027" y="913546"/>
                </a:lnTo>
                <a:lnTo>
                  <a:pt x="1669086" y="871626"/>
                </a:lnTo>
                <a:lnTo>
                  <a:pt x="1750979" y="800629"/>
                </a:lnTo>
                <a:lnTo>
                  <a:pt x="1792147" y="765469"/>
                </a:lnTo>
                <a:lnTo>
                  <a:pt x="1833931" y="731068"/>
                </a:lnTo>
                <a:lnTo>
                  <a:pt x="1876683" y="697825"/>
                </a:lnTo>
                <a:lnTo>
                  <a:pt x="1920754" y="666138"/>
                </a:lnTo>
                <a:lnTo>
                  <a:pt x="1941481" y="653157"/>
                </a:lnTo>
                <a:lnTo>
                  <a:pt x="1963126" y="639344"/>
                </a:lnTo>
                <a:lnTo>
                  <a:pt x="1984457" y="621446"/>
                </a:lnTo>
                <a:lnTo>
                  <a:pt x="2004245" y="596205"/>
                </a:lnTo>
                <a:lnTo>
                  <a:pt x="2627126" y="596205"/>
                </a:lnTo>
                <a:lnTo>
                  <a:pt x="2512392" y="663953"/>
                </a:lnTo>
                <a:lnTo>
                  <a:pt x="2261471" y="815902"/>
                </a:lnTo>
                <a:lnTo>
                  <a:pt x="2177132" y="868243"/>
                </a:lnTo>
                <a:lnTo>
                  <a:pt x="2093348" y="921449"/>
                </a:lnTo>
                <a:lnTo>
                  <a:pt x="2051714" y="948453"/>
                </a:lnTo>
                <a:lnTo>
                  <a:pt x="2010278" y="975767"/>
                </a:lnTo>
                <a:lnTo>
                  <a:pt x="1969060" y="1003420"/>
                </a:lnTo>
                <a:lnTo>
                  <a:pt x="1928079" y="1031444"/>
                </a:lnTo>
                <a:lnTo>
                  <a:pt x="1887357" y="1059870"/>
                </a:lnTo>
                <a:lnTo>
                  <a:pt x="1807094" y="1114812"/>
                </a:lnTo>
                <a:lnTo>
                  <a:pt x="1768366" y="1144123"/>
                </a:lnTo>
                <a:lnTo>
                  <a:pt x="1732465" y="1176836"/>
                </a:lnTo>
                <a:lnTo>
                  <a:pt x="1700813" y="1214584"/>
                </a:lnTo>
                <a:lnTo>
                  <a:pt x="1689083" y="1225882"/>
                </a:lnTo>
                <a:lnTo>
                  <a:pt x="1678002" y="1227547"/>
                </a:lnTo>
                <a:close/>
              </a:path>
            </a:pathLst>
          </a:custGeom>
          <a:solidFill>
            <a:srgbClr val="164F1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7411" y="1105870"/>
            <a:ext cx="18051145" cy="9181465"/>
            <a:chOff x="237411" y="1105870"/>
            <a:chExt cx="18051145" cy="91814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411" y="1276040"/>
              <a:ext cx="7762874" cy="74866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125" y="4586192"/>
              <a:ext cx="11541874" cy="570081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83284" y="1105870"/>
              <a:ext cx="5334000" cy="1619250"/>
            </a:xfrm>
            <a:custGeom>
              <a:avLst/>
              <a:gdLst/>
              <a:ahLst/>
              <a:cxnLst/>
              <a:rect l="l" t="t" r="r" b="b"/>
              <a:pathLst>
                <a:path w="5334000" h="1619250">
                  <a:moveTo>
                    <a:pt x="5333999" y="1619247"/>
                  </a:moveTo>
                  <a:lnTo>
                    <a:pt x="466437" y="1619247"/>
                  </a:lnTo>
                  <a:lnTo>
                    <a:pt x="0" y="809623"/>
                  </a:lnTo>
                  <a:lnTo>
                    <a:pt x="466437" y="0"/>
                  </a:lnTo>
                  <a:lnTo>
                    <a:pt x="5333999" y="0"/>
                  </a:lnTo>
                  <a:lnTo>
                    <a:pt x="4867562" y="809623"/>
                  </a:lnTo>
                  <a:lnTo>
                    <a:pt x="5333999" y="1619247"/>
                  </a:lnTo>
                  <a:close/>
                </a:path>
              </a:pathLst>
            </a:custGeom>
            <a:solidFill>
              <a:srgbClr val="4053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409899" y="1378902"/>
            <a:ext cx="4692015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895" marR="5080" indent="-290830">
              <a:lnSpc>
                <a:spcPct val="115700"/>
              </a:lnSpc>
              <a:spcBef>
                <a:spcPts val="100"/>
              </a:spcBef>
            </a:pPr>
            <a:r>
              <a:rPr sz="2700" dirty="0">
                <a:solidFill>
                  <a:srgbClr val="FFFFFF"/>
                </a:solidFill>
                <a:latin typeface="Verdana"/>
                <a:cs typeface="Verdana"/>
              </a:rPr>
              <a:t>Presque</a:t>
            </a:r>
            <a:r>
              <a:rPr sz="27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35" dirty="0">
                <a:solidFill>
                  <a:srgbClr val="FFFFFF"/>
                </a:solidFill>
                <a:latin typeface="Verdana"/>
                <a:cs typeface="Verdana"/>
              </a:rPr>
              <a:t>50%</a:t>
            </a:r>
            <a:r>
              <a:rPr sz="27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60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27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60" dirty="0">
                <a:solidFill>
                  <a:srgbClr val="FFFFFF"/>
                </a:solidFill>
                <a:latin typeface="Verdana"/>
                <a:cs typeface="Verdana"/>
              </a:rPr>
              <a:t>bâtiments </a:t>
            </a:r>
            <a:r>
              <a:rPr sz="2700" spc="-20" dirty="0">
                <a:solidFill>
                  <a:srgbClr val="FFFFFF"/>
                </a:solidFill>
                <a:latin typeface="Verdana"/>
                <a:cs typeface="Verdana"/>
              </a:rPr>
              <a:t>sont</a:t>
            </a:r>
            <a:r>
              <a:rPr sz="27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90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7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Verdana"/>
                <a:cs typeface="Verdana"/>
              </a:rPr>
              <a:t>usage</a:t>
            </a:r>
            <a:r>
              <a:rPr sz="27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Verdana"/>
                <a:cs typeface="Verdana"/>
              </a:rPr>
              <a:t>résidentiel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23528" y="8396221"/>
            <a:ext cx="5191125" cy="1571625"/>
          </a:xfrm>
          <a:custGeom>
            <a:avLst/>
            <a:gdLst/>
            <a:ahLst/>
            <a:cxnLst/>
            <a:rect l="l" t="t" r="r" b="b"/>
            <a:pathLst>
              <a:path w="5191125" h="1571625">
                <a:moveTo>
                  <a:pt x="0" y="0"/>
                </a:moveTo>
                <a:lnTo>
                  <a:pt x="4737157" y="0"/>
                </a:lnTo>
                <a:lnTo>
                  <a:pt x="5191099" y="785812"/>
                </a:lnTo>
                <a:lnTo>
                  <a:pt x="4737157" y="1571624"/>
                </a:lnTo>
                <a:lnTo>
                  <a:pt x="0" y="1571624"/>
                </a:lnTo>
                <a:lnTo>
                  <a:pt x="453941" y="785812"/>
                </a:lnTo>
                <a:lnTo>
                  <a:pt x="0" y="0"/>
                </a:lnTo>
                <a:close/>
              </a:path>
            </a:pathLst>
          </a:custGeom>
          <a:solidFill>
            <a:srgbClr val="4053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16052" y="8593331"/>
            <a:ext cx="4405630" cy="1139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8300"/>
              </a:lnSpc>
              <a:spcBef>
                <a:spcPts val="95"/>
              </a:spcBef>
            </a:pPr>
            <a:r>
              <a:rPr sz="2250" spc="-5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225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surface</a:t>
            </a:r>
            <a:r>
              <a:rPr sz="225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60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225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bâtiments</a:t>
            </a:r>
            <a:r>
              <a:rPr sz="225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influe 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sur</a:t>
            </a:r>
            <a:r>
              <a:rPr sz="225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leur</a:t>
            </a:r>
            <a:r>
              <a:rPr sz="225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consommation</a:t>
            </a:r>
            <a:r>
              <a:rPr sz="225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énergie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16000" y="302024"/>
            <a:ext cx="571944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5" dirty="0"/>
              <a:t>Analyse</a:t>
            </a:r>
            <a:r>
              <a:rPr spc="-400" dirty="0"/>
              <a:t> </a:t>
            </a:r>
            <a:r>
              <a:rPr spc="-135" dirty="0"/>
              <a:t>exploratoire</a:t>
            </a: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68066" y="33093"/>
            <a:ext cx="1619249" cy="6286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9539423"/>
            <a:ext cx="742949" cy="7429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902809"/>
            <a:ext cx="18288000" cy="8380095"/>
            <a:chOff x="0" y="1902809"/>
            <a:chExt cx="18288000" cy="83800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022169"/>
              <a:ext cx="9029699" cy="81343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33890" y="1902809"/>
              <a:ext cx="9254109" cy="83153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539418"/>
              <a:ext cx="742949" cy="74294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16000" y="174014"/>
            <a:ext cx="1377569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b="1" spc="-185" dirty="0">
                <a:latin typeface="Palatino Linotype"/>
                <a:cs typeface="Palatino Linotype"/>
              </a:rPr>
              <a:t>Impact</a:t>
            </a:r>
            <a:r>
              <a:rPr sz="5200" b="1" spc="-370" dirty="0">
                <a:latin typeface="Palatino Linotype"/>
                <a:cs typeface="Palatino Linotype"/>
              </a:rPr>
              <a:t> </a:t>
            </a:r>
            <a:r>
              <a:rPr sz="5200" b="1" spc="-385" dirty="0">
                <a:latin typeface="Palatino Linotype"/>
                <a:cs typeface="Palatino Linotype"/>
              </a:rPr>
              <a:t>du</a:t>
            </a:r>
            <a:r>
              <a:rPr sz="5200" b="1" spc="-365" dirty="0">
                <a:latin typeface="Palatino Linotype"/>
                <a:cs typeface="Palatino Linotype"/>
              </a:rPr>
              <a:t> </a:t>
            </a:r>
            <a:r>
              <a:rPr sz="5200" b="1" spc="-160" dirty="0">
                <a:latin typeface="Palatino Linotype"/>
                <a:cs typeface="Palatino Linotype"/>
              </a:rPr>
              <a:t>feature</a:t>
            </a:r>
            <a:r>
              <a:rPr sz="5200" b="1" spc="-370" dirty="0">
                <a:latin typeface="Palatino Linotype"/>
                <a:cs typeface="Palatino Linotype"/>
              </a:rPr>
              <a:t> </a:t>
            </a:r>
            <a:r>
              <a:rPr sz="5200" b="1" spc="-215" dirty="0">
                <a:latin typeface="Palatino Linotype"/>
                <a:cs typeface="Palatino Linotype"/>
              </a:rPr>
              <a:t>engineering</a:t>
            </a:r>
            <a:r>
              <a:rPr sz="5200" b="1" spc="-365" dirty="0">
                <a:latin typeface="Palatino Linotype"/>
                <a:cs typeface="Palatino Linotype"/>
              </a:rPr>
              <a:t> </a:t>
            </a:r>
            <a:r>
              <a:rPr sz="5200" b="1" spc="-165" dirty="0">
                <a:latin typeface="Palatino Linotype"/>
                <a:cs typeface="Palatino Linotype"/>
              </a:rPr>
              <a:t>sur</a:t>
            </a:r>
            <a:r>
              <a:rPr sz="5200" b="1" spc="-370" dirty="0">
                <a:latin typeface="Palatino Linotype"/>
                <a:cs typeface="Palatino Linotype"/>
              </a:rPr>
              <a:t> </a:t>
            </a:r>
            <a:r>
              <a:rPr sz="5200" b="1" spc="-270" dirty="0">
                <a:latin typeface="Palatino Linotype"/>
                <a:cs typeface="Palatino Linotype"/>
              </a:rPr>
              <a:t>les</a:t>
            </a:r>
            <a:r>
              <a:rPr sz="5200" b="1" spc="-365" dirty="0">
                <a:latin typeface="Palatino Linotype"/>
                <a:cs typeface="Palatino Linotype"/>
              </a:rPr>
              <a:t> </a:t>
            </a:r>
            <a:r>
              <a:rPr sz="5200" b="1" spc="-90" dirty="0">
                <a:latin typeface="Palatino Linotype"/>
                <a:cs typeface="Palatino Linotype"/>
              </a:rPr>
              <a:t>corrélations</a:t>
            </a:r>
            <a:endParaRPr sz="5200" dirty="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41378" y="1260364"/>
            <a:ext cx="1043662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85" dirty="0">
                <a:latin typeface="Cambria"/>
                <a:cs typeface="Cambria"/>
              </a:rPr>
              <a:t>Plus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240" dirty="0">
                <a:latin typeface="Cambria"/>
                <a:cs typeface="Cambria"/>
              </a:rPr>
              <a:t>aucune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190" dirty="0">
                <a:latin typeface="Cambria"/>
                <a:cs typeface="Cambria"/>
              </a:rPr>
              <a:t>correlation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190" dirty="0">
                <a:latin typeface="Cambria"/>
                <a:cs typeface="Cambria"/>
              </a:rPr>
              <a:t>supérieure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à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0.75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250" dirty="0">
                <a:latin typeface="Cambria"/>
                <a:cs typeface="Cambria"/>
              </a:rPr>
              <a:t>hormis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185" dirty="0">
                <a:latin typeface="Cambria"/>
                <a:cs typeface="Cambria"/>
              </a:rPr>
              <a:t>entre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les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target</a:t>
            </a:r>
            <a:r>
              <a:rPr lang="fr-FR" sz="2400" spc="140" dirty="0">
                <a:latin typeface="Cambria"/>
                <a:cs typeface="Cambria"/>
              </a:rPr>
              <a:t>s</a:t>
            </a:r>
            <a:r>
              <a:rPr sz="2400" spc="140" dirty="0">
                <a:latin typeface="Cambria"/>
                <a:cs typeface="Cambria"/>
              </a:rPr>
              <a:t>.</a:t>
            </a:r>
            <a:endParaRPr sz="2400" dirty="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668066" y="33087"/>
            <a:ext cx="1619249" cy="6286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702040" cy="10287000"/>
          </a:xfrm>
          <a:custGeom>
            <a:avLst/>
            <a:gdLst/>
            <a:ahLst/>
            <a:cxnLst/>
            <a:rect l="l" t="t" r="r" b="b"/>
            <a:pathLst>
              <a:path w="8702040" h="10287000">
                <a:moveTo>
                  <a:pt x="23629" y="10285860"/>
                </a:moveTo>
                <a:lnTo>
                  <a:pt x="18713" y="10285454"/>
                </a:lnTo>
                <a:lnTo>
                  <a:pt x="7258" y="10279731"/>
                </a:lnTo>
                <a:lnTo>
                  <a:pt x="1549" y="10268237"/>
                </a:lnTo>
                <a:lnTo>
                  <a:pt x="0" y="10249373"/>
                </a:lnTo>
                <a:lnTo>
                  <a:pt x="0" y="0"/>
                </a:lnTo>
                <a:lnTo>
                  <a:pt x="8701683" y="0"/>
                </a:lnTo>
                <a:lnTo>
                  <a:pt x="6599440" y="9381666"/>
                </a:lnTo>
                <a:lnTo>
                  <a:pt x="6554227" y="9582683"/>
                </a:lnTo>
                <a:lnTo>
                  <a:pt x="6395733" y="10285454"/>
                </a:lnTo>
                <a:lnTo>
                  <a:pt x="23629" y="10285860"/>
                </a:lnTo>
                <a:close/>
              </a:path>
              <a:path w="8702040" h="10287000">
                <a:moveTo>
                  <a:pt x="37502" y="10287006"/>
                </a:moveTo>
                <a:lnTo>
                  <a:pt x="0" y="10287006"/>
                </a:lnTo>
                <a:lnTo>
                  <a:pt x="0" y="10285860"/>
                </a:lnTo>
                <a:lnTo>
                  <a:pt x="23629" y="10285860"/>
                </a:lnTo>
                <a:lnTo>
                  <a:pt x="37502" y="10287006"/>
                </a:lnTo>
                <a:close/>
              </a:path>
            </a:pathLst>
          </a:custGeom>
          <a:solidFill>
            <a:srgbClr val="153B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16000" y="4091324"/>
            <a:ext cx="52057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 err="1">
                <a:solidFill>
                  <a:srgbClr val="FFFFFF"/>
                </a:solidFill>
                <a:latin typeface="Verdana"/>
                <a:cs typeface="Verdana"/>
              </a:rPr>
              <a:t>Modélisation</a:t>
            </a:r>
            <a:endParaRPr sz="60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8699" y="2479167"/>
            <a:ext cx="1398270" cy="944880"/>
          </a:xfrm>
          <a:custGeom>
            <a:avLst/>
            <a:gdLst/>
            <a:ahLst/>
            <a:cxnLst/>
            <a:rect l="l" t="t" r="r" b="b"/>
            <a:pathLst>
              <a:path w="1398270" h="944879">
                <a:moveTo>
                  <a:pt x="797398" y="944428"/>
                </a:moveTo>
                <a:lnTo>
                  <a:pt x="0" y="944428"/>
                </a:lnTo>
                <a:lnTo>
                  <a:pt x="0" y="0"/>
                </a:lnTo>
                <a:lnTo>
                  <a:pt x="1397811" y="0"/>
                </a:lnTo>
                <a:lnTo>
                  <a:pt x="871214" y="894125"/>
                </a:lnTo>
                <a:lnTo>
                  <a:pt x="845639" y="924029"/>
                </a:lnTo>
                <a:lnTo>
                  <a:pt x="810256" y="941798"/>
                </a:lnTo>
                <a:lnTo>
                  <a:pt x="797398" y="944428"/>
                </a:lnTo>
                <a:close/>
              </a:path>
            </a:pathLst>
          </a:custGeom>
          <a:solidFill>
            <a:srgbClr val="01A5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42848" y="2666110"/>
            <a:ext cx="39878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-740" dirty="0">
                <a:solidFill>
                  <a:srgbClr val="FFFFFF"/>
                </a:solidFill>
                <a:latin typeface="Tahoma"/>
                <a:cs typeface="Tahoma"/>
              </a:rPr>
              <a:t>III</a:t>
            </a:r>
            <a:endParaRPr sz="35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39418"/>
            <a:ext cx="742949" cy="7429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2624" y="3165085"/>
            <a:ext cx="152399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2624" y="3927085"/>
            <a:ext cx="152399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2624" y="5451085"/>
            <a:ext cx="152399" cy="1523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ctrTitle"/>
          </p:nvPr>
        </p:nvSpPr>
        <p:spPr>
          <a:xfrm>
            <a:off x="9930059" y="2712959"/>
            <a:ext cx="8205542" cy="3771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100"/>
              </a:spcBef>
            </a:pPr>
            <a:r>
              <a:rPr sz="3700" b="0" spc="445" dirty="0">
                <a:latin typeface="Cambria"/>
                <a:cs typeface="Cambria"/>
              </a:rPr>
              <a:t>Démarche</a:t>
            </a:r>
            <a:r>
              <a:rPr sz="3700" b="0" spc="250" dirty="0">
                <a:latin typeface="Cambria"/>
                <a:cs typeface="Cambria"/>
              </a:rPr>
              <a:t> </a:t>
            </a:r>
            <a:r>
              <a:rPr sz="3700" b="0" spc="365" dirty="0">
                <a:latin typeface="Cambria"/>
                <a:cs typeface="Cambria"/>
              </a:rPr>
              <a:t>de</a:t>
            </a:r>
            <a:r>
              <a:rPr sz="3700" b="0" spc="254" dirty="0">
                <a:latin typeface="Cambria"/>
                <a:cs typeface="Cambria"/>
              </a:rPr>
              <a:t> </a:t>
            </a:r>
            <a:r>
              <a:rPr sz="3700" b="0" spc="325" dirty="0">
                <a:latin typeface="Cambria"/>
                <a:cs typeface="Cambria"/>
              </a:rPr>
              <a:t>modélisation </a:t>
            </a:r>
            <a:r>
              <a:rPr sz="3700" b="0" spc="390" dirty="0">
                <a:latin typeface="Cambria"/>
                <a:cs typeface="Cambria"/>
              </a:rPr>
              <a:t>Modèles</a:t>
            </a:r>
            <a:r>
              <a:rPr sz="3700" b="0" spc="250" dirty="0">
                <a:latin typeface="Cambria"/>
                <a:cs typeface="Cambria"/>
              </a:rPr>
              <a:t> </a:t>
            </a:r>
            <a:r>
              <a:rPr sz="3700" b="0" spc="380" dirty="0">
                <a:latin typeface="Cambria"/>
                <a:cs typeface="Cambria"/>
              </a:rPr>
              <a:t>pour</a:t>
            </a:r>
            <a:r>
              <a:rPr sz="3700" b="0" spc="254" dirty="0">
                <a:latin typeface="Cambria"/>
                <a:cs typeface="Cambria"/>
              </a:rPr>
              <a:t> </a:t>
            </a:r>
            <a:r>
              <a:rPr sz="3700" b="0" spc="190" dirty="0">
                <a:latin typeface="Cambria"/>
                <a:cs typeface="Cambria"/>
              </a:rPr>
              <a:t>la </a:t>
            </a:r>
            <a:r>
              <a:rPr sz="3700" b="0" spc="420" dirty="0">
                <a:latin typeface="Cambria"/>
                <a:cs typeface="Cambria"/>
              </a:rPr>
              <a:t>consommation</a:t>
            </a:r>
            <a:r>
              <a:rPr sz="3700" b="0" spc="254" dirty="0">
                <a:latin typeface="Cambria"/>
                <a:cs typeface="Cambria"/>
              </a:rPr>
              <a:t> </a:t>
            </a:r>
            <a:r>
              <a:rPr sz="3700" b="0" spc="385" dirty="0">
                <a:latin typeface="Cambria"/>
                <a:cs typeface="Cambria"/>
              </a:rPr>
              <a:t>en</a:t>
            </a:r>
            <a:r>
              <a:rPr sz="3700" b="0" spc="260" dirty="0">
                <a:latin typeface="Cambria"/>
                <a:cs typeface="Cambria"/>
              </a:rPr>
              <a:t> </a:t>
            </a:r>
            <a:r>
              <a:rPr sz="3700" b="0" spc="305" dirty="0" err="1">
                <a:latin typeface="Cambria"/>
                <a:cs typeface="Cambria"/>
              </a:rPr>
              <a:t>énergie</a:t>
            </a:r>
            <a:r>
              <a:rPr sz="3700" b="0" spc="305" dirty="0">
                <a:latin typeface="Cambria"/>
                <a:cs typeface="Cambria"/>
              </a:rPr>
              <a:t> </a:t>
            </a:r>
            <a:br>
              <a:rPr lang="fr-FR" sz="3700" b="0" spc="305" dirty="0">
                <a:latin typeface="Cambria"/>
                <a:cs typeface="Cambria"/>
              </a:rPr>
            </a:br>
            <a:r>
              <a:rPr sz="3700" b="0" spc="390" dirty="0" err="1">
                <a:latin typeface="Cambria"/>
                <a:cs typeface="Cambria"/>
              </a:rPr>
              <a:t>Modèles</a:t>
            </a:r>
            <a:r>
              <a:rPr sz="3700" b="0" spc="250" dirty="0">
                <a:latin typeface="Cambria"/>
                <a:cs typeface="Cambria"/>
              </a:rPr>
              <a:t> </a:t>
            </a:r>
            <a:r>
              <a:rPr sz="3700" b="0" spc="380" dirty="0">
                <a:latin typeface="Cambria"/>
                <a:cs typeface="Cambria"/>
              </a:rPr>
              <a:t>pour</a:t>
            </a:r>
            <a:r>
              <a:rPr sz="3700" b="0" spc="254" dirty="0">
                <a:latin typeface="Cambria"/>
                <a:cs typeface="Cambria"/>
              </a:rPr>
              <a:t> </a:t>
            </a:r>
            <a:r>
              <a:rPr sz="3700" b="0" spc="165" dirty="0">
                <a:latin typeface="Cambria"/>
                <a:cs typeface="Cambria"/>
              </a:rPr>
              <a:t>les</a:t>
            </a:r>
            <a:r>
              <a:rPr sz="3700" b="0" spc="310" dirty="0">
                <a:latin typeface="Cambria"/>
                <a:cs typeface="Cambria"/>
              </a:rPr>
              <a:t> émissions</a:t>
            </a:r>
            <a:r>
              <a:rPr sz="3700" b="0" spc="250" dirty="0">
                <a:latin typeface="Cambria"/>
                <a:cs typeface="Cambria"/>
              </a:rPr>
              <a:t> </a:t>
            </a:r>
            <a:r>
              <a:rPr sz="3700" b="0" spc="365" dirty="0">
                <a:latin typeface="Cambria"/>
                <a:cs typeface="Cambria"/>
              </a:rPr>
              <a:t>de</a:t>
            </a:r>
            <a:r>
              <a:rPr sz="3700" b="0" spc="250" dirty="0">
                <a:latin typeface="Cambria"/>
                <a:cs typeface="Cambria"/>
              </a:rPr>
              <a:t> </a:t>
            </a:r>
            <a:r>
              <a:rPr sz="3700" b="0" spc="484" dirty="0">
                <a:latin typeface="Cambria"/>
                <a:cs typeface="Cambria"/>
              </a:rPr>
              <a:t>Co2</a:t>
            </a:r>
            <a:endParaRPr sz="3700" dirty="0">
              <a:latin typeface="Cambria"/>
              <a:cs typeface="Cambr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2624" y="6975085"/>
            <a:ext cx="152399" cy="1523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930059" y="6721117"/>
            <a:ext cx="420052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500" dirty="0">
                <a:latin typeface="Cambria"/>
                <a:cs typeface="Cambria"/>
              </a:rPr>
              <a:t>Choix</a:t>
            </a:r>
            <a:r>
              <a:rPr sz="3700" spc="245" dirty="0">
                <a:latin typeface="Cambria"/>
                <a:cs typeface="Cambria"/>
              </a:rPr>
              <a:t> </a:t>
            </a:r>
            <a:r>
              <a:rPr sz="3700" spc="425" dirty="0">
                <a:latin typeface="Cambria"/>
                <a:cs typeface="Cambria"/>
              </a:rPr>
              <a:t>du</a:t>
            </a:r>
            <a:r>
              <a:rPr sz="3700" spc="250" dirty="0">
                <a:latin typeface="Cambria"/>
                <a:cs typeface="Cambria"/>
              </a:rPr>
              <a:t> </a:t>
            </a:r>
            <a:r>
              <a:rPr sz="3700" spc="415" dirty="0">
                <a:latin typeface="Cambria"/>
                <a:cs typeface="Cambria"/>
              </a:rPr>
              <a:t>modèle</a:t>
            </a:r>
            <a:endParaRPr sz="3700">
              <a:latin typeface="Cambria"/>
              <a:cs typeface="Cambr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68066" y="33087"/>
            <a:ext cx="1619249" cy="6286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39418"/>
            <a:ext cx="742949" cy="7429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596" y="1411409"/>
            <a:ext cx="15578225" cy="708367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68013" y="2915415"/>
            <a:ext cx="1913889" cy="1139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6670" algn="ctr">
              <a:lnSpc>
                <a:spcPct val="116100"/>
              </a:lnSpc>
              <a:spcBef>
                <a:spcPts val="90"/>
              </a:spcBef>
            </a:pPr>
            <a:r>
              <a:rPr sz="2100" dirty="0">
                <a:solidFill>
                  <a:srgbClr val="E9E8E3"/>
                </a:solidFill>
                <a:latin typeface="Arial"/>
                <a:cs typeface="Arial"/>
              </a:rPr>
              <a:t>Séparation</a:t>
            </a:r>
            <a:r>
              <a:rPr sz="2100" spc="170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E9E8E3"/>
                </a:solidFill>
                <a:latin typeface="Arial"/>
                <a:cs typeface="Arial"/>
              </a:rPr>
              <a:t>en </a:t>
            </a:r>
            <a:r>
              <a:rPr sz="2100" dirty="0">
                <a:solidFill>
                  <a:srgbClr val="E9E8E3"/>
                </a:solidFill>
                <a:latin typeface="Arial"/>
                <a:cs typeface="Arial"/>
              </a:rPr>
              <a:t>Train</a:t>
            </a:r>
            <a:r>
              <a:rPr sz="2100" spc="-15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2100" spc="60" dirty="0">
                <a:solidFill>
                  <a:srgbClr val="E9E8E3"/>
                </a:solidFill>
                <a:latin typeface="Arial"/>
                <a:cs typeface="Arial"/>
              </a:rPr>
              <a:t>et</a:t>
            </a:r>
            <a:r>
              <a:rPr sz="2100" spc="-10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2100" spc="50" dirty="0">
                <a:solidFill>
                  <a:srgbClr val="E9E8E3"/>
                </a:solidFill>
                <a:latin typeface="Arial"/>
                <a:cs typeface="Arial"/>
              </a:rPr>
              <a:t>test</a:t>
            </a:r>
            <a:r>
              <a:rPr sz="2100" spc="-15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E9E8E3"/>
                </a:solidFill>
                <a:latin typeface="Arial"/>
                <a:cs typeface="Arial"/>
              </a:rPr>
              <a:t>set </a:t>
            </a:r>
            <a:r>
              <a:rPr sz="2100" dirty="0">
                <a:solidFill>
                  <a:srgbClr val="E9E8E3"/>
                </a:solidFill>
                <a:latin typeface="Arial"/>
                <a:cs typeface="Arial"/>
              </a:rPr>
              <a:t>à</a:t>
            </a:r>
            <a:r>
              <a:rPr sz="2100" spc="-25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E9E8E3"/>
                </a:solidFill>
                <a:latin typeface="Arial"/>
                <a:cs typeface="Arial"/>
              </a:rPr>
              <a:t>80,</a:t>
            </a:r>
            <a:r>
              <a:rPr sz="2100" spc="-20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E9E8E3"/>
                </a:solidFill>
                <a:latin typeface="Arial"/>
                <a:cs typeface="Arial"/>
              </a:rPr>
              <a:t>20</a:t>
            </a:r>
            <a:r>
              <a:rPr sz="2100" spc="-20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2100" spc="-50" dirty="0">
                <a:solidFill>
                  <a:srgbClr val="E9E8E3"/>
                </a:solidFill>
                <a:latin typeface="Arial"/>
                <a:cs typeface="Arial"/>
              </a:rPr>
              <a:t>%</a:t>
            </a:r>
            <a:endParaRPr sz="2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15135" y="1865379"/>
            <a:ext cx="1635125" cy="2079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16100"/>
              </a:lnSpc>
              <a:spcBef>
                <a:spcPts val="100"/>
              </a:spcBef>
            </a:pP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Création Baseline</a:t>
            </a:r>
            <a:r>
              <a:rPr sz="21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55" dirty="0">
                <a:solidFill>
                  <a:srgbClr val="FFFFFF"/>
                </a:solidFill>
                <a:latin typeface="Arial"/>
                <a:cs typeface="Arial"/>
              </a:rPr>
              <a:t>avec 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paramètres </a:t>
            </a:r>
            <a:r>
              <a:rPr sz="2100" spc="50" dirty="0">
                <a:solidFill>
                  <a:srgbClr val="FFFFFF"/>
                </a:solidFill>
                <a:latin typeface="Arial"/>
                <a:cs typeface="Arial"/>
              </a:rPr>
              <a:t>par</a:t>
            </a:r>
            <a:r>
              <a:rPr sz="21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défauts</a:t>
            </a:r>
            <a:endParaRPr sz="2100">
              <a:latin typeface="Arial"/>
              <a:cs typeface="Arial"/>
            </a:endParaRPr>
          </a:p>
          <a:p>
            <a:pPr marL="264795" marR="257175" indent="-635" algn="ctr">
              <a:lnSpc>
                <a:spcPct val="113300"/>
              </a:lnSpc>
              <a:spcBef>
                <a:spcPts val="120"/>
              </a:spcBef>
            </a:pPr>
            <a:r>
              <a:rPr sz="1600" spc="-10" dirty="0">
                <a:latin typeface="Arial Black"/>
                <a:cs typeface="Arial Black"/>
              </a:rPr>
              <a:t>Linear </a:t>
            </a:r>
            <a:r>
              <a:rPr sz="1600" spc="-114" dirty="0">
                <a:latin typeface="Arial Black"/>
                <a:cs typeface="Arial Black"/>
              </a:rPr>
              <a:t>Regression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32976" y="2105361"/>
            <a:ext cx="1710689" cy="113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6100"/>
              </a:lnSpc>
              <a:spcBef>
                <a:spcPts val="100"/>
              </a:spcBef>
            </a:pPr>
            <a:r>
              <a:rPr sz="2100" spc="-10" dirty="0">
                <a:solidFill>
                  <a:srgbClr val="E9E8E3"/>
                </a:solidFill>
                <a:latin typeface="Arial"/>
                <a:cs typeface="Arial"/>
              </a:rPr>
              <a:t>Définition </a:t>
            </a:r>
            <a:r>
              <a:rPr sz="2100" dirty="0">
                <a:solidFill>
                  <a:srgbClr val="E9E8E3"/>
                </a:solidFill>
                <a:latin typeface="Arial"/>
                <a:cs typeface="Arial"/>
              </a:rPr>
              <a:t>d'une</a:t>
            </a:r>
            <a:r>
              <a:rPr sz="2100" spc="80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E9E8E3"/>
                </a:solidFill>
                <a:latin typeface="Arial"/>
                <a:cs typeface="Arial"/>
              </a:rPr>
              <a:t>grille</a:t>
            </a:r>
            <a:r>
              <a:rPr sz="2100" spc="85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E9E8E3"/>
                </a:solidFill>
                <a:latin typeface="Arial"/>
                <a:cs typeface="Arial"/>
              </a:rPr>
              <a:t>de </a:t>
            </a:r>
            <a:r>
              <a:rPr sz="2100" spc="-10" dirty="0">
                <a:solidFill>
                  <a:srgbClr val="E9E8E3"/>
                </a:solidFill>
                <a:latin typeface="Arial"/>
                <a:cs typeface="Arial"/>
              </a:rPr>
              <a:t>paramètres</a:t>
            </a:r>
            <a:endParaRPr sz="2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29276" y="5583168"/>
            <a:ext cx="1857375" cy="1282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4599"/>
              </a:lnSpc>
              <a:spcBef>
                <a:spcPts val="95"/>
              </a:spcBef>
            </a:pPr>
            <a:r>
              <a:rPr sz="1800" dirty="0">
                <a:solidFill>
                  <a:srgbClr val="E9E8E3"/>
                </a:solidFill>
                <a:latin typeface="Arial"/>
                <a:cs typeface="Arial"/>
              </a:rPr>
              <a:t>Entraînement</a:t>
            </a:r>
            <a:r>
              <a:rPr sz="1800" spc="180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E9E8E3"/>
                </a:solidFill>
                <a:latin typeface="Arial"/>
                <a:cs typeface="Arial"/>
              </a:rPr>
              <a:t>des </a:t>
            </a:r>
            <a:r>
              <a:rPr sz="1800" spc="-60" dirty="0">
                <a:solidFill>
                  <a:srgbClr val="E9E8E3"/>
                </a:solidFill>
                <a:latin typeface="Arial Black"/>
                <a:cs typeface="Arial Black"/>
              </a:rPr>
              <a:t>modèles</a:t>
            </a:r>
            <a:r>
              <a:rPr sz="1800" spc="180" dirty="0">
                <a:solidFill>
                  <a:srgbClr val="E9E8E3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E9E8E3"/>
                </a:solidFill>
                <a:latin typeface="Arial"/>
                <a:cs typeface="Arial"/>
              </a:rPr>
              <a:t>sur</a:t>
            </a:r>
            <a:r>
              <a:rPr sz="1800" spc="-110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E9E8E3"/>
                </a:solidFill>
                <a:latin typeface="Arial"/>
                <a:cs typeface="Arial"/>
              </a:rPr>
              <a:t>le </a:t>
            </a:r>
            <a:r>
              <a:rPr sz="1800" dirty="0">
                <a:solidFill>
                  <a:srgbClr val="E9E8E3"/>
                </a:solidFill>
                <a:latin typeface="Arial"/>
                <a:cs typeface="Arial"/>
              </a:rPr>
              <a:t>train</a:t>
            </a:r>
            <a:r>
              <a:rPr sz="1800" spc="70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9E8E3"/>
                </a:solidFill>
                <a:latin typeface="Arial"/>
                <a:cs typeface="Arial"/>
              </a:rPr>
              <a:t>set</a:t>
            </a:r>
            <a:r>
              <a:rPr sz="1800" spc="75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9E8E3"/>
                </a:solidFill>
                <a:latin typeface="Arial"/>
                <a:cs typeface="Arial"/>
              </a:rPr>
              <a:t>et</a:t>
            </a:r>
            <a:r>
              <a:rPr sz="1800" spc="70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E9E8E3"/>
                </a:solidFill>
                <a:latin typeface="Arial"/>
                <a:cs typeface="Arial"/>
              </a:rPr>
              <a:t>cross validation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83577" y="5949128"/>
            <a:ext cx="2059939" cy="1835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8700"/>
              </a:lnSpc>
              <a:spcBef>
                <a:spcPts val="95"/>
              </a:spcBef>
            </a:pPr>
            <a:r>
              <a:rPr sz="2000" dirty="0">
                <a:solidFill>
                  <a:srgbClr val="E9E8E3"/>
                </a:solidFill>
                <a:latin typeface="Arial"/>
                <a:cs typeface="Arial"/>
              </a:rPr>
              <a:t>Comparaison</a:t>
            </a:r>
            <a:r>
              <a:rPr sz="2000" spc="195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E9E8E3"/>
                </a:solidFill>
                <a:latin typeface="Arial"/>
                <a:cs typeface="Arial"/>
              </a:rPr>
              <a:t>des </a:t>
            </a:r>
            <a:r>
              <a:rPr sz="2000" dirty="0">
                <a:solidFill>
                  <a:srgbClr val="E9E8E3"/>
                </a:solidFill>
                <a:latin typeface="Arial"/>
                <a:cs typeface="Arial"/>
              </a:rPr>
              <a:t>modèles</a:t>
            </a:r>
            <a:r>
              <a:rPr sz="2000" spc="55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E9E8E3"/>
                </a:solidFill>
                <a:latin typeface="Arial"/>
                <a:cs typeface="Arial"/>
              </a:rPr>
              <a:t>avec</a:t>
            </a:r>
            <a:r>
              <a:rPr sz="2000" spc="55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E9E8E3"/>
                </a:solidFill>
                <a:latin typeface="Arial"/>
                <a:cs typeface="Arial"/>
              </a:rPr>
              <a:t>la </a:t>
            </a:r>
            <a:r>
              <a:rPr sz="2000" spc="-55" dirty="0" err="1">
                <a:solidFill>
                  <a:srgbClr val="E9E8E3"/>
                </a:solidFill>
                <a:latin typeface="Arial Black"/>
                <a:cs typeface="Arial Black"/>
              </a:rPr>
              <a:t>métrique</a:t>
            </a:r>
            <a:r>
              <a:rPr sz="2000" spc="-120" dirty="0">
                <a:solidFill>
                  <a:srgbClr val="E9E8E3"/>
                </a:solidFill>
                <a:latin typeface="Arial Black"/>
                <a:cs typeface="Arial Black"/>
              </a:rPr>
              <a:t> </a:t>
            </a:r>
            <a:r>
              <a:rPr sz="2000" spc="-10" dirty="0" err="1">
                <a:solidFill>
                  <a:srgbClr val="E9E8E3"/>
                </a:solidFill>
                <a:latin typeface="Arial"/>
                <a:cs typeface="Arial"/>
              </a:rPr>
              <a:t>choisi</a:t>
            </a:r>
            <a:r>
              <a:rPr sz="2000" spc="-10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E9E8E3"/>
                </a:solidFill>
                <a:latin typeface="Arial"/>
                <a:cs typeface="Arial"/>
              </a:rPr>
              <a:t>et</a:t>
            </a:r>
            <a:r>
              <a:rPr sz="2000" spc="-30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E9E8E3"/>
                </a:solidFill>
                <a:latin typeface="Arial"/>
                <a:cs typeface="Arial"/>
              </a:rPr>
              <a:t>le</a:t>
            </a:r>
            <a:r>
              <a:rPr sz="2000" spc="-30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2000" spc="40" dirty="0">
                <a:solidFill>
                  <a:srgbClr val="E9E8E3"/>
                </a:solidFill>
                <a:latin typeface="Arial"/>
                <a:cs typeface="Arial"/>
              </a:rPr>
              <a:t>temps d'entraînement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04372" y="4682284"/>
            <a:ext cx="2305050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marR="5080" indent="-360680">
              <a:lnSpc>
                <a:spcPct val="116100"/>
              </a:lnSpc>
              <a:spcBef>
                <a:spcPts val="100"/>
              </a:spcBef>
            </a:pPr>
            <a:r>
              <a:rPr sz="2100" spc="-90" dirty="0">
                <a:latin typeface="Arial Black"/>
                <a:cs typeface="Arial Black"/>
              </a:rPr>
              <a:t>Amélioration</a:t>
            </a:r>
            <a:r>
              <a:rPr sz="2100" spc="-105" dirty="0">
                <a:latin typeface="Arial Black"/>
                <a:cs typeface="Arial Black"/>
              </a:rPr>
              <a:t> </a:t>
            </a:r>
            <a:r>
              <a:rPr sz="2100" spc="-140" dirty="0">
                <a:latin typeface="Arial Black"/>
                <a:cs typeface="Arial Black"/>
              </a:rPr>
              <a:t>des </a:t>
            </a:r>
            <a:r>
              <a:rPr sz="2100" spc="-10" dirty="0">
                <a:latin typeface="Arial Black"/>
                <a:cs typeface="Arial Black"/>
              </a:rPr>
              <a:t>paramètres</a:t>
            </a:r>
            <a:endParaRPr sz="21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35951" y="1599268"/>
            <a:ext cx="1909445" cy="1370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9554" marR="426720" indent="140335">
              <a:lnSpc>
                <a:spcPct val="115199"/>
              </a:lnSpc>
              <a:spcBef>
                <a:spcPts val="100"/>
              </a:spcBef>
            </a:pPr>
            <a:r>
              <a:rPr sz="1600" spc="-10" dirty="0">
                <a:latin typeface="Arial Black"/>
                <a:cs typeface="Arial Black"/>
              </a:rPr>
              <a:t>Variables </a:t>
            </a:r>
            <a:r>
              <a:rPr sz="1600" spc="-65" dirty="0">
                <a:latin typeface="Arial Black"/>
                <a:cs typeface="Arial Black"/>
              </a:rPr>
              <a:t>numériques</a:t>
            </a:r>
            <a:endParaRPr sz="1600">
              <a:latin typeface="Arial Black"/>
              <a:cs typeface="Arial Black"/>
            </a:endParaRPr>
          </a:p>
          <a:p>
            <a:pPr marL="229235" marR="5080" indent="-217170">
              <a:lnSpc>
                <a:spcPct val="116100"/>
              </a:lnSpc>
              <a:spcBef>
                <a:spcPts val="315"/>
              </a:spcBef>
            </a:pPr>
            <a:r>
              <a:rPr sz="2100" spc="-10" dirty="0">
                <a:solidFill>
                  <a:srgbClr val="E9E8E3"/>
                </a:solidFill>
                <a:latin typeface="Arial"/>
                <a:cs typeface="Arial"/>
              </a:rPr>
              <a:t>Standardisation </a:t>
            </a:r>
            <a:r>
              <a:rPr sz="2100" spc="-45" dirty="0">
                <a:solidFill>
                  <a:srgbClr val="E9E8E3"/>
                </a:solidFill>
                <a:latin typeface="Arial"/>
                <a:cs typeface="Arial"/>
              </a:rPr>
              <a:t>avec</a:t>
            </a:r>
            <a:r>
              <a:rPr sz="2100" spc="-85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E9E8E3"/>
                </a:solidFill>
                <a:latin typeface="Arial"/>
                <a:cs typeface="Arial"/>
              </a:rPr>
              <a:t>Robust</a:t>
            </a:r>
            <a:endParaRPr sz="2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62855" y="2996054"/>
            <a:ext cx="1423035" cy="2185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6545">
              <a:lnSpc>
                <a:spcPct val="100000"/>
              </a:lnSpc>
              <a:spcBef>
                <a:spcPts val="95"/>
              </a:spcBef>
            </a:pPr>
            <a:r>
              <a:rPr sz="2100" spc="-10" dirty="0">
                <a:solidFill>
                  <a:srgbClr val="E9E8E3"/>
                </a:solidFill>
                <a:latin typeface="Arial"/>
                <a:cs typeface="Arial"/>
              </a:rPr>
              <a:t>Scaler</a:t>
            </a:r>
            <a:endParaRPr sz="2100">
              <a:latin typeface="Arial"/>
              <a:cs typeface="Arial"/>
            </a:endParaRPr>
          </a:p>
          <a:p>
            <a:pPr marL="12700" marR="106045" indent="175895">
              <a:lnSpc>
                <a:spcPct val="115199"/>
              </a:lnSpc>
              <a:spcBef>
                <a:spcPts val="1620"/>
              </a:spcBef>
            </a:pPr>
            <a:r>
              <a:rPr sz="1600" spc="-10" dirty="0">
                <a:latin typeface="Arial Black"/>
                <a:cs typeface="Arial Black"/>
              </a:rPr>
              <a:t>Variables </a:t>
            </a:r>
            <a:r>
              <a:rPr sz="1600" spc="-105" dirty="0">
                <a:latin typeface="Arial Black"/>
                <a:cs typeface="Arial Black"/>
              </a:rPr>
              <a:t>catégorielles</a:t>
            </a:r>
            <a:endParaRPr sz="1600">
              <a:latin typeface="Arial Black"/>
              <a:cs typeface="Arial Black"/>
            </a:endParaRPr>
          </a:p>
          <a:p>
            <a:pPr marL="140335">
              <a:lnSpc>
                <a:spcPct val="100000"/>
              </a:lnSpc>
              <a:spcBef>
                <a:spcPts val="70"/>
              </a:spcBef>
            </a:pPr>
            <a:r>
              <a:rPr sz="2100" spc="-10" dirty="0">
                <a:solidFill>
                  <a:srgbClr val="E9E8E3"/>
                </a:solidFill>
                <a:latin typeface="Arial"/>
                <a:cs typeface="Arial"/>
              </a:rPr>
              <a:t>Encodage</a:t>
            </a:r>
            <a:endParaRPr sz="2100">
              <a:latin typeface="Arial"/>
              <a:cs typeface="Arial"/>
            </a:endParaRPr>
          </a:p>
          <a:p>
            <a:pPr marL="194310" marR="5080" indent="-150495">
              <a:lnSpc>
                <a:spcPct val="116100"/>
              </a:lnSpc>
            </a:pPr>
            <a:r>
              <a:rPr sz="2100" spc="-45" dirty="0">
                <a:solidFill>
                  <a:srgbClr val="E9E8E3"/>
                </a:solidFill>
                <a:latin typeface="Arial"/>
                <a:cs typeface="Arial"/>
              </a:rPr>
              <a:t>avec</a:t>
            </a:r>
            <a:r>
              <a:rPr sz="2100" spc="-85" dirty="0">
                <a:solidFill>
                  <a:srgbClr val="E9E8E3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E9E8E3"/>
                </a:solidFill>
                <a:latin typeface="Arial"/>
                <a:cs typeface="Arial"/>
              </a:rPr>
              <a:t>Target </a:t>
            </a:r>
            <a:r>
              <a:rPr sz="2100" spc="-10" dirty="0">
                <a:solidFill>
                  <a:srgbClr val="E9E8E3"/>
                </a:solidFill>
                <a:latin typeface="Arial"/>
                <a:cs typeface="Arial"/>
              </a:rPr>
              <a:t>Encoder</a:t>
            </a:r>
            <a:endParaRPr sz="21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734879" y="296195"/>
            <a:ext cx="740346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Démarche</a:t>
            </a:r>
            <a:r>
              <a:rPr spc="-370" dirty="0"/>
              <a:t> </a:t>
            </a:r>
            <a:r>
              <a:rPr spc="-320" dirty="0"/>
              <a:t>de</a:t>
            </a:r>
            <a:r>
              <a:rPr spc="-370" dirty="0"/>
              <a:t> </a:t>
            </a:r>
            <a:r>
              <a:rPr spc="-200" dirty="0"/>
              <a:t>modélisation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451709" y="8187126"/>
            <a:ext cx="290512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4175" marR="5080" indent="-371475">
              <a:lnSpc>
                <a:spcPct val="107100"/>
              </a:lnSpc>
              <a:spcBef>
                <a:spcPts val="100"/>
              </a:spcBef>
            </a:pPr>
            <a:r>
              <a:rPr sz="2100" spc="-20" dirty="0">
                <a:latin typeface="Verdana"/>
                <a:cs typeface="Verdana"/>
              </a:rPr>
              <a:t>RMSE</a:t>
            </a:r>
            <a:r>
              <a:rPr sz="2100" spc="-155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car</a:t>
            </a:r>
            <a:r>
              <a:rPr sz="2100" spc="-150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pénalise</a:t>
            </a:r>
            <a:r>
              <a:rPr sz="2100" spc="-150" dirty="0">
                <a:latin typeface="Verdana"/>
                <a:cs typeface="Verdana"/>
              </a:rPr>
              <a:t> </a:t>
            </a:r>
            <a:r>
              <a:rPr sz="2100" spc="-25" dirty="0">
                <a:latin typeface="Verdana"/>
                <a:cs typeface="Verdana"/>
              </a:rPr>
              <a:t>les </a:t>
            </a:r>
            <a:r>
              <a:rPr sz="2100" spc="-30" dirty="0">
                <a:latin typeface="Verdana"/>
                <a:cs typeface="Verdana"/>
              </a:rPr>
              <a:t>grandes</a:t>
            </a:r>
            <a:r>
              <a:rPr sz="2100" spc="-114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erreurs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122217" y="7431813"/>
            <a:ext cx="2446020" cy="20567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5" dirty="0">
                <a:latin typeface="Cambria"/>
                <a:cs typeface="Cambria"/>
              </a:rPr>
              <a:t>Linéaire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: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Elastic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170" dirty="0">
                <a:latin typeface="Cambria"/>
                <a:cs typeface="Cambria"/>
              </a:rPr>
              <a:t>Net</a:t>
            </a:r>
            <a:endParaRPr sz="1800">
              <a:latin typeface="Cambria"/>
              <a:cs typeface="Cambria"/>
            </a:endParaRPr>
          </a:p>
          <a:p>
            <a:pPr marL="60325" marR="565150" algn="ctr">
              <a:lnSpc>
                <a:spcPct val="107600"/>
              </a:lnSpc>
              <a:spcBef>
                <a:spcPts val="1320"/>
              </a:spcBef>
            </a:pPr>
            <a:r>
              <a:rPr sz="1800" spc="160" dirty="0">
                <a:latin typeface="Cambria"/>
                <a:cs typeface="Cambria"/>
              </a:rPr>
              <a:t>Ensembliste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: </a:t>
            </a:r>
            <a:r>
              <a:rPr sz="1800" spc="245" dirty="0">
                <a:latin typeface="Cambria"/>
                <a:cs typeface="Cambria"/>
              </a:rPr>
              <a:t>Random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125" dirty="0">
                <a:latin typeface="Cambria"/>
                <a:cs typeface="Cambria"/>
              </a:rPr>
              <a:t>Forest </a:t>
            </a:r>
            <a:r>
              <a:rPr sz="1800" spc="265" dirty="0">
                <a:latin typeface="Cambria"/>
                <a:cs typeface="Cambria"/>
              </a:rPr>
              <a:t>LightGBM</a:t>
            </a:r>
            <a:endParaRPr sz="1800">
              <a:latin typeface="Cambria"/>
              <a:cs typeface="Cambria"/>
            </a:endParaRPr>
          </a:p>
          <a:p>
            <a:pPr marL="848360" marR="570865" indent="-577215">
              <a:lnSpc>
                <a:spcPct val="107600"/>
              </a:lnSpc>
              <a:spcBef>
                <a:spcPts val="890"/>
              </a:spcBef>
            </a:pPr>
            <a:r>
              <a:rPr sz="1800" spc="285" dirty="0">
                <a:latin typeface="Cambria"/>
                <a:cs typeface="Cambria"/>
              </a:rPr>
              <a:t>Non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130" dirty="0">
                <a:latin typeface="Cambria"/>
                <a:cs typeface="Cambria"/>
              </a:rPr>
              <a:t>linéaire </a:t>
            </a:r>
            <a:r>
              <a:rPr sz="1800" spc="-50" dirty="0">
                <a:latin typeface="Cambria"/>
                <a:cs typeface="Cambria"/>
              </a:rPr>
              <a:t>: </a:t>
            </a:r>
            <a:r>
              <a:rPr sz="1800" spc="270" dirty="0">
                <a:latin typeface="Cambria"/>
                <a:cs typeface="Cambria"/>
              </a:rPr>
              <a:t>SVR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459003" y="8923726"/>
            <a:ext cx="401955" cy="400685"/>
          </a:xfrm>
          <a:custGeom>
            <a:avLst/>
            <a:gdLst/>
            <a:ahLst/>
            <a:cxnLst/>
            <a:rect l="l" t="t" r="r" b="b"/>
            <a:pathLst>
              <a:path w="401955" h="400684">
                <a:moveTo>
                  <a:pt x="178370" y="400482"/>
                </a:moveTo>
                <a:lnTo>
                  <a:pt x="160963" y="391925"/>
                </a:lnTo>
                <a:lnTo>
                  <a:pt x="152697" y="374167"/>
                </a:lnTo>
                <a:lnTo>
                  <a:pt x="152980" y="341592"/>
                </a:lnTo>
                <a:lnTo>
                  <a:pt x="155805" y="308648"/>
                </a:lnTo>
                <a:lnTo>
                  <a:pt x="160316" y="275568"/>
                </a:lnTo>
                <a:lnTo>
                  <a:pt x="165655" y="242586"/>
                </a:lnTo>
                <a:lnTo>
                  <a:pt x="138440" y="266028"/>
                </a:lnTo>
                <a:lnTo>
                  <a:pt x="111628" y="289899"/>
                </a:lnTo>
                <a:lnTo>
                  <a:pt x="84922" y="313967"/>
                </a:lnTo>
                <a:lnTo>
                  <a:pt x="58026" y="337996"/>
                </a:lnTo>
                <a:lnTo>
                  <a:pt x="45622" y="342436"/>
                </a:lnTo>
                <a:lnTo>
                  <a:pt x="33507" y="338368"/>
                </a:lnTo>
                <a:lnTo>
                  <a:pt x="26525" y="328648"/>
                </a:lnTo>
                <a:lnTo>
                  <a:pt x="55550" y="284805"/>
                </a:lnTo>
                <a:lnTo>
                  <a:pt x="84528" y="255647"/>
                </a:lnTo>
                <a:lnTo>
                  <a:pt x="115480" y="228238"/>
                </a:lnTo>
                <a:lnTo>
                  <a:pt x="147433" y="202155"/>
                </a:lnTo>
                <a:lnTo>
                  <a:pt x="112610" y="203242"/>
                </a:lnTo>
                <a:lnTo>
                  <a:pt x="43114" y="203036"/>
                </a:lnTo>
                <a:lnTo>
                  <a:pt x="1958" y="195208"/>
                </a:lnTo>
                <a:lnTo>
                  <a:pt x="0" y="187716"/>
                </a:lnTo>
                <a:lnTo>
                  <a:pt x="2596" y="179969"/>
                </a:lnTo>
                <a:lnTo>
                  <a:pt x="40410" y="167324"/>
                </a:lnTo>
                <a:lnTo>
                  <a:pt x="106836" y="160529"/>
                </a:lnTo>
                <a:lnTo>
                  <a:pt x="140550" y="159875"/>
                </a:lnTo>
                <a:lnTo>
                  <a:pt x="132981" y="152103"/>
                </a:lnTo>
                <a:lnTo>
                  <a:pt x="91025" y="118545"/>
                </a:lnTo>
                <a:lnTo>
                  <a:pt x="71712" y="107246"/>
                </a:lnTo>
                <a:lnTo>
                  <a:pt x="53068" y="95315"/>
                </a:lnTo>
                <a:lnTo>
                  <a:pt x="37293" y="81424"/>
                </a:lnTo>
                <a:lnTo>
                  <a:pt x="32920" y="76521"/>
                </a:lnTo>
                <a:lnTo>
                  <a:pt x="32596" y="67117"/>
                </a:lnTo>
                <a:lnTo>
                  <a:pt x="39561" y="63901"/>
                </a:lnTo>
                <a:lnTo>
                  <a:pt x="77306" y="58652"/>
                </a:lnTo>
                <a:lnTo>
                  <a:pt x="115333" y="72181"/>
                </a:lnTo>
                <a:lnTo>
                  <a:pt x="151066" y="97043"/>
                </a:lnTo>
                <a:lnTo>
                  <a:pt x="181933" y="125794"/>
                </a:lnTo>
                <a:lnTo>
                  <a:pt x="185218" y="97579"/>
                </a:lnTo>
                <a:lnTo>
                  <a:pt x="188412" y="69357"/>
                </a:lnTo>
                <a:lnTo>
                  <a:pt x="191545" y="41120"/>
                </a:lnTo>
                <a:lnTo>
                  <a:pt x="194648" y="12860"/>
                </a:lnTo>
                <a:lnTo>
                  <a:pt x="198806" y="4147"/>
                </a:lnTo>
                <a:lnTo>
                  <a:pt x="206775" y="0"/>
                </a:lnTo>
                <a:lnTo>
                  <a:pt x="215261" y="1399"/>
                </a:lnTo>
                <a:lnTo>
                  <a:pt x="220968" y="9324"/>
                </a:lnTo>
                <a:lnTo>
                  <a:pt x="227508" y="40596"/>
                </a:lnTo>
                <a:lnTo>
                  <a:pt x="230524" y="72924"/>
                </a:lnTo>
                <a:lnTo>
                  <a:pt x="230808" y="105764"/>
                </a:lnTo>
                <a:lnTo>
                  <a:pt x="229148" y="138574"/>
                </a:lnTo>
                <a:lnTo>
                  <a:pt x="255606" y="118941"/>
                </a:lnTo>
                <a:lnTo>
                  <a:pt x="282406" y="99791"/>
                </a:lnTo>
                <a:lnTo>
                  <a:pt x="309585" y="81243"/>
                </a:lnTo>
                <a:lnTo>
                  <a:pt x="337182" y="63419"/>
                </a:lnTo>
                <a:lnTo>
                  <a:pt x="352401" y="61235"/>
                </a:lnTo>
                <a:lnTo>
                  <a:pt x="364788" y="69759"/>
                </a:lnTo>
                <a:lnTo>
                  <a:pt x="369810" y="83392"/>
                </a:lnTo>
                <a:lnTo>
                  <a:pt x="362936" y="96536"/>
                </a:lnTo>
                <a:lnTo>
                  <a:pt x="340479" y="113424"/>
                </a:lnTo>
                <a:lnTo>
                  <a:pt x="317756" y="129943"/>
                </a:lnTo>
                <a:lnTo>
                  <a:pt x="294866" y="146237"/>
                </a:lnTo>
                <a:lnTo>
                  <a:pt x="271908" y="162447"/>
                </a:lnTo>
                <a:lnTo>
                  <a:pt x="301091" y="164895"/>
                </a:lnTo>
                <a:lnTo>
                  <a:pt x="358666" y="174191"/>
                </a:lnTo>
                <a:lnTo>
                  <a:pt x="400563" y="193167"/>
                </a:lnTo>
                <a:lnTo>
                  <a:pt x="401768" y="209469"/>
                </a:lnTo>
                <a:lnTo>
                  <a:pt x="392404" y="222757"/>
                </a:lnTo>
                <a:lnTo>
                  <a:pt x="374597" y="225224"/>
                </a:lnTo>
                <a:lnTo>
                  <a:pt x="343808" y="218082"/>
                </a:lnTo>
                <a:lnTo>
                  <a:pt x="312806" y="212463"/>
                </a:lnTo>
                <a:lnTo>
                  <a:pt x="281621" y="208201"/>
                </a:lnTo>
                <a:lnTo>
                  <a:pt x="250285" y="205129"/>
                </a:lnTo>
                <a:lnTo>
                  <a:pt x="269845" y="227788"/>
                </a:lnTo>
                <a:lnTo>
                  <a:pt x="290514" y="249197"/>
                </a:lnTo>
                <a:lnTo>
                  <a:pt x="312854" y="268586"/>
                </a:lnTo>
                <a:lnTo>
                  <a:pt x="337425" y="285187"/>
                </a:lnTo>
                <a:lnTo>
                  <a:pt x="350493" y="302718"/>
                </a:lnTo>
                <a:lnTo>
                  <a:pt x="346668" y="322473"/>
                </a:lnTo>
                <a:lnTo>
                  <a:pt x="331196" y="335521"/>
                </a:lnTo>
                <a:lnTo>
                  <a:pt x="309323" y="332932"/>
                </a:lnTo>
                <a:lnTo>
                  <a:pt x="283938" y="316226"/>
                </a:lnTo>
                <a:lnTo>
                  <a:pt x="260702" y="297003"/>
                </a:lnTo>
                <a:lnTo>
                  <a:pt x="239181" y="275850"/>
                </a:lnTo>
                <a:lnTo>
                  <a:pt x="218943" y="253356"/>
                </a:lnTo>
                <a:lnTo>
                  <a:pt x="216334" y="285492"/>
                </a:lnTo>
                <a:lnTo>
                  <a:pt x="213558" y="317590"/>
                </a:lnTo>
                <a:lnTo>
                  <a:pt x="210357" y="349582"/>
                </a:lnTo>
                <a:lnTo>
                  <a:pt x="206472" y="381401"/>
                </a:lnTo>
                <a:lnTo>
                  <a:pt x="196384" y="397690"/>
                </a:lnTo>
                <a:lnTo>
                  <a:pt x="178370" y="400482"/>
                </a:lnTo>
                <a:close/>
              </a:path>
            </a:pathLst>
          </a:custGeom>
          <a:solidFill>
            <a:srgbClr val="143A0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68066" y="33087"/>
            <a:ext cx="1619249" cy="6286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066" y="33087"/>
            <a:ext cx="1619249" cy="62864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6006098" y="7837875"/>
            <a:ext cx="1067435" cy="191135"/>
            <a:chOff x="16006098" y="7837875"/>
            <a:chExt cx="1067435" cy="191135"/>
          </a:xfrm>
        </p:grpSpPr>
        <p:sp>
          <p:nvSpPr>
            <p:cNvPr id="4" name="object 4"/>
            <p:cNvSpPr/>
            <p:nvPr/>
          </p:nvSpPr>
          <p:spPr>
            <a:xfrm>
              <a:off x="16029944" y="7933158"/>
              <a:ext cx="864235" cy="0"/>
            </a:xfrm>
            <a:custGeom>
              <a:avLst/>
              <a:gdLst/>
              <a:ahLst/>
              <a:cxnLst/>
              <a:rect l="l" t="t" r="r" b="b"/>
              <a:pathLst>
                <a:path w="864234">
                  <a:moveTo>
                    <a:pt x="864056" y="0"/>
                  </a:moveTo>
                  <a:lnTo>
                    <a:pt x="0" y="0"/>
                  </a:lnTo>
                </a:path>
              </a:pathLst>
            </a:custGeom>
            <a:ln w="47624">
              <a:solidFill>
                <a:srgbClr val="0080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82094" y="7837884"/>
              <a:ext cx="190826" cy="19054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029943" y="7861720"/>
              <a:ext cx="95885" cy="142875"/>
            </a:xfrm>
            <a:custGeom>
              <a:avLst/>
              <a:gdLst/>
              <a:ahLst/>
              <a:cxnLst/>
              <a:rect l="l" t="t" r="r" b="b"/>
              <a:pathLst>
                <a:path w="95884" h="142875">
                  <a:moveTo>
                    <a:pt x="95436" y="142874"/>
                  </a:moveTo>
                  <a:lnTo>
                    <a:pt x="0" y="71437"/>
                  </a:lnTo>
                  <a:lnTo>
                    <a:pt x="95436" y="0"/>
                  </a:lnTo>
                </a:path>
              </a:pathLst>
            </a:custGeom>
            <a:ln w="47689">
              <a:solidFill>
                <a:srgbClr val="0080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9539418"/>
            <a:ext cx="742949" cy="7429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7579" y="6560403"/>
            <a:ext cx="15106649" cy="26955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1015" y="2847058"/>
            <a:ext cx="11610974" cy="299084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681" rIns="0" bIns="0" rtlCol="0">
            <a:spAutoFit/>
          </a:bodyPr>
          <a:lstStyle/>
          <a:p>
            <a:pPr marL="803275">
              <a:lnSpc>
                <a:spcPct val="100000"/>
              </a:lnSpc>
              <a:spcBef>
                <a:spcPts val="100"/>
              </a:spcBef>
            </a:pPr>
            <a:r>
              <a:rPr spc="-360" dirty="0"/>
              <a:t>Modèles</a:t>
            </a:r>
            <a:r>
              <a:rPr spc="-365" dirty="0"/>
              <a:t> </a:t>
            </a:r>
            <a:r>
              <a:rPr spc="-235" dirty="0"/>
              <a:t>pour</a:t>
            </a:r>
            <a:r>
              <a:rPr spc="-365" dirty="0"/>
              <a:t> </a:t>
            </a:r>
            <a:r>
              <a:rPr spc="-250" dirty="0"/>
              <a:t>la</a:t>
            </a:r>
            <a:r>
              <a:rPr spc="-365" dirty="0"/>
              <a:t> </a:t>
            </a:r>
            <a:r>
              <a:rPr spc="-210" dirty="0"/>
              <a:t>consommation</a:t>
            </a:r>
            <a:r>
              <a:rPr spc="-365" dirty="0"/>
              <a:t> </a:t>
            </a:r>
            <a:r>
              <a:rPr spc="-170" dirty="0"/>
              <a:t>totale</a:t>
            </a:r>
            <a:r>
              <a:rPr spc="-360" dirty="0"/>
              <a:t> </a:t>
            </a:r>
            <a:r>
              <a:rPr spc="-140" dirty="0"/>
              <a:t>d'énergie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92709" y="2125000"/>
            <a:ext cx="6072505" cy="732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44980" marR="5080" indent="-1732914">
              <a:lnSpc>
                <a:spcPct val="115999"/>
              </a:lnSpc>
              <a:spcBef>
                <a:spcPts val="100"/>
              </a:spcBef>
            </a:pPr>
            <a:r>
              <a:rPr sz="2000" spc="-20" dirty="0">
                <a:latin typeface="Arial"/>
                <a:cs typeface="Arial"/>
              </a:rPr>
              <a:t>Baseline 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Tous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modèles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sont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entrainés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avec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leurs </a:t>
            </a:r>
            <a:r>
              <a:rPr sz="2000" dirty="0">
                <a:latin typeface="Arial"/>
                <a:cs typeface="Arial"/>
              </a:rPr>
              <a:t>paramètres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par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défaut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8148" y="6007193"/>
            <a:ext cx="58591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"/>
                <a:cs typeface="Arial"/>
              </a:rPr>
              <a:t>Résultats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obtenus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après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spc="45" dirty="0">
                <a:latin typeface="Arial"/>
                <a:cs typeface="Arial"/>
              </a:rPr>
              <a:t>tunning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des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paramètres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5F42536-1856-0FAA-44C9-9B42C90E62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49" y="2857791"/>
            <a:ext cx="12395298" cy="29801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6974" y="2516493"/>
            <a:ext cx="12087224" cy="70199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539418"/>
            <a:ext cx="742949" cy="7429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68066" y="33087"/>
            <a:ext cx="1619249" cy="6286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4879" y="231387"/>
            <a:ext cx="13496290" cy="1739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95"/>
              </a:spcBef>
            </a:pPr>
            <a:r>
              <a:rPr spc="-145" dirty="0"/>
              <a:t>Feature</a:t>
            </a:r>
            <a:r>
              <a:rPr spc="-350" dirty="0"/>
              <a:t> </a:t>
            </a:r>
            <a:r>
              <a:rPr spc="-185" dirty="0"/>
              <a:t>importance</a:t>
            </a:r>
            <a:r>
              <a:rPr spc="-345" dirty="0"/>
              <a:t> </a:t>
            </a:r>
            <a:r>
              <a:rPr spc="-235" dirty="0"/>
              <a:t>pour</a:t>
            </a:r>
            <a:r>
              <a:rPr spc="-345" dirty="0"/>
              <a:t> </a:t>
            </a:r>
            <a:r>
              <a:rPr spc="-250" dirty="0"/>
              <a:t>la</a:t>
            </a:r>
            <a:r>
              <a:rPr spc="-345" dirty="0"/>
              <a:t> </a:t>
            </a:r>
            <a:r>
              <a:rPr spc="-210" dirty="0"/>
              <a:t>consommation</a:t>
            </a:r>
            <a:r>
              <a:rPr spc="-345" dirty="0"/>
              <a:t> </a:t>
            </a:r>
            <a:r>
              <a:rPr spc="-55" dirty="0"/>
              <a:t>totale </a:t>
            </a:r>
            <a:r>
              <a:rPr spc="-110" dirty="0"/>
              <a:t>d'énergie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55962" y="5395055"/>
            <a:ext cx="3117215" cy="3116580"/>
          </a:xfrm>
          <a:prstGeom prst="rect">
            <a:avLst/>
          </a:prstGeom>
          <a:ln w="35626">
            <a:solidFill>
              <a:srgbClr val="00803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3400">
              <a:latin typeface="Times New Roman"/>
              <a:cs typeface="Times New Roman"/>
            </a:endParaRPr>
          </a:p>
          <a:p>
            <a:pPr marL="1471295">
              <a:lnSpc>
                <a:spcPct val="100000"/>
              </a:lnSpc>
            </a:pPr>
            <a:r>
              <a:rPr sz="3400" spc="-894" dirty="0">
                <a:solidFill>
                  <a:srgbClr val="FF1616"/>
                </a:solidFill>
                <a:latin typeface="Verdana"/>
                <a:cs typeface="Verdana"/>
              </a:rPr>
              <a:t>&lt;</a:t>
            </a:r>
            <a:r>
              <a:rPr sz="3400" spc="-245" dirty="0">
                <a:solidFill>
                  <a:srgbClr val="FF1616"/>
                </a:solidFill>
                <a:latin typeface="Verdana"/>
                <a:cs typeface="Verdana"/>
              </a:rPr>
              <a:t> </a:t>
            </a:r>
            <a:r>
              <a:rPr sz="3400" spc="-20" dirty="0">
                <a:solidFill>
                  <a:srgbClr val="FF1616"/>
                </a:solidFill>
                <a:latin typeface="Verdana"/>
                <a:cs typeface="Verdana"/>
              </a:rPr>
              <a:t>0.05</a:t>
            </a:r>
            <a:endParaRPr sz="3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066" y="25110"/>
            <a:ext cx="1619249" cy="6286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539418"/>
            <a:ext cx="742949" cy="7429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6665196" y="7801438"/>
            <a:ext cx="1286510" cy="191135"/>
            <a:chOff x="16665196" y="7801438"/>
            <a:chExt cx="1286510" cy="191135"/>
          </a:xfrm>
        </p:grpSpPr>
        <p:sp>
          <p:nvSpPr>
            <p:cNvPr id="5" name="object 5"/>
            <p:cNvSpPr/>
            <p:nvPr/>
          </p:nvSpPr>
          <p:spPr>
            <a:xfrm>
              <a:off x="16689044" y="7896724"/>
              <a:ext cx="1083310" cy="0"/>
            </a:xfrm>
            <a:custGeom>
              <a:avLst/>
              <a:gdLst/>
              <a:ahLst/>
              <a:cxnLst/>
              <a:rect l="l" t="t" r="r" b="b"/>
              <a:pathLst>
                <a:path w="1083309">
                  <a:moveTo>
                    <a:pt x="1083081" y="0"/>
                  </a:moveTo>
                  <a:lnTo>
                    <a:pt x="0" y="0"/>
                  </a:lnTo>
                </a:path>
              </a:pathLst>
            </a:custGeom>
            <a:ln w="47624">
              <a:solidFill>
                <a:srgbClr val="0080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60219" y="7801448"/>
              <a:ext cx="190867" cy="19055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689045" y="7825287"/>
              <a:ext cx="95885" cy="142875"/>
            </a:xfrm>
            <a:custGeom>
              <a:avLst/>
              <a:gdLst/>
              <a:ahLst/>
              <a:cxnLst/>
              <a:rect l="l" t="t" r="r" b="b"/>
              <a:pathLst>
                <a:path w="95884" h="142875">
                  <a:moveTo>
                    <a:pt x="95459" y="142874"/>
                  </a:moveTo>
                  <a:lnTo>
                    <a:pt x="0" y="71437"/>
                  </a:lnTo>
                  <a:lnTo>
                    <a:pt x="95459" y="0"/>
                  </a:lnTo>
                </a:path>
              </a:pathLst>
            </a:custGeom>
            <a:ln w="47697">
              <a:solidFill>
                <a:srgbClr val="0080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8700" y="2847058"/>
            <a:ext cx="12992099" cy="30765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8068" y="6508408"/>
            <a:ext cx="15506699" cy="273367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34879" y="296195"/>
            <a:ext cx="946150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0" dirty="0"/>
              <a:t>Modèles</a:t>
            </a:r>
            <a:r>
              <a:rPr spc="-375" dirty="0"/>
              <a:t> </a:t>
            </a:r>
            <a:r>
              <a:rPr spc="-235" dirty="0"/>
              <a:t>pour</a:t>
            </a:r>
            <a:r>
              <a:rPr spc="-370" dirty="0"/>
              <a:t> </a:t>
            </a:r>
            <a:r>
              <a:rPr spc="-270" dirty="0"/>
              <a:t>les</a:t>
            </a:r>
            <a:r>
              <a:rPr spc="-375" dirty="0"/>
              <a:t> </a:t>
            </a:r>
            <a:r>
              <a:rPr spc="-240" dirty="0"/>
              <a:t>émissions</a:t>
            </a:r>
            <a:r>
              <a:rPr spc="-370" dirty="0"/>
              <a:t> </a:t>
            </a:r>
            <a:r>
              <a:rPr spc="-315" dirty="0"/>
              <a:t>de</a:t>
            </a:r>
            <a:r>
              <a:rPr spc="-370" dirty="0"/>
              <a:t> </a:t>
            </a:r>
            <a:r>
              <a:rPr spc="-35" dirty="0"/>
              <a:t>C02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92709" y="2124987"/>
            <a:ext cx="6072505" cy="732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44980" marR="5080" indent="-1732914">
              <a:lnSpc>
                <a:spcPct val="115999"/>
              </a:lnSpc>
              <a:spcBef>
                <a:spcPts val="100"/>
              </a:spcBef>
            </a:pPr>
            <a:r>
              <a:rPr sz="2000" spc="-20" dirty="0">
                <a:latin typeface="Arial"/>
                <a:cs typeface="Arial"/>
              </a:rPr>
              <a:t>Baseline 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Tous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modèles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sont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entrainés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avec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leurs </a:t>
            </a:r>
            <a:r>
              <a:rPr sz="2000" dirty="0">
                <a:latin typeface="Arial"/>
                <a:cs typeface="Arial"/>
              </a:rPr>
              <a:t>paramètres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par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défaut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98637" y="6056795"/>
            <a:ext cx="58591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"/>
                <a:cs typeface="Arial"/>
              </a:rPr>
              <a:t>Résultats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obtenus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après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spc="45" dirty="0">
                <a:latin typeface="Arial"/>
                <a:cs typeface="Arial"/>
              </a:rPr>
              <a:t>tunning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des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paramètres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39430"/>
            <a:ext cx="742949" cy="7429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68066" y="25122"/>
            <a:ext cx="1619249" cy="6286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-55713" y="89214"/>
            <a:ext cx="18399427" cy="1702760"/>
          </a:xfrm>
          <a:prstGeom prst="rect">
            <a:avLst/>
          </a:prstGeom>
        </p:spPr>
        <p:txBody>
          <a:bodyPr vert="horz" wrap="square" lIns="0" tIns="893812" rIns="0" bIns="0" rtlCol="0">
            <a:spAutoFit/>
          </a:bodyPr>
          <a:lstStyle/>
          <a:p>
            <a:pPr marL="1083945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Feature</a:t>
            </a:r>
            <a:r>
              <a:rPr spc="-355" dirty="0"/>
              <a:t> </a:t>
            </a:r>
            <a:r>
              <a:rPr spc="-185" dirty="0"/>
              <a:t>importance</a:t>
            </a:r>
            <a:r>
              <a:rPr spc="-355" dirty="0"/>
              <a:t> </a:t>
            </a:r>
            <a:r>
              <a:rPr spc="-235" dirty="0"/>
              <a:t>pour</a:t>
            </a:r>
            <a:r>
              <a:rPr spc="-350" dirty="0"/>
              <a:t> </a:t>
            </a:r>
            <a:r>
              <a:rPr spc="-270" dirty="0"/>
              <a:t>les</a:t>
            </a:r>
            <a:r>
              <a:rPr spc="-355" dirty="0"/>
              <a:t> </a:t>
            </a:r>
            <a:r>
              <a:rPr spc="-240" dirty="0"/>
              <a:t>emissions</a:t>
            </a:r>
            <a:r>
              <a:rPr spc="-355" dirty="0"/>
              <a:t> </a:t>
            </a:r>
            <a:r>
              <a:rPr spc="-315" dirty="0"/>
              <a:t>de</a:t>
            </a:r>
            <a:r>
              <a:rPr spc="-350" dirty="0"/>
              <a:t> </a:t>
            </a:r>
            <a:r>
              <a:rPr spc="-330" dirty="0"/>
              <a:t>C</a:t>
            </a:r>
            <a:r>
              <a:rPr lang="fr-FR" spc="-330" dirty="0"/>
              <a:t>O</a:t>
            </a:r>
            <a:r>
              <a:rPr spc="-330" dirty="0"/>
              <a:t>2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43436" y="2271462"/>
            <a:ext cx="12506324" cy="72675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37094" y="5651194"/>
            <a:ext cx="2910205" cy="2910205"/>
          </a:xfrm>
          <a:prstGeom prst="rect">
            <a:avLst/>
          </a:prstGeom>
          <a:ln w="33258">
            <a:solidFill>
              <a:srgbClr val="008037"/>
            </a:solidFill>
          </a:ln>
        </p:spPr>
        <p:txBody>
          <a:bodyPr vert="horz" wrap="square" lIns="0" tIns="2933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310"/>
              </a:spcBef>
            </a:pPr>
            <a:endParaRPr sz="3400">
              <a:latin typeface="Times New Roman"/>
              <a:cs typeface="Times New Roman"/>
            </a:endParaRPr>
          </a:p>
          <a:p>
            <a:pPr marL="1226820">
              <a:lnSpc>
                <a:spcPct val="100000"/>
              </a:lnSpc>
            </a:pPr>
            <a:r>
              <a:rPr sz="3400" spc="-894" dirty="0">
                <a:solidFill>
                  <a:srgbClr val="FF1616"/>
                </a:solidFill>
                <a:latin typeface="Verdana"/>
                <a:cs typeface="Verdana"/>
              </a:rPr>
              <a:t>&lt;</a:t>
            </a:r>
            <a:r>
              <a:rPr sz="3400" spc="-245" dirty="0">
                <a:solidFill>
                  <a:srgbClr val="FF1616"/>
                </a:solidFill>
                <a:latin typeface="Verdana"/>
                <a:cs typeface="Verdana"/>
              </a:rPr>
              <a:t> </a:t>
            </a:r>
            <a:r>
              <a:rPr sz="3400" spc="-20" dirty="0">
                <a:solidFill>
                  <a:srgbClr val="FF1616"/>
                </a:solidFill>
                <a:latin typeface="Verdana"/>
                <a:cs typeface="Verdana"/>
              </a:rPr>
              <a:t>0.05</a:t>
            </a:r>
            <a:endParaRPr sz="3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39430"/>
            <a:ext cx="742949" cy="7429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68066" y="25122"/>
            <a:ext cx="1619249" cy="6286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43036" y="959060"/>
            <a:ext cx="11125200" cy="5213985"/>
            <a:chOff x="243036" y="959060"/>
            <a:chExt cx="11125200" cy="521398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036" y="959060"/>
              <a:ext cx="11125198" cy="51149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26477" y="3439155"/>
              <a:ext cx="2076450" cy="2733675"/>
            </a:xfrm>
            <a:custGeom>
              <a:avLst/>
              <a:gdLst/>
              <a:ahLst/>
              <a:cxnLst/>
              <a:rect l="l" t="t" r="r" b="b"/>
              <a:pathLst>
                <a:path w="2076450" h="2733675">
                  <a:moveTo>
                    <a:pt x="1941405" y="2733674"/>
                  </a:moveTo>
                  <a:lnTo>
                    <a:pt x="135030" y="2733674"/>
                  </a:lnTo>
                  <a:lnTo>
                    <a:pt x="92415" y="2726750"/>
                  </a:lnTo>
                  <a:lnTo>
                    <a:pt x="55356" y="2707481"/>
                  </a:lnTo>
                  <a:lnTo>
                    <a:pt x="26102" y="2678125"/>
                  </a:lnTo>
                  <a:lnTo>
                    <a:pt x="6900" y="2640937"/>
                  </a:lnTo>
                  <a:lnTo>
                    <a:pt x="0" y="2598174"/>
                  </a:lnTo>
                  <a:lnTo>
                    <a:pt x="0" y="135500"/>
                  </a:lnTo>
                  <a:lnTo>
                    <a:pt x="6900" y="92737"/>
                  </a:lnTo>
                  <a:lnTo>
                    <a:pt x="26102" y="55549"/>
                  </a:lnTo>
                  <a:lnTo>
                    <a:pt x="55356" y="26193"/>
                  </a:lnTo>
                  <a:lnTo>
                    <a:pt x="92415" y="6924"/>
                  </a:lnTo>
                  <a:lnTo>
                    <a:pt x="135030" y="0"/>
                  </a:lnTo>
                  <a:lnTo>
                    <a:pt x="1941405" y="0"/>
                  </a:lnTo>
                  <a:lnTo>
                    <a:pt x="1984019" y="6924"/>
                  </a:lnTo>
                  <a:lnTo>
                    <a:pt x="2021078" y="26193"/>
                  </a:lnTo>
                  <a:lnTo>
                    <a:pt x="2050333" y="55549"/>
                  </a:lnTo>
                  <a:lnTo>
                    <a:pt x="2055205" y="64984"/>
                  </a:lnTo>
                  <a:lnTo>
                    <a:pt x="135030" y="64984"/>
                  </a:lnTo>
                  <a:lnTo>
                    <a:pt x="107774" y="70558"/>
                  </a:lnTo>
                  <a:lnTo>
                    <a:pt x="85427" y="85724"/>
                  </a:lnTo>
                  <a:lnTo>
                    <a:pt x="70313" y="108149"/>
                  </a:lnTo>
                  <a:lnTo>
                    <a:pt x="64759" y="135500"/>
                  </a:lnTo>
                  <a:lnTo>
                    <a:pt x="64759" y="2598174"/>
                  </a:lnTo>
                  <a:lnTo>
                    <a:pt x="70313" y="2625525"/>
                  </a:lnTo>
                  <a:lnTo>
                    <a:pt x="85427" y="2647950"/>
                  </a:lnTo>
                  <a:lnTo>
                    <a:pt x="107774" y="2663116"/>
                  </a:lnTo>
                  <a:lnTo>
                    <a:pt x="135030" y="2668690"/>
                  </a:lnTo>
                  <a:lnTo>
                    <a:pt x="2055205" y="2668690"/>
                  </a:lnTo>
                  <a:lnTo>
                    <a:pt x="2050333" y="2678125"/>
                  </a:lnTo>
                  <a:lnTo>
                    <a:pt x="2021078" y="2707481"/>
                  </a:lnTo>
                  <a:lnTo>
                    <a:pt x="1984019" y="2726750"/>
                  </a:lnTo>
                  <a:lnTo>
                    <a:pt x="1941405" y="2733674"/>
                  </a:lnTo>
                  <a:close/>
                </a:path>
                <a:path w="2076450" h="2733675">
                  <a:moveTo>
                    <a:pt x="2055205" y="2668690"/>
                  </a:moveTo>
                  <a:lnTo>
                    <a:pt x="1941405" y="2668690"/>
                  </a:lnTo>
                  <a:lnTo>
                    <a:pt x="1968661" y="2663116"/>
                  </a:lnTo>
                  <a:lnTo>
                    <a:pt x="1991008" y="2647950"/>
                  </a:lnTo>
                  <a:lnTo>
                    <a:pt x="2006121" y="2625525"/>
                  </a:lnTo>
                  <a:lnTo>
                    <a:pt x="2011676" y="2598174"/>
                  </a:lnTo>
                  <a:lnTo>
                    <a:pt x="2011676" y="135500"/>
                  </a:lnTo>
                  <a:lnTo>
                    <a:pt x="2006121" y="108149"/>
                  </a:lnTo>
                  <a:lnTo>
                    <a:pt x="1991008" y="85724"/>
                  </a:lnTo>
                  <a:lnTo>
                    <a:pt x="1968661" y="70558"/>
                  </a:lnTo>
                  <a:lnTo>
                    <a:pt x="1941405" y="64984"/>
                  </a:lnTo>
                  <a:lnTo>
                    <a:pt x="2055205" y="64984"/>
                  </a:lnTo>
                  <a:lnTo>
                    <a:pt x="2069535" y="92737"/>
                  </a:lnTo>
                  <a:lnTo>
                    <a:pt x="2076435" y="135500"/>
                  </a:lnTo>
                  <a:lnTo>
                    <a:pt x="2076435" y="2598174"/>
                  </a:lnTo>
                  <a:lnTo>
                    <a:pt x="2069535" y="2640937"/>
                  </a:lnTo>
                  <a:lnTo>
                    <a:pt x="2055205" y="2668690"/>
                  </a:lnTo>
                  <a:close/>
                </a:path>
              </a:pathLst>
            </a:custGeom>
            <a:solidFill>
              <a:srgbClr val="0080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683414" y="1028711"/>
            <a:ext cx="10601325" cy="8885555"/>
            <a:chOff x="7683414" y="1028711"/>
            <a:chExt cx="10601325" cy="888555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56594" y="1028711"/>
              <a:ext cx="6410324" cy="54578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531768" y="1283636"/>
              <a:ext cx="1495425" cy="5362575"/>
            </a:xfrm>
            <a:custGeom>
              <a:avLst/>
              <a:gdLst/>
              <a:ahLst/>
              <a:cxnLst/>
              <a:rect l="l" t="t" r="r" b="b"/>
              <a:pathLst>
                <a:path w="1495425" h="5362575">
                  <a:moveTo>
                    <a:pt x="1349709" y="5362368"/>
                  </a:moveTo>
                  <a:lnTo>
                    <a:pt x="145715" y="5362368"/>
                  </a:lnTo>
                  <a:lnTo>
                    <a:pt x="99728" y="5354935"/>
                  </a:lnTo>
                  <a:lnTo>
                    <a:pt x="59737" y="5334251"/>
                  </a:lnTo>
                  <a:lnTo>
                    <a:pt x="28167" y="5302738"/>
                  </a:lnTo>
                  <a:lnTo>
                    <a:pt x="7446" y="5262818"/>
                  </a:lnTo>
                  <a:lnTo>
                    <a:pt x="0" y="5216915"/>
                  </a:lnTo>
                  <a:lnTo>
                    <a:pt x="0" y="145453"/>
                  </a:lnTo>
                  <a:lnTo>
                    <a:pt x="7446" y="99549"/>
                  </a:lnTo>
                  <a:lnTo>
                    <a:pt x="28167" y="59630"/>
                  </a:lnTo>
                  <a:lnTo>
                    <a:pt x="59737" y="28117"/>
                  </a:lnTo>
                  <a:lnTo>
                    <a:pt x="99728" y="7432"/>
                  </a:lnTo>
                  <a:lnTo>
                    <a:pt x="145715" y="0"/>
                  </a:lnTo>
                  <a:lnTo>
                    <a:pt x="1349709" y="0"/>
                  </a:lnTo>
                  <a:lnTo>
                    <a:pt x="1395695" y="7432"/>
                  </a:lnTo>
                  <a:lnTo>
                    <a:pt x="1435687" y="28117"/>
                  </a:lnTo>
                  <a:lnTo>
                    <a:pt x="1467257" y="59630"/>
                  </a:lnTo>
                  <a:lnTo>
                    <a:pt x="1472514" y="69758"/>
                  </a:lnTo>
                  <a:lnTo>
                    <a:pt x="145715" y="69758"/>
                  </a:lnTo>
                  <a:lnTo>
                    <a:pt x="116303" y="75741"/>
                  </a:lnTo>
                  <a:lnTo>
                    <a:pt x="92187" y="92021"/>
                  </a:lnTo>
                  <a:lnTo>
                    <a:pt x="75878" y="116093"/>
                  </a:lnTo>
                  <a:lnTo>
                    <a:pt x="69884" y="145453"/>
                  </a:lnTo>
                  <a:lnTo>
                    <a:pt x="69884" y="5216915"/>
                  </a:lnTo>
                  <a:lnTo>
                    <a:pt x="75878" y="5246274"/>
                  </a:lnTo>
                  <a:lnTo>
                    <a:pt x="92187" y="5270346"/>
                  </a:lnTo>
                  <a:lnTo>
                    <a:pt x="116303" y="5286627"/>
                  </a:lnTo>
                  <a:lnTo>
                    <a:pt x="145715" y="5292610"/>
                  </a:lnTo>
                  <a:lnTo>
                    <a:pt x="1472514" y="5292610"/>
                  </a:lnTo>
                  <a:lnTo>
                    <a:pt x="1467257" y="5302738"/>
                  </a:lnTo>
                  <a:lnTo>
                    <a:pt x="1435687" y="5334251"/>
                  </a:lnTo>
                  <a:lnTo>
                    <a:pt x="1395695" y="5354935"/>
                  </a:lnTo>
                  <a:lnTo>
                    <a:pt x="1349709" y="5362368"/>
                  </a:lnTo>
                  <a:close/>
                </a:path>
                <a:path w="1495425" h="5362575">
                  <a:moveTo>
                    <a:pt x="1472514" y="5292610"/>
                  </a:moveTo>
                  <a:lnTo>
                    <a:pt x="1349709" y="5292610"/>
                  </a:lnTo>
                  <a:lnTo>
                    <a:pt x="1379121" y="5286627"/>
                  </a:lnTo>
                  <a:lnTo>
                    <a:pt x="1403237" y="5270346"/>
                  </a:lnTo>
                  <a:lnTo>
                    <a:pt x="1419546" y="5246274"/>
                  </a:lnTo>
                  <a:lnTo>
                    <a:pt x="1425540" y="5216915"/>
                  </a:lnTo>
                  <a:lnTo>
                    <a:pt x="1425540" y="145453"/>
                  </a:lnTo>
                  <a:lnTo>
                    <a:pt x="1419546" y="116093"/>
                  </a:lnTo>
                  <a:lnTo>
                    <a:pt x="1403237" y="92021"/>
                  </a:lnTo>
                  <a:lnTo>
                    <a:pt x="1379121" y="75741"/>
                  </a:lnTo>
                  <a:lnTo>
                    <a:pt x="1349709" y="69758"/>
                  </a:lnTo>
                  <a:lnTo>
                    <a:pt x="1472514" y="69758"/>
                  </a:lnTo>
                  <a:lnTo>
                    <a:pt x="1487978" y="99549"/>
                  </a:lnTo>
                  <a:lnTo>
                    <a:pt x="1495424" y="145453"/>
                  </a:lnTo>
                  <a:lnTo>
                    <a:pt x="1495424" y="5216915"/>
                  </a:lnTo>
                  <a:lnTo>
                    <a:pt x="1487978" y="5262818"/>
                  </a:lnTo>
                  <a:lnTo>
                    <a:pt x="1472514" y="5292610"/>
                  </a:lnTo>
                  <a:close/>
                </a:path>
              </a:pathLst>
            </a:custGeom>
            <a:solidFill>
              <a:srgbClr val="0080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83414" y="6579929"/>
              <a:ext cx="10601325" cy="3333750"/>
            </a:xfrm>
            <a:custGeom>
              <a:avLst/>
              <a:gdLst/>
              <a:ahLst/>
              <a:cxnLst/>
              <a:rect l="l" t="t" r="r" b="b"/>
              <a:pathLst>
                <a:path w="10601325" h="3333750">
                  <a:moveTo>
                    <a:pt x="10252571" y="3333749"/>
                  </a:moveTo>
                  <a:lnTo>
                    <a:pt x="348429" y="3333749"/>
                  </a:lnTo>
                  <a:lnTo>
                    <a:pt x="301241" y="3330559"/>
                  </a:lnTo>
                  <a:lnTo>
                    <a:pt x="255955" y="3321266"/>
                  </a:lnTo>
                  <a:lnTo>
                    <a:pt x="212990" y="3306293"/>
                  </a:lnTo>
                  <a:lnTo>
                    <a:pt x="172766" y="3286057"/>
                  </a:lnTo>
                  <a:lnTo>
                    <a:pt x="135701" y="3260980"/>
                  </a:lnTo>
                  <a:lnTo>
                    <a:pt x="102217" y="3231482"/>
                  </a:lnTo>
                  <a:lnTo>
                    <a:pt x="72733" y="3197981"/>
                  </a:lnTo>
                  <a:lnTo>
                    <a:pt x="47668" y="3160899"/>
                  </a:lnTo>
                  <a:lnTo>
                    <a:pt x="27443" y="3120655"/>
                  </a:lnTo>
                  <a:lnTo>
                    <a:pt x="12476" y="3077669"/>
                  </a:lnTo>
                  <a:lnTo>
                    <a:pt x="3189" y="3032361"/>
                  </a:lnTo>
                  <a:lnTo>
                    <a:pt x="0" y="2985150"/>
                  </a:lnTo>
                  <a:lnTo>
                    <a:pt x="0" y="348599"/>
                  </a:lnTo>
                  <a:lnTo>
                    <a:pt x="3189" y="301388"/>
                  </a:lnTo>
                  <a:lnTo>
                    <a:pt x="12476" y="256080"/>
                  </a:lnTo>
                  <a:lnTo>
                    <a:pt x="27443" y="213094"/>
                  </a:lnTo>
                  <a:lnTo>
                    <a:pt x="47668" y="172850"/>
                  </a:lnTo>
                  <a:lnTo>
                    <a:pt x="72733" y="135768"/>
                  </a:lnTo>
                  <a:lnTo>
                    <a:pt x="102217" y="102267"/>
                  </a:lnTo>
                  <a:lnTo>
                    <a:pt x="135701" y="72768"/>
                  </a:lnTo>
                  <a:lnTo>
                    <a:pt x="172766" y="47691"/>
                  </a:lnTo>
                  <a:lnTo>
                    <a:pt x="212990" y="27456"/>
                  </a:lnTo>
                  <a:lnTo>
                    <a:pt x="255955" y="12482"/>
                  </a:lnTo>
                  <a:lnTo>
                    <a:pt x="301241" y="3190"/>
                  </a:lnTo>
                  <a:lnTo>
                    <a:pt x="348429" y="0"/>
                  </a:lnTo>
                  <a:lnTo>
                    <a:pt x="10252571" y="0"/>
                  </a:lnTo>
                  <a:lnTo>
                    <a:pt x="10299759" y="3190"/>
                  </a:lnTo>
                  <a:lnTo>
                    <a:pt x="10345045" y="12482"/>
                  </a:lnTo>
                  <a:lnTo>
                    <a:pt x="10388010" y="27456"/>
                  </a:lnTo>
                  <a:lnTo>
                    <a:pt x="10428235" y="47691"/>
                  </a:lnTo>
                  <a:lnTo>
                    <a:pt x="10465299" y="72768"/>
                  </a:lnTo>
                  <a:lnTo>
                    <a:pt x="10498783" y="102267"/>
                  </a:lnTo>
                  <a:lnTo>
                    <a:pt x="10528268" y="135768"/>
                  </a:lnTo>
                  <a:lnTo>
                    <a:pt x="10549503" y="167185"/>
                  </a:lnTo>
                  <a:lnTo>
                    <a:pt x="348429" y="167185"/>
                  </a:lnTo>
                  <a:lnTo>
                    <a:pt x="300431" y="173706"/>
                  </a:lnTo>
                  <a:lnTo>
                    <a:pt x="257173" y="192085"/>
                  </a:lnTo>
                  <a:lnTo>
                    <a:pt x="220434" y="220542"/>
                  </a:lnTo>
                  <a:lnTo>
                    <a:pt x="191991" y="257299"/>
                  </a:lnTo>
                  <a:lnTo>
                    <a:pt x="173622" y="300577"/>
                  </a:lnTo>
                  <a:lnTo>
                    <a:pt x="167103" y="348599"/>
                  </a:lnTo>
                  <a:lnTo>
                    <a:pt x="167103" y="2985150"/>
                  </a:lnTo>
                  <a:lnTo>
                    <a:pt x="173511" y="3032361"/>
                  </a:lnTo>
                  <a:lnTo>
                    <a:pt x="173622" y="3033172"/>
                  </a:lnTo>
                  <a:lnTo>
                    <a:pt x="191991" y="3076450"/>
                  </a:lnTo>
                  <a:lnTo>
                    <a:pt x="220434" y="3113207"/>
                  </a:lnTo>
                  <a:lnTo>
                    <a:pt x="257173" y="3141664"/>
                  </a:lnTo>
                  <a:lnTo>
                    <a:pt x="300431" y="3160043"/>
                  </a:lnTo>
                  <a:lnTo>
                    <a:pt x="348429" y="3166564"/>
                  </a:lnTo>
                  <a:lnTo>
                    <a:pt x="10549503" y="3166564"/>
                  </a:lnTo>
                  <a:lnTo>
                    <a:pt x="10528268" y="3197981"/>
                  </a:lnTo>
                  <a:lnTo>
                    <a:pt x="10498783" y="3231482"/>
                  </a:lnTo>
                  <a:lnTo>
                    <a:pt x="10465299" y="3260980"/>
                  </a:lnTo>
                  <a:lnTo>
                    <a:pt x="10428235" y="3286057"/>
                  </a:lnTo>
                  <a:lnTo>
                    <a:pt x="10388010" y="3306293"/>
                  </a:lnTo>
                  <a:lnTo>
                    <a:pt x="10345045" y="3321266"/>
                  </a:lnTo>
                  <a:lnTo>
                    <a:pt x="10299759" y="3330559"/>
                  </a:lnTo>
                  <a:lnTo>
                    <a:pt x="10252571" y="3333749"/>
                  </a:lnTo>
                  <a:close/>
                </a:path>
                <a:path w="10601325" h="3333750">
                  <a:moveTo>
                    <a:pt x="10549503" y="3166564"/>
                  </a:moveTo>
                  <a:lnTo>
                    <a:pt x="10252571" y="3166564"/>
                  </a:lnTo>
                  <a:lnTo>
                    <a:pt x="10300569" y="3160043"/>
                  </a:lnTo>
                  <a:lnTo>
                    <a:pt x="10343827" y="3141664"/>
                  </a:lnTo>
                  <a:lnTo>
                    <a:pt x="10380566" y="3113207"/>
                  </a:lnTo>
                  <a:lnTo>
                    <a:pt x="10409009" y="3076450"/>
                  </a:lnTo>
                  <a:lnTo>
                    <a:pt x="10427379" y="3033172"/>
                  </a:lnTo>
                  <a:lnTo>
                    <a:pt x="10433897" y="2985150"/>
                  </a:lnTo>
                  <a:lnTo>
                    <a:pt x="10433897" y="348599"/>
                  </a:lnTo>
                  <a:lnTo>
                    <a:pt x="10427489" y="301388"/>
                  </a:lnTo>
                  <a:lnTo>
                    <a:pt x="10409009" y="257299"/>
                  </a:lnTo>
                  <a:lnTo>
                    <a:pt x="10380566" y="220542"/>
                  </a:lnTo>
                  <a:lnTo>
                    <a:pt x="10343827" y="192085"/>
                  </a:lnTo>
                  <a:lnTo>
                    <a:pt x="10300569" y="173706"/>
                  </a:lnTo>
                  <a:lnTo>
                    <a:pt x="10252571" y="167185"/>
                  </a:lnTo>
                  <a:lnTo>
                    <a:pt x="10549503" y="167185"/>
                  </a:lnTo>
                  <a:lnTo>
                    <a:pt x="10573558" y="213094"/>
                  </a:lnTo>
                  <a:lnTo>
                    <a:pt x="10588524" y="256080"/>
                  </a:lnTo>
                  <a:lnTo>
                    <a:pt x="10597812" y="301388"/>
                  </a:lnTo>
                  <a:lnTo>
                    <a:pt x="10601001" y="348599"/>
                  </a:lnTo>
                  <a:lnTo>
                    <a:pt x="10601001" y="2985150"/>
                  </a:lnTo>
                  <a:lnTo>
                    <a:pt x="10597812" y="3032361"/>
                  </a:lnTo>
                  <a:lnTo>
                    <a:pt x="10588524" y="3077669"/>
                  </a:lnTo>
                  <a:lnTo>
                    <a:pt x="10573558" y="3120655"/>
                  </a:lnTo>
                  <a:lnTo>
                    <a:pt x="10553332" y="3160899"/>
                  </a:lnTo>
                  <a:lnTo>
                    <a:pt x="10549503" y="3166564"/>
                  </a:lnTo>
                  <a:close/>
                </a:path>
              </a:pathLst>
            </a:custGeom>
            <a:solidFill>
              <a:srgbClr val="FF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61317" y="6783228"/>
              <a:ext cx="9886949" cy="287654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54259" y="179109"/>
            <a:ext cx="1109662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Comparaison</a:t>
            </a:r>
            <a:r>
              <a:rPr spc="-375" dirty="0"/>
              <a:t> </a:t>
            </a:r>
            <a:r>
              <a:rPr spc="-315" dirty="0"/>
              <a:t>de</a:t>
            </a:r>
            <a:r>
              <a:rPr spc="-370" dirty="0"/>
              <a:t> </a:t>
            </a:r>
            <a:r>
              <a:rPr spc="-250" dirty="0"/>
              <a:t>la</a:t>
            </a:r>
            <a:r>
              <a:rPr spc="-375" dirty="0"/>
              <a:t> </a:t>
            </a:r>
            <a:r>
              <a:rPr spc="-220" dirty="0"/>
              <a:t>métrique</a:t>
            </a:r>
            <a:r>
              <a:rPr spc="-370" dirty="0"/>
              <a:t> </a:t>
            </a:r>
            <a:r>
              <a:rPr spc="-125" dirty="0"/>
              <a:t>et</a:t>
            </a:r>
            <a:r>
              <a:rPr spc="-370" dirty="0"/>
              <a:t> </a:t>
            </a:r>
            <a:r>
              <a:rPr spc="-385" dirty="0"/>
              <a:t>du</a:t>
            </a:r>
            <a:r>
              <a:rPr spc="-375" dirty="0"/>
              <a:t> </a:t>
            </a:r>
            <a:r>
              <a:rPr spc="-105" dirty="0"/>
              <a:t>temps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78113" y="7292051"/>
            <a:ext cx="5356860" cy="916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71700" marR="5080" indent="-2159635">
              <a:lnSpc>
                <a:spcPct val="117000"/>
              </a:lnSpc>
              <a:spcBef>
                <a:spcPts val="90"/>
              </a:spcBef>
            </a:pPr>
            <a:r>
              <a:rPr sz="2500" dirty="0">
                <a:latin typeface="Verdana"/>
                <a:cs typeface="Verdana"/>
              </a:rPr>
              <a:t>Le</a:t>
            </a:r>
            <a:r>
              <a:rPr sz="2500" spc="-100" dirty="0">
                <a:latin typeface="Verdana"/>
                <a:cs typeface="Verdana"/>
              </a:rPr>
              <a:t> </a:t>
            </a:r>
            <a:r>
              <a:rPr sz="2500" spc="-40" dirty="0">
                <a:latin typeface="Verdana"/>
                <a:cs typeface="Verdana"/>
              </a:rPr>
              <a:t>meilleur</a:t>
            </a:r>
            <a:r>
              <a:rPr sz="2500" spc="-100" dirty="0">
                <a:latin typeface="Verdana"/>
                <a:cs typeface="Verdana"/>
              </a:rPr>
              <a:t> </a:t>
            </a:r>
            <a:r>
              <a:rPr sz="2500" dirty="0">
                <a:latin typeface="Verdana"/>
                <a:cs typeface="Verdana"/>
              </a:rPr>
              <a:t>modèle</a:t>
            </a:r>
            <a:r>
              <a:rPr sz="2500" spc="-100" dirty="0">
                <a:latin typeface="Verdana"/>
                <a:cs typeface="Verdana"/>
              </a:rPr>
              <a:t> </a:t>
            </a:r>
            <a:r>
              <a:rPr sz="2500" dirty="0">
                <a:latin typeface="Verdana"/>
                <a:cs typeface="Verdana"/>
              </a:rPr>
              <a:t>est</a:t>
            </a:r>
            <a:r>
              <a:rPr sz="2500" spc="-100" dirty="0">
                <a:latin typeface="Verdana"/>
                <a:cs typeface="Verdana"/>
              </a:rPr>
              <a:t> </a:t>
            </a:r>
            <a:r>
              <a:rPr sz="2500" spc="55" dirty="0">
                <a:latin typeface="Verdana"/>
                <a:cs typeface="Verdana"/>
              </a:rPr>
              <a:t>le</a:t>
            </a:r>
            <a:r>
              <a:rPr sz="2500" spc="-100" dirty="0">
                <a:latin typeface="Verdana"/>
                <a:cs typeface="Verdana"/>
              </a:rPr>
              <a:t> </a:t>
            </a:r>
            <a:r>
              <a:rPr sz="2500" spc="-40" dirty="0">
                <a:latin typeface="Verdana"/>
                <a:cs typeface="Verdana"/>
              </a:rPr>
              <a:t>Random </a:t>
            </a:r>
            <a:r>
              <a:rPr sz="2500" spc="-10" dirty="0">
                <a:latin typeface="Verdana"/>
                <a:cs typeface="Verdana"/>
              </a:rPr>
              <a:t>Forest</a:t>
            </a:r>
            <a:endParaRPr sz="2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8702040" cy="10287000"/>
          </a:xfrm>
          <a:custGeom>
            <a:avLst/>
            <a:gdLst/>
            <a:ahLst/>
            <a:cxnLst/>
            <a:rect l="l" t="t" r="r" b="b"/>
            <a:pathLst>
              <a:path w="8702040" h="10287000">
                <a:moveTo>
                  <a:pt x="23629" y="10285860"/>
                </a:moveTo>
                <a:lnTo>
                  <a:pt x="18713" y="10285454"/>
                </a:lnTo>
                <a:lnTo>
                  <a:pt x="7258" y="10279731"/>
                </a:lnTo>
                <a:lnTo>
                  <a:pt x="1549" y="10268237"/>
                </a:lnTo>
                <a:lnTo>
                  <a:pt x="0" y="10249373"/>
                </a:lnTo>
                <a:lnTo>
                  <a:pt x="0" y="0"/>
                </a:lnTo>
                <a:lnTo>
                  <a:pt x="8701683" y="0"/>
                </a:lnTo>
                <a:lnTo>
                  <a:pt x="6599440" y="9381666"/>
                </a:lnTo>
                <a:lnTo>
                  <a:pt x="6554227" y="9582683"/>
                </a:lnTo>
                <a:lnTo>
                  <a:pt x="6395733" y="10285454"/>
                </a:lnTo>
                <a:lnTo>
                  <a:pt x="23629" y="10285860"/>
                </a:lnTo>
                <a:close/>
              </a:path>
              <a:path w="8702040" h="10287000">
                <a:moveTo>
                  <a:pt x="37502" y="10287006"/>
                </a:moveTo>
                <a:lnTo>
                  <a:pt x="0" y="10287006"/>
                </a:lnTo>
                <a:lnTo>
                  <a:pt x="0" y="10285860"/>
                </a:lnTo>
                <a:lnTo>
                  <a:pt x="23629" y="10285860"/>
                </a:lnTo>
                <a:lnTo>
                  <a:pt x="37502" y="10287006"/>
                </a:lnTo>
                <a:close/>
              </a:path>
            </a:pathLst>
          </a:custGeom>
          <a:solidFill>
            <a:srgbClr val="153B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16000" y="4091324"/>
            <a:ext cx="4969510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0" spc="-200" dirty="0">
                <a:solidFill>
                  <a:srgbClr val="FFFFFF"/>
                </a:solidFill>
                <a:latin typeface="Verdana"/>
                <a:cs typeface="Verdana"/>
              </a:rPr>
              <a:t>Evaluation</a:t>
            </a:r>
            <a:r>
              <a:rPr sz="60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6000" spc="80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6000" spc="-200" dirty="0">
                <a:solidFill>
                  <a:srgbClr val="FFFFFF"/>
                </a:solidFill>
                <a:latin typeface="Verdana"/>
                <a:cs typeface="Verdana"/>
              </a:rPr>
              <a:t>l'Energy</a:t>
            </a:r>
            <a:r>
              <a:rPr sz="6000" spc="-3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6000" spc="-20" dirty="0">
                <a:solidFill>
                  <a:srgbClr val="FFFFFF"/>
                </a:solidFill>
                <a:latin typeface="Verdana"/>
                <a:cs typeface="Verdana"/>
              </a:rPr>
              <a:t>Star </a:t>
            </a:r>
            <a:r>
              <a:rPr sz="6000" spc="110" dirty="0">
                <a:solidFill>
                  <a:srgbClr val="FFFFFF"/>
                </a:solidFill>
                <a:latin typeface="Verdana"/>
                <a:cs typeface="Verdana"/>
              </a:rPr>
              <a:t>score</a:t>
            </a:r>
            <a:endParaRPr sz="6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8699" y="2479191"/>
            <a:ext cx="1398270" cy="944880"/>
          </a:xfrm>
          <a:custGeom>
            <a:avLst/>
            <a:gdLst/>
            <a:ahLst/>
            <a:cxnLst/>
            <a:rect l="l" t="t" r="r" b="b"/>
            <a:pathLst>
              <a:path w="1398270" h="944879">
                <a:moveTo>
                  <a:pt x="797398" y="944428"/>
                </a:moveTo>
                <a:lnTo>
                  <a:pt x="0" y="944428"/>
                </a:lnTo>
                <a:lnTo>
                  <a:pt x="0" y="0"/>
                </a:lnTo>
                <a:lnTo>
                  <a:pt x="1397811" y="0"/>
                </a:lnTo>
                <a:lnTo>
                  <a:pt x="871214" y="894125"/>
                </a:lnTo>
                <a:lnTo>
                  <a:pt x="845639" y="924029"/>
                </a:lnTo>
                <a:lnTo>
                  <a:pt x="810256" y="941798"/>
                </a:lnTo>
                <a:lnTo>
                  <a:pt x="797398" y="944428"/>
                </a:lnTo>
                <a:close/>
              </a:path>
            </a:pathLst>
          </a:custGeom>
          <a:solidFill>
            <a:srgbClr val="01A5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1296" y="2666099"/>
            <a:ext cx="46228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-335" dirty="0">
                <a:solidFill>
                  <a:srgbClr val="FFFFFF"/>
                </a:solidFill>
                <a:latin typeface="Tahoma"/>
                <a:cs typeface="Tahoma"/>
              </a:rPr>
              <a:t>IV</a:t>
            </a:r>
            <a:endParaRPr sz="35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3880" y="6485298"/>
            <a:ext cx="3714749" cy="38004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6068" y="3431345"/>
            <a:ext cx="152399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6068" y="4479095"/>
            <a:ext cx="152399" cy="1523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0103504" y="3177377"/>
            <a:ext cx="6101715" cy="1637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b="0" spc="365" dirty="0">
                <a:latin typeface="Cambria"/>
                <a:cs typeface="Cambria"/>
              </a:rPr>
              <a:t>Entrainement</a:t>
            </a:r>
            <a:r>
              <a:rPr sz="3700" b="0" spc="254" dirty="0">
                <a:latin typeface="Cambria"/>
                <a:cs typeface="Cambria"/>
              </a:rPr>
              <a:t> </a:t>
            </a:r>
            <a:r>
              <a:rPr sz="3700" b="0" spc="425" dirty="0">
                <a:latin typeface="Cambria"/>
                <a:cs typeface="Cambria"/>
              </a:rPr>
              <a:t>du</a:t>
            </a:r>
            <a:r>
              <a:rPr sz="3700" b="0" spc="260" dirty="0">
                <a:latin typeface="Cambria"/>
                <a:cs typeface="Cambria"/>
              </a:rPr>
              <a:t> </a:t>
            </a:r>
            <a:r>
              <a:rPr sz="3700" b="0" spc="415" dirty="0">
                <a:latin typeface="Cambria"/>
                <a:cs typeface="Cambria"/>
              </a:rPr>
              <a:t>modèle</a:t>
            </a:r>
            <a:endParaRPr sz="3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809"/>
              </a:spcBef>
            </a:pPr>
            <a:r>
              <a:rPr sz="3700" b="0" spc="295" dirty="0">
                <a:latin typeface="Cambria"/>
                <a:cs typeface="Cambria"/>
              </a:rPr>
              <a:t>Feature</a:t>
            </a:r>
            <a:r>
              <a:rPr sz="3700" b="0" spc="265" dirty="0">
                <a:latin typeface="Cambria"/>
                <a:cs typeface="Cambria"/>
              </a:rPr>
              <a:t> </a:t>
            </a:r>
            <a:r>
              <a:rPr sz="3700" b="0" spc="355" dirty="0">
                <a:latin typeface="Cambria"/>
                <a:cs typeface="Cambria"/>
              </a:rPr>
              <a:t>importance</a:t>
            </a:r>
            <a:endParaRPr sz="3700">
              <a:latin typeface="Cambria"/>
              <a:cs typeface="Cambr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68066" y="25122"/>
            <a:ext cx="1619249" cy="6286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9539418"/>
            <a:ext cx="742949" cy="7429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39420"/>
            <a:ext cx="742949" cy="7429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68066" y="25118"/>
            <a:ext cx="1619249" cy="6286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80371" y="8029199"/>
            <a:ext cx="2207628" cy="22574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7579" y="2703118"/>
            <a:ext cx="16068674" cy="35718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57801" y="6301957"/>
            <a:ext cx="5153025" cy="20808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indent="-635" algn="ctr">
              <a:lnSpc>
                <a:spcPct val="117300"/>
              </a:lnSpc>
              <a:spcBef>
                <a:spcPts val="90"/>
              </a:spcBef>
            </a:pPr>
            <a:r>
              <a:rPr sz="2300" spc="-50" dirty="0">
                <a:latin typeface="Lucida Sans Unicode"/>
                <a:cs typeface="Lucida Sans Unicode"/>
              </a:rPr>
              <a:t>Les</a:t>
            </a:r>
            <a:r>
              <a:rPr sz="2300" spc="-135" dirty="0">
                <a:latin typeface="Lucida Sans Unicode"/>
                <a:cs typeface="Lucida Sans Unicode"/>
              </a:rPr>
              <a:t> </a:t>
            </a:r>
            <a:r>
              <a:rPr sz="2300" spc="-60" dirty="0">
                <a:latin typeface="Lucida Sans Unicode"/>
                <a:cs typeface="Lucida Sans Unicode"/>
              </a:rPr>
              <a:t>scores</a:t>
            </a:r>
            <a:r>
              <a:rPr sz="2300" spc="-125" dirty="0">
                <a:latin typeface="Lucida Sans Unicode"/>
                <a:cs typeface="Lucida Sans Unicode"/>
              </a:rPr>
              <a:t> </a:t>
            </a:r>
            <a:r>
              <a:rPr sz="2300" spc="-65" dirty="0">
                <a:latin typeface="Lucida Sans Unicode"/>
                <a:cs typeface="Lucida Sans Unicode"/>
              </a:rPr>
              <a:t>ont</a:t>
            </a:r>
            <a:r>
              <a:rPr sz="2300" spc="-125" dirty="0">
                <a:latin typeface="Lucida Sans Unicode"/>
                <a:cs typeface="Lucida Sans Unicode"/>
              </a:rPr>
              <a:t> </a:t>
            </a:r>
            <a:r>
              <a:rPr sz="2300" spc="-25" dirty="0">
                <a:latin typeface="Lucida Sans Unicode"/>
                <a:cs typeface="Lucida Sans Unicode"/>
              </a:rPr>
              <a:t>été</a:t>
            </a:r>
            <a:r>
              <a:rPr sz="2300" spc="-13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légèrement </a:t>
            </a:r>
            <a:r>
              <a:rPr sz="2300" spc="-75" dirty="0">
                <a:latin typeface="Lucida Sans Unicode"/>
                <a:cs typeface="Lucida Sans Unicode"/>
              </a:rPr>
              <a:t>améliorés</a:t>
            </a:r>
            <a:r>
              <a:rPr sz="2300" spc="-120" dirty="0">
                <a:latin typeface="Lucida Sans Unicode"/>
                <a:cs typeface="Lucida Sans Unicode"/>
              </a:rPr>
              <a:t> </a:t>
            </a:r>
            <a:r>
              <a:rPr sz="2300" spc="-65" dirty="0">
                <a:latin typeface="Lucida Sans Unicode"/>
                <a:cs typeface="Lucida Sans Unicode"/>
              </a:rPr>
              <a:t>avec</a:t>
            </a:r>
            <a:r>
              <a:rPr sz="2300" spc="-114" dirty="0">
                <a:latin typeface="Lucida Sans Unicode"/>
                <a:cs typeface="Lucida Sans Unicode"/>
              </a:rPr>
              <a:t> </a:t>
            </a:r>
            <a:r>
              <a:rPr sz="2300" spc="-90" dirty="0">
                <a:latin typeface="Lucida Sans Unicode"/>
                <a:cs typeface="Lucida Sans Unicode"/>
              </a:rPr>
              <a:t>l'ajout</a:t>
            </a:r>
            <a:r>
              <a:rPr sz="2300" spc="-114" dirty="0">
                <a:latin typeface="Lucida Sans Unicode"/>
                <a:cs typeface="Lucida Sans Unicode"/>
              </a:rPr>
              <a:t> </a:t>
            </a:r>
            <a:r>
              <a:rPr sz="2300" spc="-30" dirty="0">
                <a:latin typeface="Lucida Sans Unicode"/>
                <a:cs typeface="Lucida Sans Unicode"/>
              </a:rPr>
              <a:t>de</a:t>
            </a:r>
            <a:r>
              <a:rPr sz="2300" spc="-114" dirty="0">
                <a:latin typeface="Lucida Sans Unicode"/>
                <a:cs typeface="Lucida Sans Unicode"/>
              </a:rPr>
              <a:t> </a:t>
            </a:r>
            <a:r>
              <a:rPr sz="2300" spc="-90" dirty="0">
                <a:latin typeface="Lucida Sans Unicode"/>
                <a:cs typeface="Lucida Sans Unicode"/>
              </a:rPr>
              <a:t>l'energy</a:t>
            </a:r>
            <a:r>
              <a:rPr sz="2300" spc="-114" dirty="0">
                <a:latin typeface="Lucida Sans Unicode"/>
                <a:cs typeface="Lucida Sans Unicode"/>
              </a:rPr>
              <a:t> </a:t>
            </a:r>
            <a:r>
              <a:rPr sz="2300" spc="-20" dirty="0">
                <a:latin typeface="Lucida Sans Unicode"/>
                <a:cs typeface="Lucida Sans Unicode"/>
              </a:rPr>
              <a:t>star </a:t>
            </a:r>
            <a:r>
              <a:rPr sz="2300" spc="-75" dirty="0">
                <a:latin typeface="Lucida Sans Unicode"/>
                <a:cs typeface="Lucida Sans Unicode"/>
              </a:rPr>
              <a:t>dans</a:t>
            </a:r>
            <a:r>
              <a:rPr sz="2300" spc="-114" dirty="0">
                <a:latin typeface="Lucida Sans Unicode"/>
                <a:cs typeface="Lucida Sans Unicode"/>
              </a:rPr>
              <a:t> </a:t>
            </a:r>
            <a:r>
              <a:rPr sz="2300" spc="-80" dirty="0">
                <a:latin typeface="Lucida Sans Unicode"/>
                <a:cs typeface="Lucida Sans Unicode"/>
              </a:rPr>
              <a:t>le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-80" dirty="0">
                <a:latin typeface="Lucida Sans Unicode"/>
                <a:cs typeface="Lucida Sans Unicode"/>
              </a:rPr>
              <a:t>cas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-70" dirty="0">
                <a:latin typeface="Lucida Sans Unicode"/>
                <a:cs typeface="Lucida Sans Unicode"/>
              </a:rPr>
              <a:t>des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-90" dirty="0">
                <a:latin typeface="Lucida Sans Unicode"/>
                <a:cs typeface="Lucida Sans Unicode"/>
              </a:rPr>
              <a:t>émissions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-30" dirty="0">
                <a:latin typeface="Lucida Sans Unicode"/>
                <a:cs typeface="Lucida Sans Unicode"/>
              </a:rPr>
              <a:t>de</a:t>
            </a:r>
            <a:r>
              <a:rPr sz="2300" spc="-110" dirty="0">
                <a:latin typeface="Lucida Sans Unicode"/>
                <a:cs typeface="Lucida Sans Unicode"/>
              </a:rPr>
              <a:t> C</a:t>
            </a:r>
            <a:r>
              <a:rPr lang="fr-FR" sz="2300" spc="-110" dirty="0">
                <a:latin typeface="Lucida Sans Unicode"/>
                <a:cs typeface="Lucida Sans Unicode"/>
              </a:rPr>
              <a:t>O</a:t>
            </a:r>
            <a:r>
              <a:rPr sz="2300" spc="-110" dirty="0">
                <a:latin typeface="Lucida Sans Unicode"/>
                <a:cs typeface="Lucida Sans Unicode"/>
              </a:rPr>
              <a:t>2 </a:t>
            </a:r>
            <a:r>
              <a:rPr sz="2300" spc="-65" dirty="0">
                <a:latin typeface="Lucida Sans Unicode"/>
                <a:cs typeface="Lucida Sans Unicode"/>
              </a:rPr>
              <a:t>mais </a:t>
            </a:r>
            <a:r>
              <a:rPr sz="2300" spc="-60" dirty="0">
                <a:latin typeface="Lucida Sans Unicode"/>
                <a:cs typeface="Lucida Sans Unicode"/>
              </a:rPr>
              <a:t>un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-65" dirty="0">
                <a:latin typeface="Lucida Sans Unicode"/>
                <a:cs typeface="Lucida Sans Unicode"/>
              </a:rPr>
              <a:t>peu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100" dirty="0">
                <a:latin typeface="Lucida Sans Unicode"/>
                <a:cs typeface="Lucida Sans Unicode"/>
              </a:rPr>
              <a:t>plus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75" dirty="0">
                <a:latin typeface="Lucida Sans Unicode"/>
                <a:cs typeface="Lucida Sans Unicode"/>
              </a:rPr>
              <a:t>améliorés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-55" dirty="0">
                <a:latin typeface="Lucida Sans Unicode"/>
                <a:cs typeface="Lucida Sans Unicode"/>
              </a:rPr>
              <a:t>pour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25" dirty="0">
                <a:latin typeface="Lucida Sans Unicode"/>
                <a:cs typeface="Lucida Sans Unicode"/>
              </a:rPr>
              <a:t>la </a:t>
            </a:r>
            <a:r>
              <a:rPr sz="2300" spc="-80" dirty="0">
                <a:latin typeface="Lucida Sans Unicode"/>
                <a:cs typeface="Lucida Sans Unicode"/>
              </a:rPr>
              <a:t>prédiction</a:t>
            </a:r>
            <a:r>
              <a:rPr sz="2300" spc="-120" dirty="0">
                <a:latin typeface="Lucida Sans Unicode"/>
                <a:cs typeface="Lucida Sans Unicode"/>
              </a:rPr>
              <a:t> </a:t>
            </a:r>
            <a:r>
              <a:rPr sz="2300" spc="-30" dirty="0">
                <a:latin typeface="Lucida Sans Unicode"/>
                <a:cs typeface="Lucida Sans Unicode"/>
              </a:rPr>
              <a:t>de</a:t>
            </a:r>
            <a:r>
              <a:rPr sz="2300" spc="-120" dirty="0">
                <a:latin typeface="Lucida Sans Unicode"/>
                <a:cs typeface="Lucida Sans Unicode"/>
              </a:rPr>
              <a:t> </a:t>
            </a:r>
            <a:r>
              <a:rPr sz="2300" spc="-105" dirty="0">
                <a:latin typeface="Lucida Sans Unicode"/>
                <a:cs typeface="Lucida Sans Unicode"/>
              </a:rPr>
              <a:t>la</a:t>
            </a:r>
            <a:r>
              <a:rPr sz="2300" spc="-114" dirty="0">
                <a:latin typeface="Lucida Sans Unicode"/>
                <a:cs typeface="Lucida Sans Unicode"/>
              </a:rPr>
              <a:t> </a:t>
            </a:r>
            <a:r>
              <a:rPr sz="2300" spc="-85" dirty="0">
                <a:latin typeface="Lucida Sans Unicode"/>
                <a:cs typeface="Lucida Sans Unicode"/>
              </a:rPr>
              <a:t>consommation</a:t>
            </a:r>
            <a:r>
              <a:rPr sz="2300" spc="-12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totale.</a:t>
            </a:r>
            <a:endParaRPr sz="2300" dirty="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60841" y="179101"/>
            <a:ext cx="934593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Entraînement</a:t>
            </a:r>
            <a:r>
              <a:rPr spc="-360" dirty="0"/>
              <a:t> </a:t>
            </a:r>
            <a:r>
              <a:rPr spc="-385" dirty="0"/>
              <a:t>du</a:t>
            </a:r>
            <a:r>
              <a:rPr spc="-360" dirty="0"/>
              <a:t> </a:t>
            </a:r>
            <a:r>
              <a:rPr spc="-254" dirty="0"/>
              <a:t>meilleur</a:t>
            </a:r>
            <a:r>
              <a:rPr spc="-360" dirty="0"/>
              <a:t> </a:t>
            </a:r>
            <a:r>
              <a:rPr spc="-305" dirty="0"/>
              <a:t>modèle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0841" y="1401997"/>
            <a:ext cx="14509750" cy="82550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2300" spc="-80" dirty="0">
                <a:latin typeface="Lucida Sans Unicode"/>
                <a:cs typeface="Lucida Sans Unicode"/>
              </a:rPr>
              <a:t>Entrainement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125" dirty="0">
                <a:latin typeface="Lucida Sans Unicode"/>
                <a:cs typeface="Lucida Sans Unicode"/>
              </a:rPr>
              <a:t>fais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90" dirty="0">
                <a:latin typeface="Lucida Sans Unicode"/>
                <a:cs typeface="Lucida Sans Unicode"/>
              </a:rPr>
              <a:t>sur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95" dirty="0">
                <a:latin typeface="Lucida Sans Unicode"/>
                <a:cs typeface="Lucida Sans Unicode"/>
              </a:rPr>
              <a:t>le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95" dirty="0">
                <a:latin typeface="Lucida Sans Unicode"/>
                <a:cs typeface="Lucida Sans Unicode"/>
              </a:rPr>
              <a:t>même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80" dirty="0">
                <a:latin typeface="Lucida Sans Unicode"/>
                <a:cs typeface="Lucida Sans Unicode"/>
              </a:rPr>
              <a:t>nombre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55" dirty="0">
                <a:latin typeface="Lucida Sans Unicode"/>
                <a:cs typeface="Lucida Sans Unicode"/>
              </a:rPr>
              <a:t>de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données.</a:t>
            </a:r>
            <a:endParaRPr sz="2300">
              <a:latin typeface="Lucida Sans Unicode"/>
              <a:cs typeface="Lucida Sans Unicode"/>
            </a:endParaRPr>
          </a:p>
          <a:p>
            <a:pPr marL="88265">
              <a:lnSpc>
                <a:spcPct val="100000"/>
              </a:lnSpc>
              <a:spcBef>
                <a:spcPts val="390"/>
              </a:spcBef>
            </a:pPr>
            <a:r>
              <a:rPr sz="2300" spc="-85" dirty="0">
                <a:latin typeface="Lucida Sans Unicode"/>
                <a:cs typeface="Lucida Sans Unicode"/>
              </a:rPr>
              <a:t>Dataset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-114" dirty="0">
                <a:latin typeface="Lucida Sans Unicode"/>
                <a:cs typeface="Lucida Sans Unicode"/>
              </a:rPr>
              <a:t>plus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-100" dirty="0">
                <a:latin typeface="Lucida Sans Unicode"/>
                <a:cs typeface="Lucida Sans Unicode"/>
              </a:rPr>
              <a:t>petit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75" dirty="0">
                <a:latin typeface="Lucida Sans Unicode"/>
                <a:cs typeface="Lucida Sans Unicode"/>
              </a:rPr>
              <a:t>que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-100" dirty="0">
                <a:latin typeface="Lucida Sans Unicode"/>
                <a:cs typeface="Lucida Sans Unicode"/>
              </a:rPr>
              <a:t>celui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-75" dirty="0">
                <a:latin typeface="Lucida Sans Unicode"/>
                <a:cs typeface="Lucida Sans Unicode"/>
              </a:rPr>
              <a:t>pour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114" dirty="0">
                <a:latin typeface="Lucida Sans Unicode"/>
                <a:cs typeface="Lucida Sans Unicode"/>
              </a:rPr>
              <a:t>la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-65" dirty="0">
                <a:latin typeface="Lucida Sans Unicode"/>
                <a:cs typeface="Lucida Sans Unicode"/>
              </a:rPr>
              <a:t>recherche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-95" dirty="0">
                <a:latin typeface="Lucida Sans Unicode"/>
                <a:cs typeface="Lucida Sans Unicode"/>
              </a:rPr>
              <a:t>du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95" dirty="0">
                <a:latin typeface="Lucida Sans Unicode"/>
                <a:cs typeface="Lucida Sans Unicode"/>
              </a:rPr>
              <a:t>meilleur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-90" dirty="0">
                <a:latin typeface="Lucida Sans Unicode"/>
                <a:cs typeface="Lucida Sans Unicode"/>
              </a:rPr>
              <a:t>modèle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-55" dirty="0">
                <a:latin typeface="Lucida Sans Unicode"/>
                <a:cs typeface="Lucida Sans Unicode"/>
              </a:rPr>
              <a:t>en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90" dirty="0">
                <a:latin typeface="Lucida Sans Unicode"/>
                <a:cs typeface="Lucida Sans Unicode"/>
              </a:rPr>
              <a:t>raison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-85" dirty="0">
                <a:latin typeface="Lucida Sans Unicode"/>
                <a:cs typeface="Lucida Sans Unicode"/>
              </a:rPr>
              <a:t>des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-100" dirty="0">
                <a:latin typeface="Lucida Sans Unicode"/>
                <a:cs typeface="Lucida Sans Unicode"/>
              </a:rPr>
              <a:t>valeurs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100" dirty="0">
                <a:latin typeface="Lucida Sans Unicode"/>
                <a:cs typeface="Lucida Sans Unicode"/>
              </a:rPr>
              <a:t>nulles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-55" dirty="0">
                <a:latin typeface="Lucida Sans Unicode"/>
                <a:cs typeface="Lucida Sans Unicode"/>
              </a:rPr>
              <a:t>de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-100" dirty="0">
                <a:latin typeface="Lucida Sans Unicode"/>
                <a:cs typeface="Lucida Sans Unicode"/>
              </a:rPr>
              <a:t>l'Energy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20" dirty="0">
                <a:latin typeface="Lucida Sans Unicode"/>
                <a:cs typeface="Lucida Sans Unicode"/>
              </a:rPr>
              <a:t>Star</a:t>
            </a:r>
            <a:endParaRPr sz="2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39420"/>
            <a:ext cx="742949" cy="7429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57033" y="9539420"/>
            <a:ext cx="730966" cy="7429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68066" y="25119"/>
            <a:ext cx="1619249" cy="6286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01" y="7629616"/>
            <a:ext cx="13249275" cy="1914525"/>
            <a:chOff x="101" y="7629616"/>
            <a:chExt cx="13249275" cy="1914525"/>
          </a:xfrm>
        </p:grpSpPr>
        <p:sp>
          <p:nvSpPr>
            <p:cNvPr id="6" name="object 6"/>
            <p:cNvSpPr/>
            <p:nvPr/>
          </p:nvSpPr>
          <p:spPr>
            <a:xfrm>
              <a:off x="119758" y="7689572"/>
              <a:ext cx="13009880" cy="1734820"/>
            </a:xfrm>
            <a:custGeom>
              <a:avLst/>
              <a:gdLst/>
              <a:ahLst/>
              <a:cxnLst/>
              <a:rect l="l" t="t" r="r" b="b"/>
              <a:pathLst>
                <a:path w="13009880" h="1734820">
                  <a:moveTo>
                    <a:pt x="0" y="1734655"/>
                  </a:moveTo>
                  <a:lnTo>
                    <a:pt x="13009755" y="1734655"/>
                  </a:lnTo>
                  <a:lnTo>
                    <a:pt x="13009755" y="0"/>
                  </a:lnTo>
                  <a:lnTo>
                    <a:pt x="0" y="0"/>
                  </a:lnTo>
                  <a:lnTo>
                    <a:pt x="0" y="1734655"/>
                  </a:lnTo>
                  <a:close/>
                </a:path>
              </a:pathLst>
            </a:custGeom>
            <a:solidFill>
              <a:srgbClr val="164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8" y="7629626"/>
              <a:ext cx="13249275" cy="1914525"/>
            </a:xfrm>
            <a:custGeom>
              <a:avLst/>
              <a:gdLst/>
              <a:ahLst/>
              <a:cxnLst/>
              <a:rect l="l" t="t" r="r" b="b"/>
              <a:pathLst>
                <a:path w="13249275" h="1914525">
                  <a:moveTo>
                    <a:pt x="13249072" y="0"/>
                  </a:moveTo>
                  <a:lnTo>
                    <a:pt x="13129425" y="0"/>
                  </a:lnTo>
                  <a:lnTo>
                    <a:pt x="13129425" y="119913"/>
                  </a:lnTo>
                  <a:lnTo>
                    <a:pt x="13129425" y="1794611"/>
                  </a:lnTo>
                  <a:lnTo>
                    <a:pt x="119659" y="1794611"/>
                  </a:lnTo>
                  <a:lnTo>
                    <a:pt x="119659" y="119913"/>
                  </a:lnTo>
                  <a:lnTo>
                    <a:pt x="13129425" y="119913"/>
                  </a:lnTo>
                  <a:lnTo>
                    <a:pt x="13129425" y="0"/>
                  </a:lnTo>
                  <a:lnTo>
                    <a:pt x="119659" y="0"/>
                  </a:lnTo>
                  <a:lnTo>
                    <a:pt x="0" y="0"/>
                  </a:lnTo>
                  <a:lnTo>
                    <a:pt x="0" y="1914525"/>
                  </a:lnTo>
                  <a:lnTo>
                    <a:pt x="119659" y="1914525"/>
                  </a:lnTo>
                  <a:lnTo>
                    <a:pt x="13129425" y="1914525"/>
                  </a:lnTo>
                  <a:lnTo>
                    <a:pt x="13249072" y="1914525"/>
                  </a:lnTo>
                  <a:lnTo>
                    <a:pt x="13249072" y="0"/>
                  </a:lnTo>
                  <a:close/>
                </a:path>
              </a:pathLst>
            </a:custGeom>
            <a:solidFill>
              <a:srgbClr val="153B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6452070" y="2140691"/>
            <a:ext cx="1104900" cy="191135"/>
            <a:chOff x="16452070" y="2140691"/>
            <a:chExt cx="1104900" cy="191135"/>
          </a:xfrm>
        </p:grpSpPr>
        <p:sp>
          <p:nvSpPr>
            <p:cNvPr id="9" name="object 9"/>
            <p:cNvSpPr/>
            <p:nvPr/>
          </p:nvSpPr>
          <p:spPr>
            <a:xfrm>
              <a:off x="16475909" y="2235967"/>
              <a:ext cx="902335" cy="0"/>
            </a:xfrm>
            <a:custGeom>
              <a:avLst/>
              <a:gdLst/>
              <a:ahLst/>
              <a:cxnLst/>
              <a:rect l="l" t="t" r="r" b="b"/>
              <a:pathLst>
                <a:path w="902334">
                  <a:moveTo>
                    <a:pt x="902202" y="0"/>
                  </a:moveTo>
                  <a:lnTo>
                    <a:pt x="0" y="0"/>
                  </a:lnTo>
                </a:path>
              </a:pathLst>
            </a:custGeom>
            <a:ln w="47624">
              <a:solidFill>
                <a:srgbClr val="0080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390038" y="2164530"/>
              <a:ext cx="143510" cy="142875"/>
            </a:xfrm>
            <a:custGeom>
              <a:avLst/>
              <a:gdLst/>
              <a:ahLst/>
              <a:cxnLst/>
              <a:rect l="l" t="t" r="r" b="b"/>
              <a:pathLst>
                <a:path w="143509" h="142875">
                  <a:moveTo>
                    <a:pt x="143106" y="142874"/>
                  </a:moveTo>
                  <a:lnTo>
                    <a:pt x="0" y="142874"/>
                  </a:lnTo>
                  <a:lnTo>
                    <a:pt x="0" y="0"/>
                  </a:lnTo>
                  <a:lnTo>
                    <a:pt x="143106" y="0"/>
                  </a:lnTo>
                  <a:lnTo>
                    <a:pt x="143106" y="142874"/>
                  </a:lnTo>
                  <a:close/>
                </a:path>
              </a:pathLst>
            </a:custGeom>
            <a:ln w="47663">
              <a:solidFill>
                <a:srgbClr val="0080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75909" y="2164530"/>
              <a:ext cx="95885" cy="142875"/>
            </a:xfrm>
            <a:custGeom>
              <a:avLst/>
              <a:gdLst/>
              <a:ahLst/>
              <a:cxnLst/>
              <a:rect l="l" t="t" r="r" b="b"/>
              <a:pathLst>
                <a:path w="95884" h="142875">
                  <a:moveTo>
                    <a:pt x="95404" y="142874"/>
                  </a:moveTo>
                  <a:lnTo>
                    <a:pt x="0" y="71437"/>
                  </a:lnTo>
                  <a:lnTo>
                    <a:pt x="95404" y="0"/>
                  </a:lnTo>
                </a:path>
              </a:pathLst>
            </a:custGeom>
            <a:ln w="47678">
              <a:solidFill>
                <a:srgbClr val="0080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0" y="1043483"/>
            <a:ext cx="18288000" cy="5610225"/>
            <a:chOff x="0" y="1043483"/>
            <a:chExt cx="18288000" cy="5610225"/>
          </a:xfrm>
        </p:grpSpPr>
        <p:sp>
          <p:nvSpPr>
            <p:cNvPr id="13" name="object 13"/>
            <p:cNvSpPr/>
            <p:nvPr/>
          </p:nvSpPr>
          <p:spPr>
            <a:xfrm>
              <a:off x="4424152" y="2556701"/>
              <a:ext cx="1578610" cy="0"/>
            </a:xfrm>
            <a:custGeom>
              <a:avLst/>
              <a:gdLst/>
              <a:ahLst/>
              <a:cxnLst/>
              <a:rect l="l" t="t" r="r" b="b"/>
              <a:pathLst>
                <a:path w="1578610">
                  <a:moveTo>
                    <a:pt x="1578348" y="0"/>
                  </a:moveTo>
                  <a:lnTo>
                    <a:pt x="0" y="0"/>
                  </a:lnTo>
                </a:path>
              </a:pathLst>
            </a:custGeom>
            <a:ln w="47624">
              <a:solidFill>
                <a:srgbClr val="0080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14437" y="2485263"/>
              <a:ext cx="143510" cy="142875"/>
            </a:xfrm>
            <a:custGeom>
              <a:avLst/>
              <a:gdLst/>
              <a:ahLst/>
              <a:cxnLst/>
              <a:rect l="l" t="t" r="r" b="b"/>
              <a:pathLst>
                <a:path w="143510" h="142875">
                  <a:moveTo>
                    <a:pt x="143246" y="142874"/>
                  </a:moveTo>
                  <a:lnTo>
                    <a:pt x="0" y="142874"/>
                  </a:lnTo>
                  <a:lnTo>
                    <a:pt x="0" y="0"/>
                  </a:lnTo>
                  <a:lnTo>
                    <a:pt x="143246" y="0"/>
                  </a:lnTo>
                  <a:lnTo>
                    <a:pt x="143246" y="142874"/>
                  </a:lnTo>
                  <a:close/>
                </a:path>
              </a:pathLst>
            </a:custGeom>
            <a:ln w="47686">
              <a:solidFill>
                <a:srgbClr val="0080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24152" y="2485263"/>
              <a:ext cx="95885" cy="142875"/>
            </a:xfrm>
            <a:custGeom>
              <a:avLst/>
              <a:gdLst/>
              <a:ahLst/>
              <a:cxnLst/>
              <a:rect l="l" t="t" r="r" b="b"/>
              <a:pathLst>
                <a:path w="95885" h="142875">
                  <a:moveTo>
                    <a:pt x="95497" y="142874"/>
                  </a:moveTo>
                  <a:lnTo>
                    <a:pt x="0" y="71437"/>
                  </a:lnTo>
                  <a:lnTo>
                    <a:pt x="95497" y="0"/>
                  </a:lnTo>
                </a:path>
              </a:pathLst>
            </a:custGeom>
            <a:ln w="47710">
              <a:solidFill>
                <a:srgbClr val="0080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149522"/>
              <a:ext cx="9296399" cy="54006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30624" y="1043483"/>
              <a:ext cx="9657375" cy="561022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19758" y="7749529"/>
            <a:ext cx="13009880" cy="1675130"/>
          </a:xfrm>
          <a:prstGeom prst="rect">
            <a:avLst/>
          </a:prstGeom>
          <a:solidFill>
            <a:srgbClr val="164F16"/>
          </a:solidFill>
        </p:spPr>
        <p:txBody>
          <a:bodyPr vert="horz" wrap="square" lIns="0" tIns="203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0"/>
              </a:spcBef>
            </a:pPr>
            <a:r>
              <a:rPr sz="2900" dirty="0">
                <a:solidFill>
                  <a:srgbClr val="FFFFFF"/>
                </a:solidFill>
                <a:latin typeface="Verdana"/>
                <a:cs typeface="Verdana"/>
              </a:rPr>
              <a:t>Les</a:t>
            </a:r>
            <a:r>
              <a:rPr sz="29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65" dirty="0">
                <a:solidFill>
                  <a:srgbClr val="FFFFFF"/>
                </a:solidFill>
                <a:latin typeface="Verdana"/>
                <a:cs typeface="Verdana"/>
              </a:rPr>
              <a:t>améliorations</a:t>
            </a:r>
            <a:r>
              <a:rPr sz="2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Verdana"/>
                <a:cs typeface="Verdana"/>
              </a:rPr>
              <a:t>obtenues</a:t>
            </a:r>
            <a:r>
              <a:rPr sz="2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dirty="0">
                <a:solidFill>
                  <a:srgbClr val="FFFFFF"/>
                </a:solidFill>
                <a:latin typeface="Verdana"/>
                <a:cs typeface="Verdana"/>
              </a:rPr>
              <a:t>grâce</a:t>
            </a:r>
            <a:r>
              <a:rPr sz="2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70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9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95" dirty="0">
                <a:solidFill>
                  <a:srgbClr val="FFFFFF"/>
                </a:solidFill>
                <a:latin typeface="Verdana"/>
                <a:cs typeface="Verdana"/>
              </a:rPr>
              <a:t>l'Energy</a:t>
            </a:r>
            <a:r>
              <a:rPr sz="2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110" dirty="0">
                <a:solidFill>
                  <a:srgbClr val="FFFFFF"/>
                </a:solidFill>
                <a:latin typeface="Verdana"/>
                <a:cs typeface="Verdana"/>
              </a:rPr>
              <a:t>Star</a:t>
            </a:r>
            <a:r>
              <a:rPr sz="2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55" dirty="0">
                <a:solidFill>
                  <a:srgbClr val="FFFFFF"/>
                </a:solidFill>
                <a:latin typeface="Verdana"/>
                <a:cs typeface="Verdana"/>
              </a:rPr>
              <a:t>restent</a:t>
            </a:r>
            <a:r>
              <a:rPr sz="2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120" dirty="0">
                <a:solidFill>
                  <a:srgbClr val="FFFFFF"/>
                </a:solidFill>
                <a:latin typeface="Verdana"/>
                <a:cs typeface="Verdana"/>
              </a:rPr>
              <a:t>minimes</a:t>
            </a:r>
            <a:r>
              <a:rPr sz="29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25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endParaRPr sz="2900">
              <a:latin typeface="Verdana"/>
              <a:cs typeface="Verdana"/>
            </a:endParaRPr>
          </a:p>
          <a:p>
            <a:pPr marL="203835" marR="201295" algn="ctr">
              <a:lnSpc>
                <a:spcPct val="116399"/>
              </a:lnSpc>
            </a:pPr>
            <a:r>
              <a:rPr sz="2900" spc="-75" dirty="0">
                <a:solidFill>
                  <a:srgbClr val="FFFFFF"/>
                </a:solidFill>
                <a:latin typeface="Verdana"/>
                <a:cs typeface="Verdana"/>
              </a:rPr>
              <a:t>peuvent</a:t>
            </a:r>
            <a:r>
              <a:rPr sz="29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25" dirty="0">
                <a:solidFill>
                  <a:srgbClr val="FFFFFF"/>
                </a:solidFill>
                <a:latin typeface="Verdana"/>
                <a:cs typeface="Verdana"/>
              </a:rPr>
              <a:t>être</a:t>
            </a:r>
            <a:r>
              <a:rPr sz="29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Verdana"/>
                <a:cs typeface="Verdana"/>
              </a:rPr>
              <a:t>obtenues</a:t>
            </a:r>
            <a:r>
              <a:rPr sz="29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dirty="0">
                <a:solidFill>
                  <a:srgbClr val="FFFFFF"/>
                </a:solidFill>
                <a:latin typeface="Verdana"/>
                <a:cs typeface="Verdana"/>
              </a:rPr>
              <a:t>avec</a:t>
            </a:r>
            <a:r>
              <a:rPr sz="29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185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9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140" dirty="0">
                <a:solidFill>
                  <a:srgbClr val="FFFFFF"/>
                </a:solidFill>
                <a:latin typeface="Verdana"/>
                <a:cs typeface="Verdana"/>
              </a:rPr>
              <a:t>tunning</a:t>
            </a:r>
            <a:r>
              <a:rPr sz="29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9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60" dirty="0">
                <a:solidFill>
                  <a:srgbClr val="FFFFFF"/>
                </a:solidFill>
                <a:latin typeface="Verdana"/>
                <a:cs typeface="Verdana"/>
              </a:rPr>
              <a:t>paramètres</a:t>
            </a:r>
            <a:r>
              <a:rPr sz="29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29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Verdana"/>
                <a:cs typeface="Verdana"/>
              </a:rPr>
              <a:t>approfondi </a:t>
            </a:r>
            <a:r>
              <a:rPr sz="2900" spc="-20" dirty="0">
                <a:solidFill>
                  <a:srgbClr val="FFFFFF"/>
                </a:solidFill>
                <a:latin typeface="Verdana"/>
                <a:cs typeface="Verdana"/>
              </a:rPr>
              <a:t>sans</a:t>
            </a:r>
            <a:r>
              <a:rPr sz="2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Verdana"/>
                <a:cs typeface="Verdana"/>
              </a:rPr>
              <a:t>score.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587" rIns="0" bIns="0" rtlCol="0">
            <a:spAutoFit/>
          </a:bodyPr>
          <a:lstStyle/>
          <a:p>
            <a:pPr marL="72898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Feature</a:t>
            </a:r>
            <a:r>
              <a:rPr spc="-350" dirty="0"/>
              <a:t> </a:t>
            </a:r>
            <a:r>
              <a:rPr spc="-185" dirty="0"/>
              <a:t>importance</a:t>
            </a:r>
            <a:r>
              <a:rPr spc="-350" dirty="0"/>
              <a:t> </a:t>
            </a:r>
            <a:r>
              <a:rPr spc="-315" dirty="0"/>
              <a:t>de</a:t>
            </a:r>
            <a:r>
              <a:rPr spc="-350" dirty="0"/>
              <a:t> </a:t>
            </a:r>
            <a:r>
              <a:rPr spc="-240" dirty="0"/>
              <a:t>l'Energy</a:t>
            </a:r>
            <a:r>
              <a:rPr spc="-350" dirty="0"/>
              <a:t> </a:t>
            </a:r>
            <a:r>
              <a:rPr spc="-110" dirty="0"/>
              <a:t>Star</a:t>
            </a:r>
            <a:r>
              <a:rPr spc="-350" dirty="0"/>
              <a:t> </a:t>
            </a:r>
            <a:r>
              <a:rPr spc="-10" dirty="0"/>
              <a:t>score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786323" y="6582874"/>
            <a:ext cx="7204709" cy="741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1280" marR="5080" indent="-1339215">
              <a:lnSpc>
                <a:spcPct val="116100"/>
              </a:lnSpc>
              <a:spcBef>
                <a:spcPts val="100"/>
              </a:spcBef>
            </a:pPr>
            <a:r>
              <a:rPr sz="2150" dirty="0">
                <a:latin typeface="Tahoma"/>
                <a:cs typeface="Tahoma"/>
              </a:rPr>
              <a:t>Le</a:t>
            </a:r>
            <a:r>
              <a:rPr sz="2150" spc="-105" dirty="0">
                <a:latin typeface="Tahoma"/>
                <a:cs typeface="Tahoma"/>
              </a:rPr>
              <a:t> </a:t>
            </a:r>
            <a:r>
              <a:rPr sz="2150" spc="70" dirty="0">
                <a:latin typeface="Tahoma"/>
                <a:cs typeface="Tahoma"/>
              </a:rPr>
              <a:t>score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lang="fr-FR" sz="2150" spc="55" dirty="0">
                <a:latin typeface="Tahoma"/>
                <a:cs typeface="Tahoma"/>
              </a:rPr>
              <a:t>a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90" dirty="0">
                <a:latin typeface="Tahoma"/>
                <a:cs typeface="Tahoma"/>
              </a:rPr>
              <a:t>une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60" dirty="0">
                <a:latin typeface="Tahoma"/>
                <a:cs typeface="Tahoma"/>
              </a:rPr>
              <a:t>place</a:t>
            </a:r>
            <a:r>
              <a:rPr sz="2150" spc="-105" dirty="0">
                <a:latin typeface="Tahoma"/>
                <a:cs typeface="Tahoma"/>
              </a:rPr>
              <a:t> </a:t>
            </a:r>
            <a:r>
              <a:rPr sz="2150" spc="75" dirty="0">
                <a:latin typeface="Tahoma"/>
                <a:cs typeface="Tahoma"/>
              </a:rPr>
              <a:t>plutôt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80" dirty="0">
                <a:latin typeface="Tahoma"/>
                <a:cs typeface="Tahoma"/>
              </a:rPr>
              <a:t>importante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85" dirty="0">
                <a:latin typeface="Tahoma"/>
                <a:cs typeface="Tahoma"/>
              </a:rPr>
              <a:t>dans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55" dirty="0">
                <a:latin typeface="Tahoma"/>
                <a:cs typeface="Tahoma"/>
              </a:rPr>
              <a:t>le</a:t>
            </a:r>
            <a:r>
              <a:rPr sz="2150" spc="-100" dirty="0">
                <a:latin typeface="Tahoma"/>
                <a:cs typeface="Tahoma"/>
              </a:rPr>
              <a:t> </a:t>
            </a:r>
            <a:r>
              <a:rPr sz="2150" spc="55" dirty="0">
                <a:latin typeface="Tahoma"/>
                <a:cs typeface="Tahoma"/>
              </a:rPr>
              <a:t>calcul</a:t>
            </a:r>
            <a:r>
              <a:rPr sz="2150" spc="-105" dirty="0">
                <a:latin typeface="Tahoma"/>
                <a:cs typeface="Tahoma"/>
              </a:rPr>
              <a:t> </a:t>
            </a:r>
            <a:r>
              <a:rPr sz="2150" spc="50" dirty="0">
                <a:latin typeface="Tahoma"/>
                <a:cs typeface="Tahoma"/>
              </a:rPr>
              <a:t>des </a:t>
            </a:r>
            <a:r>
              <a:rPr sz="2150" spc="75" dirty="0">
                <a:latin typeface="Tahoma"/>
                <a:cs typeface="Tahoma"/>
              </a:rPr>
              <a:t>prédictions</a:t>
            </a:r>
            <a:r>
              <a:rPr sz="2150" spc="-110" dirty="0">
                <a:latin typeface="Tahoma"/>
                <a:cs typeface="Tahoma"/>
              </a:rPr>
              <a:t> </a:t>
            </a:r>
            <a:r>
              <a:rPr sz="2150" spc="110" dirty="0">
                <a:latin typeface="Tahoma"/>
                <a:cs typeface="Tahoma"/>
              </a:rPr>
              <a:t>pour</a:t>
            </a:r>
            <a:r>
              <a:rPr sz="2150" spc="-110" dirty="0">
                <a:latin typeface="Tahoma"/>
                <a:cs typeface="Tahoma"/>
              </a:rPr>
              <a:t> </a:t>
            </a:r>
            <a:r>
              <a:rPr sz="2150" spc="55" dirty="0">
                <a:latin typeface="Tahoma"/>
                <a:cs typeface="Tahoma"/>
              </a:rPr>
              <a:t>les</a:t>
            </a:r>
            <a:r>
              <a:rPr sz="2150" spc="-105" dirty="0">
                <a:latin typeface="Tahoma"/>
                <a:cs typeface="Tahoma"/>
              </a:rPr>
              <a:t> </a:t>
            </a:r>
            <a:r>
              <a:rPr sz="2150" spc="80" dirty="0">
                <a:latin typeface="Tahoma"/>
                <a:cs typeface="Tahoma"/>
              </a:rPr>
              <a:t>deux</a:t>
            </a:r>
            <a:r>
              <a:rPr sz="2150" spc="-110" dirty="0">
                <a:latin typeface="Tahoma"/>
                <a:cs typeface="Tahoma"/>
              </a:rPr>
              <a:t> </a:t>
            </a:r>
            <a:r>
              <a:rPr sz="2150" spc="35" dirty="0">
                <a:latin typeface="Tahoma"/>
                <a:cs typeface="Tahoma"/>
              </a:rPr>
              <a:t>variables.</a:t>
            </a:r>
            <a:endParaRPr sz="21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072" y="2096815"/>
            <a:ext cx="9324975" cy="3314700"/>
          </a:xfrm>
          <a:custGeom>
            <a:avLst/>
            <a:gdLst/>
            <a:ahLst/>
            <a:cxnLst/>
            <a:rect l="l" t="t" r="r" b="b"/>
            <a:pathLst>
              <a:path w="9324975" h="3314700">
                <a:moveTo>
                  <a:pt x="0" y="0"/>
                </a:moveTo>
                <a:lnTo>
                  <a:pt x="8369111" y="0"/>
                </a:lnTo>
                <a:lnTo>
                  <a:pt x="9324915" y="1657350"/>
                </a:lnTo>
                <a:lnTo>
                  <a:pt x="8369111" y="3314700"/>
                </a:lnTo>
                <a:lnTo>
                  <a:pt x="0" y="3314700"/>
                </a:lnTo>
                <a:lnTo>
                  <a:pt x="955803" y="1657350"/>
                </a:lnTo>
                <a:lnTo>
                  <a:pt x="0" y="0"/>
                </a:lnTo>
                <a:close/>
              </a:path>
            </a:pathLst>
          </a:custGeom>
          <a:solidFill>
            <a:srgbClr val="0080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153400" y="5807126"/>
            <a:ext cx="9991725" cy="3543300"/>
          </a:xfrm>
          <a:custGeom>
            <a:avLst/>
            <a:gdLst/>
            <a:ahLst/>
            <a:cxnLst/>
            <a:rect l="l" t="t" r="r" b="b"/>
            <a:pathLst>
              <a:path w="9991725" h="3543300">
                <a:moveTo>
                  <a:pt x="0" y="0"/>
                </a:moveTo>
                <a:lnTo>
                  <a:pt x="8967540" y="0"/>
                </a:lnTo>
                <a:lnTo>
                  <a:pt x="9991688" y="1771649"/>
                </a:lnTo>
                <a:lnTo>
                  <a:pt x="8967540" y="3543299"/>
                </a:lnTo>
                <a:lnTo>
                  <a:pt x="0" y="3543299"/>
                </a:lnTo>
                <a:lnTo>
                  <a:pt x="1024148" y="1771649"/>
                </a:lnTo>
                <a:lnTo>
                  <a:pt x="0" y="0"/>
                </a:lnTo>
                <a:close/>
              </a:path>
            </a:pathLst>
          </a:custGeom>
          <a:solidFill>
            <a:srgbClr val="153B0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39422"/>
            <a:ext cx="742949" cy="7429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68066" y="25119"/>
            <a:ext cx="1619249" cy="62864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038687" y="6443116"/>
            <a:ext cx="1373505" cy="1440180"/>
          </a:xfrm>
          <a:custGeom>
            <a:avLst/>
            <a:gdLst/>
            <a:ahLst/>
            <a:cxnLst/>
            <a:rect l="l" t="t" r="r" b="b"/>
            <a:pathLst>
              <a:path w="1373504" h="1440179">
                <a:moveTo>
                  <a:pt x="539280" y="1440027"/>
                </a:moveTo>
                <a:lnTo>
                  <a:pt x="539000" y="1415910"/>
                </a:lnTo>
                <a:lnTo>
                  <a:pt x="538149" y="1392339"/>
                </a:lnTo>
                <a:lnTo>
                  <a:pt x="537197" y="1365859"/>
                </a:lnTo>
                <a:lnTo>
                  <a:pt x="533031" y="1316291"/>
                </a:lnTo>
                <a:lnTo>
                  <a:pt x="526516" y="1267320"/>
                </a:lnTo>
                <a:lnTo>
                  <a:pt x="517664" y="1219047"/>
                </a:lnTo>
                <a:lnTo>
                  <a:pt x="506476" y="1171600"/>
                </a:lnTo>
                <a:lnTo>
                  <a:pt x="500380" y="1148461"/>
                </a:lnTo>
                <a:lnTo>
                  <a:pt x="490855" y="1151026"/>
                </a:lnTo>
                <a:lnTo>
                  <a:pt x="490855" y="1392339"/>
                </a:lnTo>
                <a:lnTo>
                  <a:pt x="343077" y="1392339"/>
                </a:lnTo>
                <a:lnTo>
                  <a:pt x="340664" y="1354912"/>
                </a:lnTo>
                <a:lnTo>
                  <a:pt x="336575" y="1317879"/>
                </a:lnTo>
                <a:lnTo>
                  <a:pt x="330835" y="1281315"/>
                </a:lnTo>
                <a:lnTo>
                  <a:pt x="323443" y="1245311"/>
                </a:lnTo>
                <a:lnTo>
                  <a:pt x="466217" y="1206982"/>
                </a:lnTo>
                <a:lnTo>
                  <a:pt x="475678" y="1252334"/>
                </a:lnTo>
                <a:lnTo>
                  <a:pt x="482942" y="1298409"/>
                </a:lnTo>
                <a:lnTo>
                  <a:pt x="488010" y="1345107"/>
                </a:lnTo>
                <a:lnTo>
                  <a:pt x="490855" y="1392339"/>
                </a:lnTo>
                <a:lnTo>
                  <a:pt x="490855" y="1151026"/>
                </a:lnTo>
                <a:lnTo>
                  <a:pt x="265734" y="1211478"/>
                </a:lnTo>
                <a:lnTo>
                  <a:pt x="271780" y="1234401"/>
                </a:lnTo>
                <a:lnTo>
                  <a:pt x="281889" y="1278661"/>
                </a:lnTo>
                <a:lnTo>
                  <a:pt x="289344" y="1323873"/>
                </a:lnTo>
                <a:lnTo>
                  <a:pt x="294119" y="1369885"/>
                </a:lnTo>
                <a:lnTo>
                  <a:pt x="296176" y="1416532"/>
                </a:lnTo>
                <a:lnTo>
                  <a:pt x="296557" y="1440027"/>
                </a:lnTo>
                <a:lnTo>
                  <a:pt x="539280" y="1440027"/>
                </a:lnTo>
                <a:close/>
              </a:path>
              <a:path w="1373504" h="1440179">
                <a:moveTo>
                  <a:pt x="1241513" y="112407"/>
                </a:moveTo>
                <a:lnTo>
                  <a:pt x="1237602" y="88734"/>
                </a:lnTo>
                <a:lnTo>
                  <a:pt x="1216240" y="46151"/>
                </a:lnTo>
                <a:lnTo>
                  <a:pt x="1193990" y="26873"/>
                </a:lnTo>
                <a:lnTo>
                  <a:pt x="1193990" y="115430"/>
                </a:lnTo>
                <a:lnTo>
                  <a:pt x="1193533" y="129806"/>
                </a:lnTo>
                <a:lnTo>
                  <a:pt x="1175778" y="168986"/>
                </a:lnTo>
                <a:lnTo>
                  <a:pt x="1139380" y="191554"/>
                </a:lnTo>
                <a:lnTo>
                  <a:pt x="272237" y="424434"/>
                </a:lnTo>
                <a:lnTo>
                  <a:pt x="243103" y="425996"/>
                </a:lnTo>
                <a:lnTo>
                  <a:pt x="216255" y="416572"/>
                </a:lnTo>
                <a:lnTo>
                  <a:pt x="194805" y="397992"/>
                </a:lnTo>
                <a:lnTo>
                  <a:pt x="181851" y="372135"/>
                </a:lnTo>
                <a:lnTo>
                  <a:pt x="179463" y="357733"/>
                </a:lnTo>
                <a:lnTo>
                  <a:pt x="179908" y="343357"/>
                </a:lnTo>
                <a:lnTo>
                  <a:pt x="197700" y="304139"/>
                </a:lnTo>
                <a:lnTo>
                  <a:pt x="234073" y="281571"/>
                </a:lnTo>
                <a:lnTo>
                  <a:pt x="1107579" y="47066"/>
                </a:lnTo>
                <a:lnTo>
                  <a:pt x="1114412" y="46151"/>
                </a:lnTo>
                <a:lnTo>
                  <a:pt x="1120051" y="46151"/>
                </a:lnTo>
                <a:lnTo>
                  <a:pt x="1165263" y="61518"/>
                </a:lnTo>
                <a:lnTo>
                  <a:pt x="1191590" y="101028"/>
                </a:lnTo>
                <a:lnTo>
                  <a:pt x="1193990" y="115430"/>
                </a:lnTo>
                <a:lnTo>
                  <a:pt x="1193990" y="26873"/>
                </a:lnTo>
                <a:lnTo>
                  <a:pt x="1180909" y="15532"/>
                </a:lnTo>
                <a:lnTo>
                  <a:pt x="1136764" y="0"/>
                </a:lnTo>
                <a:lnTo>
                  <a:pt x="1088948" y="2679"/>
                </a:lnTo>
                <a:lnTo>
                  <a:pt x="221767" y="235508"/>
                </a:lnTo>
                <a:lnTo>
                  <a:pt x="179209" y="256438"/>
                </a:lnTo>
                <a:lnTo>
                  <a:pt x="148018" y="292188"/>
                </a:lnTo>
                <a:lnTo>
                  <a:pt x="132715" y="337108"/>
                </a:lnTo>
                <a:lnTo>
                  <a:pt x="131940" y="360768"/>
                </a:lnTo>
                <a:lnTo>
                  <a:pt x="135839" y="384467"/>
                </a:lnTo>
                <a:lnTo>
                  <a:pt x="152450" y="420954"/>
                </a:lnTo>
                <a:lnTo>
                  <a:pt x="179235" y="449478"/>
                </a:lnTo>
                <a:lnTo>
                  <a:pt x="213639" y="468033"/>
                </a:lnTo>
                <a:lnTo>
                  <a:pt x="253098" y="474662"/>
                </a:lnTo>
                <a:lnTo>
                  <a:pt x="261035" y="474395"/>
                </a:lnTo>
                <a:lnTo>
                  <a:pt x="268935" y="473608"/>
                </a:lnTo>
                <a:lnTo>
                  <a:pt x="276783" y="472300"/>
                </a:lnTo>
                <a:lnTo>
                  <a:pt x="284556" y="470484"/>
                </a:lnTo>
                <a:lnTo>
                  <a:pt x="450189" y="425996"/>
                </a:lnTo>
                <a:lnTo>
                  <a:pt x="1151724" y="237604"/>
                </a:lnTo>
                <a:lnTo>
                  <a:pt x="1194282" y="216674"/>
                </a:lnTo>
                <a:lnTo>
                  <a:pt x="1225461" y="180936"/>
                </a:lnTo>
                <a:lnTo>
                  <a:pt x="1240764" y="136042"/>
                </a:lnTo>
                <a:lnTo>
                  <a:pt x="1241513" y="112407"/>
                </a:lnTo>
                <a:close/>
              </a:path>
              <a:path w="1373504" h="1440179">
                <a:moveTo>
                  <a:pt x="1244523" y="948740"/>
                </a:moveTo>
                <a:lnTo>
                  <a:pt x="1135024" y="978128"/>
                </a:lnTo>
                <a:lnTo>
                  <a:pt x="1135024" y="1027480"/>
                </a:lnTo>
                <a:lnTo>
                  <a:pt x="1117727" y="1059345"/>
                </a:lnTo>
                <a:lnTo>
                  <a:pt x="1100416" y="1095349"/>
                </a:lnTo>
                <a:lnTo>
                  <a:pt x="1083691" y="1135380"/>
                </a:lnTo>
                <a:lnTo>
                  <a:pt x="1068158" y="1179334"/>
                </a:lnTo>
                <a:lnTo>
                  <a:pt x="1068070" y="1179652"/>
                </a:lnTo>
                <a:lnTo>
                  <a:pt x="1054442" y="1227112"/>
                </a:lnTo>
                <a:lnTo>
                  <a:pt x="1043139" y="1278610"/>
                </a:lnTo>
                <a:lnTo>
                  <a:pt x="1034872" y="1333715"/>
                </a:lnTo>
                <a:lnTo>
                  <a:pt x="1030236" y="1392339"/>
                </a:lnTo>
                <a:lnTo>
                  <a:pt x="882243" y="1392339"/>
                </a:lnTo>
                <a:lnTo>
                  <a:pt x="885710" y="1338186"/>
                </a:lnTo>
                <a:lnTo>
                  <a:pt x="892149" y="1284643"/>
                </a:lnTo>
                <a:lnTo>
                  <a:pt x="901560" y="1231773"/>
                </a:lnTo>
                <a:lnTo>
                  <a:pt x="913904" y="1179652"/>
                </a:lnTo>
                <a:lnTo>
                  <a:pt x="929195" y="1128331"/>
                </a:lnTo>
                <a:lnTo>
                  <a:pt x="947420" y="1077874"/>
                </a:lnTo>
                <a:lnTo>
                  <a:pt x="1135024" y="1027480"/>
                </a:lnTo>
                <a:lnTo>
                  <a:pt x="1135024" y="978128"/>
                </a:lnTo>
                <a:lnTo>
                  <a:pt x="912177" y="1037932"/>
                </a:lnTo>
                <a:lnTo>
                  <a:pt x="888822" y="1099108"/>
                </a:lnTo>
                <a:lnTo>
                  <a:pt x="872693" y="1150162"/>
                </a:lnTo>
                <a:lnTo>
                  <a:pt x="859345" y="1201978"/>
                </a:lnTo>
                <a:lnTo>
                  <a:pt x="848804" y="1254531"/>
                </a:lnTo>
                <a:lnTo>
                  <a:pt x="841082" y="1307744"/>
                </a:lnTo>
                <a:lnTo>
                  <a:pt x="836180" y="1361554"/>
                </a:lnTo>
                <a:lnTo>
                  <a:pt x="834123" y="1415910"/>
                </a:lnTo>
                <a:lnTo>
                  <a:pt x="833831" y="1440027"/>
                </a:lnTo>
                <a:lnTo>
                  <a:pt x="1076756" y="1440027"/>
                </a:lnTo>
                <a:lnTo>
                  <a:pt x="1077125" y="1416532"/>
                </a:lnTo>
                <a:lnTo>
                  <a:pt x="1077163" y="1415910"/>
                </a:lnTo>
                <a:lnTo>
                  <a:pt x="1080833" y="1351292"/>
                </a:lnTo>
                <a:lnTo>
                  <a:pt x="1089329" y="1290523"/>
                </a:lnTo>
                <a:lnTo>
                  <a:pt x="1101712" y="1234351"/>
                </a:lnTo>
                <a:lnTo>
                  <a:pt x="1117066" y="1182928"/>
                </a:lnTo>
                <a:lnTo>
                  <a:pt x="1134529" y="1136408"/>
                </a:lnTo>
                <a:lnTo>
                  <a:pt x="1153160" y="1094943"/>
                </a:lnTo>
                <a:lnTo>
                  <a:pt x="1172095" y="1058672"/>
                </a:lnTo>
                <a:lnTo>
                  <a:pt x="1207211" y="1002322"/>
                </a:lnTo>
                <a:lnTo>
                  <a:pt x="1244523" y="948740"/>
                </a:lnTo>
                <a:close/>
              </a:path>
              <a:path w="1373504" h="1440179">
                <a:moveTo>
                  <a:pt x="1372565" y="434035"/>
                </a:moveTo>
                <a:lnTo>
                  <a:pt x="1369593" y="385914"/>
                </a:lnTo>
                <a:lnTo>
                  <a:pt x="1348155" y="343357"/>
                </a:lnTo>
                <a:lnTo>
                  <a:pt x="1325410" y="323697"/>
                </a:lnTo>
                <a:lnTo>
                  <a:pt x="1325410" y="427494"/>
                </a:lnTo>
                <a:lnTo>
                  <a:pt x="1316189" y="454291"/>
                </a:lnTo>
                <a:lnTo>
                  <a:pt x="1297622" y="475703"/>
                </a:lnTo>
                <a:lnTo>
                  <a:pt x="1271397" y="488784"/>
                </a:lnTo>
                <a:lnTo>
                  <a:pt x="140309" y="792467"/>
                </a:lnTo>
                <a:lnTo>
                  <a:pt x="111074" y="794067"/>
                </a:lnTo>
                <a:lnTo>
                  <a:pt x="84239" y="784631"/>
                </a:lnTo>
                <a:lnTo>
                  <a:pt x="62839" y="766038"/>
                </a:lnTo>
                <a:lnTo>
                  <a:pt x="49923" y="740168"/>
                </a:lnTo>
                <a:lnTo>
                  <a:pt x="47523" y="725766"/>
                </a:lnTo>
                <a:lnTo>
                  <a:pt x="47980" y="711377"/>
                </a:lnTo>
                <a:lnTo>
                  <a:pt x="65760" y="672185"/>
                </a:lnTo>
                <a:lnTo>
                  <a:pt x="102108" y="649617"/>
                </a:lnTo>
                <a:lnTo>
                  <a:pt x="1239507" y="344297"/>
                </a:lnTo>
                <a:lnTo>
                  <a:pt x="1246441" y="343357"/>
                </a:lnTo>
                <a:lnTo>
                  <a:pt x="1252004" y="343357"/>
                </a:lnTo>
                <a:lnTo>
                  <a:pt x="1297254" y="358724"/>
                </a:lnTo>
                <a:lnTo>
                  <a:pt x="1323568" y="398246"/>
                </a:lnTo>
                <a:lnTo>
                  <a:pt x="1325410" y="427494"/>
                </a:lnTo>
                <a:lnTo>
                  <a:pt x="1325410" y="323697"/>
                </a:lnTo>
                <a:lnTo>
                  <a:pt x="1312760" y="312750"/>
                </a:lnTo>
                <a:lnTo>
                  <a:pt x="1268603" y="297230"/>
                </a:lnTo>
                <a:lnTo>
                  <a:pt x="1220876" y="299910"/>
                </a:lnTo>
                <a:lnTo>
                  <a:pt x="89789" y="603542"/>
                </a:lnTo>
                <a:lnTo>
                  <a:pt x="47269" y="624484"/>
                </a:lnTo>
                <a:lnTo>
                  <a:pt x="16078" y="660222"/>
                </a:lnTo>
                <a:lnTo>
                  <a:pt x="774" y="705154"/>
                </a:lnTo>
                <a:lnTo>
                  <a:pt x="0" y="728802"/>
                </a:lnTo>
                <a:lnTo>
                  <a:pt x="3911" y="752513"/>
                </a:lnTo>
                <a:lnTo>
                  <a:pt x="20510" y="789000"/>
                </a:lnTo>
                <a:lnTo>
                  <a:pt x="47294" y="817511"/>
                </a:lnTo>
                <a:lnTo>
                  <a:pt x="81686" y="836066"/>
                </a:lnTo>
                <a:lnTo>
                  <a:pt x="121119" y="842695"/>
                </a:lnTo>
                <a:lnTo>
                  <a:pt x="129057" y="842429"/>
                </a:lnTo>
                <a:lnTo>
                  <a:pt x="136969" y="841654"/>
                </a:lnTo>
                <a:lnTo>
                  <a:pt x="144843" y="840346"/>
                </a:lnTo>
                <a:lnTo>
                  <a:pt x="152628" y="838542"/>
                </a:lnTo>
                <a:lnTo>
                  <a:pt x="318236" y="794067"/>
                </a:lnTo>
                <a:lnTo>
                  <a:pt x="1283754" y="534822"/>
                </a:lnTo>
                <a:lnTo>
                  <a:pt x="1326857" y="513321"/>
                </a:lnTo>
                <a:lnTo>
                  <a:pt x="1357388" y="478104"/>
                </a:lnTo>
                <a:lnTo>
                  <a:pt x="1372565" y="434035"/>
                </a:lnTo>
                <a:close/>
              </a:path>
              <a:path w="1373504" h="1440179">
                <a:moveTo>
                  <a:pt x="1373492" y="742226"/>
                </a:moveTo>
                <a:lnTo>
                  <a:pt x="1369580" y="718527"/>
                </a:lnTo>
                <a:lnTo>
                  <a:pt x="1348155" y="675970"/>
                </a:lnTo>
                <a:lnTo>
                  <a:pt x="1325968" y="656793"/>
                </a:lnTo>
                <a:lnTo>
                  <a:pt x="1325968" y="745261"/>
                </a:lnTo>
                <a:lnTo>
                  <a:pt x="1325511" y="759637"/>
                </a:lnTo>
                <a:lnTo>
                  <a:pt x="1307731" y="798830"/>
                </a:lnTo>
                <a:lnTo>
                  <a:pt x="1271397" y="821397"/>
                </a:lnTo>
                <a:lnTo>
                  <a:pt x="140296" y="1125105"/>
                </a:lnTo>
                <a:lnTo>
                  <a:pt x="111074" y="1126705"/>
                </a:lnTo>
                <a:lnTo>
                  <a:pt x="84226" y="1117257"/>
                </a:lnTo>
                <a:lnTo>
                  <a:pt x="62839" y="1098664"/>
                </a:lnTo>
                <a:lnTo>
                  <a:pt x="49911" y="1072807"/>
                </a:lnTo>
                <a:lnTo>
                  <a:pt x="48094" y="1043533"/>
                </a:lnTo>
                <a:lnTo>
                  <a:pt x="57315" y="1016723"/>
                </a:lnTo>
                <a:lnTo>
                  <a:pt x="75882" y="995324"/>
                </a:lnTo>
                <a:lnTo>
                  <a:pt x="102095" y="982268"/>
                </a:lnTo>
                <a:lnTo>
                  <a:pt x="1239507" y="676910"/>
                </a:lnTo>
                <a:lnTo>
                  <a:pt x="1246466" y="675970"/>
                </a:lnTo>
                <a:lnTo>
                  <a:pt x="1251978" y="675970"/>
                </a:lnTo>
                <a:lnTo>
                  <a:pt x="1297241" y="691349"/>
                </a:lnTo>
                <a:lnTo>
                  <a:pt x="1323568" y="730872"/>
                </a:lnTo>
                <a:lnTo>
                  <a:pt x="1325968" y="745261"/>
                </a:lnTo>
                <a:lnTo>
                  <a:pt x="1325968" y="656793"/>
                </a:lnTo>
                <a:lnTo>
                  <a:pt x="1312760" y="645363"/>
                </a:lnTo>
                <a:lnTo>
                  <a:pt x="1268590" y="629843"/>
                </a:lnTo>
                <a:lnTo>
                  <a:pt x="1220863" y="632536"/>
                </a:lnTo>
                <a:lnTo>
                  <a:pt x="89789" y="936231"/>
                </a:lnTo>
                <a:lnTo>
                  <a:pt x="46659" y="957707"/>
                </a:lnTo>
                <a:lnTo>
                  <a:pt x="16116" y="992898"/>
                </a:lnTo>
                <a:lnTo>
                  <a:pt x="939" y="1036993"/>
                </a:lnTo>
                <a:lnTo>
                  <a:pt x="3898" y="1085138"/>
                </a:lnTo>
                <a:lnTo>
                  <a:pt x="20510" y="1121625"/>
                </a:lnTo>
                <a:lnTo>
                  <a:pt x="47294" y="1150137"/>
                </a:lnTo>
                <a:lnTo>
                  <a:pt x="81699" y="1168692"/>
                </a:lnTo>
                <a:lnTo>
                  <a:pt x="121145" y="1175308"/>
                </a:lnTo>
                <a:lnTo>
                  <a:pt x="129070" y="1175054"/>
                </a:lnTo>
                <a:lnTo>
                  <a:pt x="318122" y="1126705"/>
                </a:lnTo>
                <a:lnTo>
                  <a:pt x="1283703" y="867448"/>
                </a:lnTo>
                <a:lnTo>
                  <a:pt x="1326222" y="846518"/>
                </a:lnTo>
                <a:lnTo>
                  <a:pt x="1357401" y="810793"/>
                </a:lnTo>
                <a:lnTo>
                  <a:pt x="1372704" y="765873"/>
                </a:lnTo>
                <a:lnTo>
                  <a:pt x="1373492" y="742226"/>
                </a:lnTo>
                <a:close/>
              </a:path>
            </a:pathLst>
          </a:custGeom>
          <a:solidFill>
            <a:srgbClr val="539E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64951" y="7952791"/>
            <a:ext cx="1321435" cy="1397635"/>
          </a:xfrm>
          <a:custGeom>
            <a:avLst/>
            <a:gdLst/>
            <a:ahLst/>
            <a:cxnLst/>
            <a:rect l="l" t="t" r="r" b="b"/>
            <a:pathLst>
              <a:path w="1321435" h="1397634">
                <a:moveTo>
                  <a:pt x="815102" y="1265392"/>
                </a:moveTo>
                <a:lnTo>
                  <a:pt x="505909" y="1265392"/>
                </a:lnTo>
                <a:lnTo>
                  <a:pt x="455762" y="1259587"/>
                </a:lnTo>
                <a:lnTo>
                  <a:pt x="409700" y="1243057"/>
                </a:lnTo>
                <a:lnTo>
                  <a:pt x="369045" y="1217130"/>
                </a:lnTo>
                <a:lnTo>
                  <a:pt x="335122" y="1183133"/>
                </a:lnTo>
                <a:lnTo>
                  <a:pt x="309253" y="1142392"/>
                </a:lnTo>
                <a:lnTo>
                  <a:pt x="292761" y="1096236"/>
                </a:lnTo>
                <a:lnTo>
                  <a:pt x="286970" y="1045992"/>
                </a:lnTo>
                <a:lnTo>
                  <a:pt x="286970" y="723065"/>
                </a:lnTo>
                <a:lnTo>
                  <a:pt x="240241" y="717771"/>
                </a:lnTo>
                <a:lnTo>
                  <a:pt x="196003" y="705518"/>
                </a:lnTo>
                <a:lnTo>
                  <a:pt x="154802" y="686880"/>
                </a:lnTo>
                <a:lnTo>
                  <a:pt x="117214" y="662434"/>
                </a:lnTo>
                <a:lnTo>
                  <a:pt x="83817" y="632754"/>
                </a:lnTo>
                <a:lnTo>
                  <a:pt x="55191" y="598417"/>
                </a:lnTo>
                <a:lnTo>
                  <a:pt x="31916" y="559996"/>
                </a:lnTo>
                <a:lnTo>
                  <a:pt x="14572" y="518069"/>
                </a:lnTo>
                <a:lnTo>
                  <a:pt x="3739" y="473209"/>
                </a:lnTo>
                <a:lnTo>
                  <a:pt x="0" y="425992"/>
                </a:lnTo>
                <a:lnTo>
                  <a:pt x="0" y="0"/>
                </a:lnTo>
                <a:lnTo>
                  <a:pt x="1320969" y="0"/>
                </a:lnTo>
                <a:lnTo>
                  <a:pt x="1320969" y="47683"/>
                </a:lnTo>
                <a:lnTo>
                  <a:pt x="47582" y="47683"/>
                </a:lnTo>
                <a:lnTo>
                  <a:pt x="47582" y="425992"/>
                </a:lnTo>
                <a:lnTo>
                  <a:pt x="51609" y="470854"/>
                </a:lnTo>
                <a:lnTo>
                  <a:pt x="63215" y="513101"/>
                </a:lnTo>
                <a:lnTo>
                  <a:pt x="81690" y="552022"/>
                </a:lnTo>
                <a:lnTo>
                  <a:pt x="106324" y="586906"/>
                </a:lnTo>
                <a:lnTo>
                  <a:pt x="136406" y="617043"/>
                </a:lnTo>
                <a:lnTo>
                  <a:pt x="171227" y="641720"/>
                </a:lnTo>
                <a:lnTo>
                  <a:pt x="210076" y="660227"/>
                </a:lnTo>
                <a:lnTo>
                  <a:pt x="252242" y="671852"/>
                </a:lnTo>
                <a:lnTo>
                  <a:pt x="297015" y="675885"/>
                </a:lnTo>
                <a:lnTo>
                  <a:pt x="1183074" y="675885"/>
                </a:lnTo>
                <a:lnTo>
                  <a:pt x="1166167" y="686880"/>
                </a:lnTo>
                <a:lnTo>
                  <a:pt x="1124964" y="705518"/>
                </a:lnTo>
                <a:lnTo>
                  <a:pt x="1080729" y="717771"/>
                </a:lnTo>
                <a:lnTo>
                  <a:pt x="1034041" y="723065"/>
                </a:lnTo>
                <a:lnTo>
                  <a:pt x="1034041" y="723569"/>
                </a:lnTo>
                <a:lnTo>
                  <a:pt x="334561" y="723569"/>
                </a:lnTo>
                <a:lnTo>
                  <a:pt x="334561" y="818860"/>
                </a:lnTo>
                <a:lnTo>
                  <a:pt x="881086" y="818860"/>
                </a:lnTo>
                <a:lnTo>
                  <a:pt x="334561" y="866723"/>
                </a:lnTo>
                <a:lnTo>
                  <a:pt x="334561" y="907383"/>
                </a:lnTo>
                <a:lnTo>
                  <a:pt x="880989" y="907383"/>
                </a:lnTo>
                <a:lnTo>
                  <a:pt x="334561" y="955238"/>
                </a:lnTo>
                <a:lnTo>
                  <a:pt x="334561" y="995856"/>
                </a:lnTo>
                <a:lnTo>
                  <a:pt x="881072" y="995856"/>
                </a:lnTo>
                <a:lnTo>
                  <a:pt x="334561" y="1043711"/>
                </a:lnTo>
                <a:lnTo>
                  <a:pt x="334561" y="1045992"/>
                </a:lnTo>
                <a:lnTo>
                  <a:pt x="334882" y="1055717"/>
                </a:lnTo>
                <a:lnTo>
                  <a:pt x="335796" y="1065286"/>
                </a:lnTo>
                <a:lnTo>
                  <a:pt x="337234" y="1074705"/>
                </a:lnTo>
                <a:lnTo>
                  <a:pt x="339123" y="1083978"/>
                </a:lnTo>
                <a:lnTo>
                  <a:pt x="885366" y="1083978"/>
                </a:lnTo>
                <a:lnTo>
                  <a:pt x="357525" y="1130218"/>
                </a:lnTo>
                <a:lnTo>
                  <a:pt x="384180" y="1165814"/>
                </a:lnTo>
                <a:lnTo>
                  <a:pt x="418849" y="1193453"/>
                </a:lnTo>
                <a:lnTo>
                  <a:pt x="459952" y="1211346"/>
                </a:lnTo>
                <a:lnTo>
                  <a:pt x="505909" y="1217708"/>
                </a:lnTo>
                <a:lnTo>
                  <a:pt x="951060" y="1217708"/>
                </a:lnTo>
                <a:lnTo>
                  <a:pt x="911312" y="1243057"/>
                </a:lnTo>
                <a:lnTo>
                  <a:pt x="865249" y="1259587"/>
                </a:lnTo>
                <a:lnTo>
                  <a:pt x="815102" y="1265392"/>
                </a:lnTo>
                <a:close/>
              </a:path>
              <a:path w="1321435" h="1397634">
                <a:moveTo>
                  <a:pt x="1183074" y="675885"/>
                </a:moveTo>
                <a:lnTo>
                  <a:pt x="1023953" y="675885"/>
                </a:lnTo>
                <a:lnTo>
                  <a:pt x="1068729" y="671852"/>
                </a:lnTo>
                <a:lnTo>
                  <a:pt x="1110896" y="660227"/>
                </a:lnTo>
                <a:lnTo>
                  <a:pt x="1149745" y="641720"/>
                </a:lnTo>
                <a:lnTo>
                  <a:pt x="1184566" y="617043"/>
                </a:lnTo>
                <a:lnTo>
                  <a:pt x="1214648" y="586906"/>
                </a:lnTo>
                <a:lnTo>
                  <a:pt x="1239281" y="552022"/>
                </a:lnTo>
                <a:lnTo>
                  <a:pt x="1257755" y="513101"/>
                </a:lnTo>
                <a:lnTo>
                  <a:pt x="1269360" y="470854"/>
                </a:lnTo>
                <a:lnTo>
                  <a:pt x="1273387" y="425992"/>
                </a:lnTo>
                <a:lnTo>
                  <a:pt x="1273387" y="47683"/>
                </a:lnTo>
                <a:lnTo>
                  <a:pt x="1320969" y="47683"/>
                </a:lnTo>
                <a:lnTo>
                  <a:pt x="1320969" y="425992"/>
                </a:lnTo>
                <a:lnTo>
                  <a:pt x="1317230" y="473209"/>
                </a:lnTo>
                <a:lnTo>
                  <a:pt x="1306399" y="518069"/>
                </a:lnTo>
                <a:lnTo>
                  <a:pt x="1289057" y="559996"/>
                </a:lnTo>
                <a:lnTo>
                  <a:pt x="1265782" y="598417"/>
                </a:lnTo>
                <a:lnTo>
                  <a:pt x="1237156" y="632754"/>
                </a:lnTo>
                <a:lnTo>
                  <a:pt x="1203758" y="662434"/>
                </a:lnTo>
                <a:lnTo>
                  <a:pt x="1183074" y="675885"/>
                </a:lnTo>
                <a:close/>
              </a:path>
              <a:path w="1321435" h="1397634">
                <a:moveTo>
                  <a:pt x="881086" y="818860"/>
                </a:moveTo>
                <a:lnTo>
                  <a:pt x="334561" y="818860"/>
                </a:lnTo>
                <a:lnTo>
                  <a:pt x="986450" y="761752"/>
                </a:lnTo>
                <a:lnTo>
                  <a:pt x="986450" y="723569"/>
                </a:lnTo>
                <a:lnTo>
                  <a:pt x="1034041" y="723569"/>
                </a:lnTo>
                <a:lnTo>
                  <a:pt x="1034041" y="809632"/>
                </a:lnTo>
                <a:lnTo>
                  <a:pt x="986450" y="809632"/>
                </a:lnTo>
                <a:lnTo>
                  <a:pt x="881086" y="818860"/>
                </a:lnTo>
                <a:close/>
              </a:path>
              <a:path w="1321435" h="1397634">
                <a:moveTo>
                  <a:pt x="880989" y="907383"/>
                </a:moveTo>
                <a:lnTo>
                  <a:pt x="334561" y="907383"/>
                </a:lnTo>
                <a:lnTo>
                  <a:pt x="986450" y="850276"/>
                </a:lnTo>
                <a:lnTo>
                  <a:pt x="986450" y="809632"/>
                </a:lnTo>
                <a:lnTo>
                  <a:pt x="1034041" y="809632"/>
                </a:lnTo>
                <a:lnTo>
                  <a:pt x="1034041" y="898148"/>
                </a:lnTo>
                <a:lnTo>
                  <a:pt x="986450" y="898148"/>
                </a:lnTo>
                <a:lnTo>
                  <a:pt x="880989" y="907383"/>
                </a:lnTo>
                <a:close/>
              </a:path>
              <a:path w="1321435" h="1397634">
                <a:moveTo>
                  <a:pt x="881072" y="995856"/>
                </a:moveTo>
                <a:lnTo>
                  <a:pt x="334561" y="995856"/>
                </a:lnTo>
                <a:lnTo>
                  <a:pt x="986450" y="938748"/>
                </a:lnTo>
                <a:lnTo>
                  <a:pt x="986450" y="898148"/>
                </a:lnTo>
                <a:lnTo>
                  <a:pt x="1034041" y="898148"/>
                </a:lnTo>
                <a:lnTo>
                  <a:pt x="1034041" y="986629"/>
                </a:lnTo>
                <a:lnTo>
                  <a:pt x="986450" y="986629"/>
                </a:lnTo>
                <a:lnTo>
                  <a:pt x="881072" y="995856"/>
                </a:lnTo>
                <a:close/>
              </a:path>
              <a:path w="1321435" h="1397634">
                <a:moveTo>
                  <a:pt x="885366" y="1083978"/>
                </a:moveTo>
                <a:lnTo>
                  <a:pt x="339123" y="1083978"/>
                </a:lnTo>
                <a:lnTo>
                  <a:pt x="986450" y="1027264"/>
                </a:lnTo>
                <a:lnTo>
                  <a:pt x="986450" y="986629"/>
                </a:lnTo>
                <a:lnTo>
                  <a:pt x="1034041" y="986629"/>
                </a:lnTo>
                <a:lnTo>
                  <a:pt x="1034041" y="1045992"/>
                </a:lnTo>
                <a:lnTo>
                  <a:pt x="1030732" y="1074705"/>
                </a:lnTo>
                <a:lnTo>
                  <a:pt x="1030654" y="1075383"/>
                </a:lnTo>
                <a:lnTo>
                  <a:pt x="983483" y="1075383"/>
                </a:lnTo>
                <a:lnTo>
                  <a:pt x="885366" y="1083978"/>
                </a:lnTo>
                <a:close/>
              </a:path>
              <a:path w="1321435" h="1397634">
                <a:moveTo>
                  <a:pt x="951060" y="1217708"/>
                </a:moveTo>
                <a:lnTo>
                  <a:pt x="815102" y="1217708"/>
                </a:lnTo>
                <a:lnTo>
                  <a:pt x="863698" y="1210652"/>
                </a:lnTo>
                <a:lnTo>
                  <a:pt x="906823" y="1190848"/>
                </a:lnTo>
                <a:lnTo>
                  <a:pt x="942488" y="1160339"/>
                </a:lnTo>
                <a:lnTo>
                  <a:pt x="968704" y="1121169"/>
                </a:lnTo>
                <a:lnTo>
                  <a:pt x="983483" y="1075383"/>
                </a:lnTo>
                <a:lnTo>
                  <a:pt x="1030654" y="1075383"/>
                </a:lnTo>
                <a:lnTo>
                  <a:pt x="1028250" y="1096236"/>
                </a:lnTo>
                <a:lnTo>
                  <a:pt x="1011758" y="1142392"/>
                </a:lnTo>
                <a:lnTo>
                  <a:pt x="985889" y="1183133"/>
                </a:lnTo>
                <a:lnTo>
                  <a:pt x="951966" y="1217130"/>
                </a:lnTo>
                <a:lnTo>
                  <a:pt x="951060" y="1217708"/>
                </a:lnTo>
                <a:close/>
              </a:path>
              <a:path w="1321435" h="1397634">
                <a:moveTo>
                  <a:pt x="660484" y="1397456"/>
                </a:moveTo>
                <a:lnTo>
                  <a:pt x="615842" y="1390883"/>
                </a:lnTo>
                <a:lnTo>
                  <a:pt x="576339" y="1372456"/>
                </a:lnTo>
                <a:lnTo>
                  <a:pt x="543838" y="1344108"/>
                </a:lnTo>
                <a:lnTo>
                  <a:pt x="520203" y="1307775"/>
                </a:lnTo>
                <a:lnTo>
                  <a:pt x="507299" y="1265392"/>
                </a:lnTo>
                <a:lnTo>
                  <a:pt x="555129" y="1265392"/>
                </a:lnTo>
                <a:lnTo>
                  <a:pt x="568948" y="1298931"/>
                </a:lnTo>
                <a:lnTo>
                  <a:pt x="592605" y="1325675"/>
                </a:lnTo>
                <a:lnTo>
                  <a:pt x="623862" y="1343372"/>
                </a:lnTo>
                <a:lnTo>
                  <a:pt x="660484" y="1349772"/>
                </a:lnTo>
                <a:lnTo>
                  <a:pt x="770637" y="1349772"/>
                </a:lnTo>
                <a:lnTo>
                  <a:pt x="744630" y="1372456"/>
                </a:lnTo>
                <a:lnTo>
                  <a:pt x="705126" y="1390883"/>
                </a:lnTo>
                <a:lnTo>
                  <a:pt x="660484" y="1397456"/>
                </a:lnTo>
                <a:close/>
              </a:path>
              <a:path w="1321435" h="1397634">
                <a:moveTo>
                  <a:pt x="770637" y="1349772"/>
                </a:moveTo>
                <a:lnTo>
                  <a:pt x="660484" y="1349772"/>
                </a:lnTo>
                <a:lnTo>
                  <a:pt x="697106" y="1343372"/>
                </a:lnTo>
                <a:lnTo>
                  <a:pt x="728364" y="1325675"/>
                </a:lnTo>
                <a:lnTo>
                  <a:pt x="752021" y="1298931"/>
                </a:lnTo>
                <a:lnTo>
                  <a:pt x="765840" y="1265392"/>
                </a:lnTo>
                <a:lnTo>
                  <a:pt x="813669" y="1265392"/>
                </a:lnTo>
                <a:lnTo>
                  <a:pt x="800765" y="1307775"/>
                </a:lnTo>
                <a:lnTo>
                  <a:pt x="777131" y="1344108"/>
                </a:lnTo>
                <a:lnTo>
                  <a:pt x="770637" y="1349772"/>
                </a:lnTo>
                <a:close/>
              </a:path>
            </a:pathLst>
          </a:custGeom>
          <a:solidFill>
            <a:srgbClr val="539E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937609" y="4261725"/>
            <a:ext cx="1924050" cy="720725"/>
          </a:xfrm>
          <a:custGeom>
            <a:avLst/>
            <a:gdLst/>
            <a:ahLst/>
            <a:cxnLst/>
            <a:rect l="l" t="t" r="r" b="b"/>
            <a:pathLst>
              <a:path w="1924050" h="720725">
                <a:moveTo>
                  <a:pt x="1923643" y="0"/>
                </a:moveTo>
                <a:lnTo>
                  <a:pt x="0" y="0"/>
                </a:lnTo>
                <a:lnTo>
                  <a:pt x="0" y="86652"/>
                </a:lnTo>
                <a:lnTo>
                  <a:pt x="5715" y="124942"/>
                </a:lnTo>
                <a:lnTo>
                  <a:pt x="22301" y="159918"/>
                </a:lnTo>
                <a:lnTo>
                  <a:pt x="48336" y="188607"/>
                </a:lnTo>
                <a:lnTo>
                  <a:pt x="81559" y="208521"/>
                </a:lnTo>
                <a:lnTo>
                  <a:pt x="119151" y="217957"/>
                </a:lnTo>
                <a:lnTo>
                  <a:pt x="132092" y="218605"/>
                </a:lnTo>
                <a:lnTo>
                  <a:pt x="779780" y="218605"/>
                </a:lnTo>
                <a:lnTo>
                  <a:pt x="779780" y="482803"/>
                </a:lnTo>
                <a:lnTo>
                  <a:pt x="705408" y="482803"/>
                </a:lnTo>
                <a:lnTo>
                  <a:pt x="664387" y="488238"/>
                </a:lnTo>
                <a:lnTo>
                  <a:pt x="625221" y="501548"/>
                </a:lnTo>
                <a:lnTo>
                  <a:pt x="589394" y="522224"/>
                </a:lnTo>
                <a:lnTo>
                  <a:pt x="558292" y="549490"/>
                </a:lnTo>
                <a:lnTo>
                  <a:pt x="533095" y="582269"/>
                </a:lnTo>
                <a:lnTo>
                  <a:pt x="514781" y="619340"/>
                </a:lnTo>
                <a:lnTo>
                  <a:pt x="504037" y="659257"/>
                </a:lnTo>
                <a:lnTo>
                  <a:pt x="501294" y="697166"/>
                </a:lnTo>
                <a:lnTo>
                  <a:pt x="501980" y="700608"/>
                </a:lnTo>
                <a:lnTo>
                  <a:pt x="524687" y="720534"/>
                </a:lnTo>
                <a:lnTo>
                  <a:pt x="1398955" y="720534"/>
                </a:lnTo>
                <a:lnTo>
                  <a:pt x="1422349" y="697166"/>
                </a:lnTo>
                <a:lnTo>
                  <a:pt x="1422336" y="686701"/>
                </a:lnTo>
                <a:lnTo>
                  <a:pt x="1416900" y="645718"/>
                </a:lnTo>
                <a:lnTo>
                  <a:pt x="1403565" y="606590"/>
                </a:lnTo>
                <a:lnTo>
                  <a:pt x="1382864" y="570801"/>
                </a:lnTo>
                <a:lnTo>
                  <a:pt x="1355585" y="539724"/>
                </a:lnTo>
                <a:lnTo>
                  <a:pt x="1322755" y="514553"/>
                </a:lnTo>
                <a:lnTo>
                  <a:pt x="1285659" y="496252"/>
                </a:lnTo>
                <a:lnTo>
                  <a:pt x="1245692" y="485533"/>
                </a:lnTo>
                <a:lnTo>
                  <a:pt x="1211326" y="482790"/>
                </a:lnTo>
                <a:lnTo>
                  <a:pt x="1143863" y="482803"/>
                </a:lnTo>
                <a:lnTo>
                  <a:pt x="1143863" y="218605"/>
                </a:lnTo>
                <a:lnTo>
                  <a:pt x="1791538" y="218605"/>
                </a:lnTo>
                <a:lnTo>
                  <a:pt x="1798027" y="218440"/>
                </a:lnTo>
                <a:lnTo>
                  <a:pt x="1836013" y="210858"/>
                </a:lnTo>
                <a:lnTo>
                  <a:pt x="1870202" y="192595"/>
                </a:lnTo>
                <a:lnTo>
                  <a:pt x="1897595" y="165227"/>
                </a:lnTo>
                <a:lnTo>
                  <a:pt x="1915883" y="131076"/>
                </a:lnTo>
                <a:lnTo>
                  <a:pt x="1923478" y="93129"/>
                </a:lnTo>
                <a:lnTo>
                  <a:pt x="1923643" y="86652"/>
                </a:lnTo>
                <a:lnTo>
                  <a:pt x="19236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26672" y="3113562"/>
            <a:ext cx="546100" cy="669925"/>
          </a:xfrm>
          <a:custGeom>
            <a:avLst/>
            <a:gdLst/>
            <a:ahLst/>
            <a:cxnLst/>
            <a:rect l="l" t="t" r="r" b="b"/>
            <a:pathLst>
              <a:path w="546100" h="669925">
                <a:moveTo>
                  <a:pt x="396215" y="669766"/>
                </a:moveTo>
                <a:lnTo>
                  <a:pt x="149189" y="669766"/>
                </a:lnTo>
                <a:lnTo>
                  <a:pt x="143280" y="620737"/>
                </a:lnTo>
                <a:lnTo>
                  <a:pt x="131429" y="573237"/>
                </a:lnTo>
                <a:lnTo>
                  <a:pt x="113846" y="527860"/>
                </a:lnTo>
                <a:lnTo>
                  <a:pt x="90742" y="485200"/>
                </a:lnTo>
                <a:lnTo>
                  <a:pt x="62325" y="445855"/>
                </a:lnTo>
                <a:lnTo>
                  <a:pt x="58303" y="440865"/>
                </a:lnTo>
                <a:lnTo>
                  <a:pt x="54401" y="435784"/>
                </a:lnTo>
                <a:lnTo>
                  <a:pt x="33590" y="403498"/>
                </a:lnTo>
                <a:lnTo>
                  <a:pt x="17528" y="368610"/>
                </a:lnTo>
                <a:lnTo>
                  <a:pt x="6535" y="331814"/>
                </a:lnTo>
                <a:lnTo>
                  <a:pt x="830" y="293839"/>
                </a:lnTo>
                <a:lnTo>
                  <a:pt x="0" y="274643"/>
                </a:lnTo>
                <a:lnTo>
                  <a:pt x="24" y="268239"/>
                </a:lnTo>
                <a:lnTo>
                  <a:pt x="3330" y="229981"/>
                </a:lnTo>
                <a:lnTo>
                  <a:pt x="11986" y="192567"/>
                </a:lnTo>
                <a:lnTo>
                  <a:pt x="25821" y="156740"/>
                </a:lnTo>
                <a:lnTo>
                  <a:pt x="44561" y="123212"/>
                </a:lnTo>
                <a:lnTo>
                  <a:pt x="67833" y="92648"/>
                </a:lnTo>
                <a:lnTo>
                  <a:pt x="95174" y="65656"/>
                </a:lnTo>
                <a:lnTo>
                  <a:pt x="126043" y="42772"/>
                </a:lnTo>
                <a:lnTo>
                  <a:pt x="159824" y="24449"/>
                </a:lnTo>
                <a:lnTo>
                  <a:pt x="195849" y="11053"/>
                </a:lnTo>
                <a:lnTo>
                  <a:pt x="233402" y="2849"/>
                </a:lnTo>
                <a:lnTo>
                  <a:pt x="271735" y="0"/>
                </a:lnTo>
                <a:lnTo>
                  <a:pt x="278149" y="51"/>
                </a:lnTo>
                <a:lnTo>
                  <a:pt x="316429" y="3513"/>
                </a:lnTo>
                <a:lnTo>
                  <a:pt x="353848" y="12318"/>
                </a:lnTo>
                <a:lnTo>
                  <a:pt x="389650" y="26287"/>
                </a:lnTo>
                <a:lnTo>
                  <a:pt x="423138" y="45149"/>
                </a:lnTo>
                <a:lnTo>
                  <a:pt x="453632" y="68523"/>
                </a:lnTo>
                <a:lnTo>
                  <a:pt x="480540" y="95951"/>
                </a:lnTo>
                <a:lnTo>
                  <a:pt x="503316" y="126880"/>
                </a:lnTo>
                <a:lnTo>
                  <a:pt x="521518" y="160707"/>
                </a:lnTo>
                <a:lnTo>
                  <a:pt x="534776" y="196748"/>
                </a:lnTo>
                <a:lnTo>
                  <a:pt x="542832" y="234299"/>
                </a:lnTo>
                <a:lnTo>
                  <a:pt x="545523" y="272601"/>
                </a:lnTo>
                <a:lnTo>
                  <a:pt x="545445" y="279008"/>
                </a:lnTo>
                <a:lnTo>
                  <a:pt x="541819" y="317237"/>
                </a:lnTo>
                <a:lnTo>
                  <a:pt x="532850" y="354577"/>
                </a:lnTo>
                <a:lnTo>
                  <a:pt x="518715" y="390288"/>
                </a:lnTo>
                <a:lnTo>
                  <a:pt x="499695" y="423658"/>
                </a:lnTo>
                <a:lnTo>
                  <a:pt x="484484" y="444275"/>
                </a:lnTo>
                <a:lnTo>
                  <a:pt x="455430" y="484867"/>
                </a:lnTo>
                <a:lnTo>
                  <a:pt x="431857" y="528320"/>
                </a:lnTo>
                <a:lnTo>
                  <a:pt x="413984" y="574026"/>
                </a:lnTo>
                <a:lnTo>
                  <a:pt x="402030" y="621377"/>
                </a:lnTo>
                <a:lnTo>
                  <a:pt x="396215" y="669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0937609" y="3247598"/>
            <a:ext cx="1924050" cy="960119"/>
            <a:chOff x="10937609" y="3247598"/>
            <a:chExt cx="1924050" cy="960119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80548" y="3932763"/>
              <a:ext cx="237773" cy="6527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937609" y="3247598"/>
              <a:ext cx="1924050" cy="960119"/>
            </a:xfrm>
            <a:custGeom>
              <a:avLst/>
              <a:gdLst/>
              <a:ahLst/>
              <a:cxnLst/>
              <a:rect l="l" t="t" r="r" b="b"/>
              <a:pathLst>
                <a:path w="1924050" h="960120">
                  <a:moveTo>
                    <a:pt x="1923649" y="960119"/>
                  </a:moveTo>
                  <a:lnTo>
                    <a:pt x="0" y="960119"/>
                  </a:lnTo>
                  <a:lnTo>
                    <a:pt x="33" y="129539"/>
                  </a:lnTo>
                  <a:lnTo>
                    <a:pt x="165" y="124459"/>
                  </a:lnTo>
                  <a:lnTo>
                    <a:pt x="358" y="121919"/>
                  </a:lnTo>
                  <a:lnTo>
                    <a:pt x="454" y="120649"/>
                  </a:lnTo>
                  <a:lnTo>
                    <a:pt x="10094" y="81279"/>
                  </a:lnTo>
                  <a:lnTo>
                    <a:pt x="12727" y="74929"/>
                  </a:lnTo>
                  <a:lnTo>
                    <a:pt x="34259" y="43179"/>
                  </a:lnTo>
                  <a:lnTo>
                    <a:pt x="64226" y="17779"/>
                  </a:lnTo>
                  <a:lnTo>
                    <a:pt x="75640" y="12699"/>
                  </a:lnTo>
                  <a:lnTo>
                    <a:pt x="81572" y="8889"/>
                  </a:lnTo>
                  <a:lnTo>
                    <a:pt x="87625" y="7619"/>
                  </a:lnTo>
                  <a:lnTo>
                    <a:pt x="93771" y="5079"/>
                  </a:lnTo>
                  <a:lnTo>
                    <a:pt x="119159" y="0"/>
                  </a:lnTo>
                  <a:lnTo>
                    <a:pt x="666008" y="0"/>
                  </a:lnTo>
                  <a:lnTo>
                    <a:pt x="661302" y="10159"/>
                  </a:lnTo>
                  <a:lnTo>
                    <a:pt x="656975" y="20319"/>
                  </a:lnTo>
                  <a:lnTo>
                    <a:pt x="653027" y="31749"/>
                  </a:lnTo>
                  <a:lnTo>
                    <a:pt x="649458" y="41909"/>
                  </a:lnTo>
                  <a:lnTo>
                    <a:pt x="646277" y="53339"/>
                  </a:lnTo>
                  <a:lnTo>
                    <a:pt x="643492" y="64769"/>
                  </a:lnTo>
                  <a:lnTo>
                    <a:pt x="641103" y="76199"/>
                  </a:lnTo>
                  <a:lnTo>
                    <a:pt x="639109" y="87629"/>
                  </a:lnTo>
                  <a:lnTo>
                    <a:pt x="637516" y="99059"/>
                  </a:lnTo>
                  <a:lnTo>
                    <a:pt x="466803" y="99059"/>
                  </a:lnTo>
                  <a:lnTo>
                    <a:pt x="460196" y="102869"/>
                  </a:lnTo>
                  <a:lnTo>
                    <a:pt x="457281" y="104139"/>
                  </a:lnTo>
                  <a:lnTo>
                    <a:pt x="452224" y="109219"/>
                  </a:lnTo>
                  <a:lnTo>
                    <a:pt x="450276" y="111759"/>
                  </a:lnTo>
                  <a:lnTo>
                    <a:pt x="447539" y="119379"/>
                  </a:lnTo>
                  <a:lnTo>
                    <a:pt x="446855" y="121919"/>
                  </a:lnTo>
                  <a:lnTo>
                    <a:pt x="446855" y="129539"/>
                  </a:lnTo>
                  <a:lnTo>
                    <a:pt x="466803" y="152399"/>
                  </a:lnTo>
                  <a:lnTo>
                    <a:pt x="635481" y="152399"/>
                  </a:lnTo>
                  <a:lnTo>
                    <a:pt x="635577" y="154939"/>
                  </a:lnTo>
                  <a:lnTo>
                    <a:pt x="641397" y="201929"/>
                  </a:lnTo>
                  <a:lnTo>
                    <a:pt x="653530" y="246379"/>
                  </a:lnTo>
                  <a:lnTo>
                    <a:pt x="661912" y="266699"/>
                  </a:lnTo>
                  <a:lnTo>
                    <a:pt x="666667" y="278129"/>
                  </a:lnTo>
                  <a:lnTo>
                    <a:pt x="671783" y="288289"/>
                  </a:lnTo>
                  <a:lnTo>
                    <a:pt x="677259" y="298449"/>
                  </a:lnTo>
                  <a:lnTo>
                    <a:pt x="683096" y="308609"/>
                  </a:lnTo>
                  <a:lnTo>
                    <a:pt x="689279" y="317499"/>
                  </a:lnTo>
                  <a:lnTo>
                    <a:pt x="695792" y="327659"/>
                  </a:lnTo>
                  <a:lnTo>
                    <a:pt x="702637" y="336549"/>
                  </a:lnTo>
                  <a:lnTo>
                    <a:pt x="709812" y="345439"/>
                  </a:lnTo>
                  <a:lnTo>
                    <a:pt x="736248" y="382269"/>
                  </a:lnTo>
                  <a:lnTo>
                    <a:pt x="757221" y="422909"/>
                  </a:lnTo>
                  <a:lnTo>
                    <a:pt x="772494" y="466089"/>
                  </a:lnTo>
                  <a:lnTo>
                    <a:pt x="781831" y="511809"/>
                  </a:lnTo>
                  <a:lnTo>
                    <a:pt x="784996" y="557529"/>
                  </a:lnTo>
                  <a:lnTo>
                    <a:pt x="784996" y="565149"/>
                  </a:lnTo>
                  <a:lnTo>
                    <a:pt x="785680" y="568959"/>
                  </a:lnTo>
                  <a:lnTo>
                    <a:pt x="808384" y="589279"/>
                  </a:lnTo>
                  <a:lnTo>
                    <a:pt x="1923649" y="589279"/>
                  </a:lnTo>
                  <a:lnTo>
                    <a:pt x="1923649" y="631189"/>
                  </a:lnTo>
                  <a:lnTo>
                    <a:pt x="804944" y="631189"/>
                  </a:lnTo>
                  <a:lnTo>
                    <a:pt x="798338" y="633729"/>
                  </a:lnTo>
                  <a:lnTo>
                    <a:pt x="784996" y="657859"/>
                  </a:lnTo>
                  <a:lnTo>
                    <a:pt x="785179" y="664209"/>
                  </a:lnTo>
                  <a:lnTo>
                    <a:pt x="791328" y="699769"/>
                  </a:lnTo>
                  <a:lnTo>
                    <a:pt x="793581" y="707389"/>
                  </a:lnTo>
                  <a:lnTo>
                    <a:pt x="813829" y="744219"/>
                  </a:lnTo>
                  <a:lnTo>
                    <a:pt x="818238" y="750569"/>
                  </a:lnTo>
                  <a:lnTo>
                    <a:pt x="850025" y="778509"/>
                  </a:lnTo>
                  <a:lnTo>
                    <a:pt x="888798" y="797559"/>
                  </a:lnTo>
                  <a:lnTo>
                    <a:pt x="895704" y="798829"/>
                  </a:lnTo>
                  <a:lnTo>
                    <a:pt x="902713" y="801369"/>
                  </a:lnTo>
                  <a:lnTo>
                    <a:pt x="909790" y="802639"/>
                  </a:lnTo>
                  <a:lnTo>
                    <a:pt x="916902" y="802639"/>
                  </a:lnTo>
                  <a:lnTo>
                    <a:pt x="924048" y="803909"/>
                  </a:lnTo>
                  <a:lnTo>
                    <a:pt x="1923649" y="803909"/>
                  </a:lnTo>
                  <a:lnTo>
                    <a:pt x="1923649" y="960119"/>
                  </a:lnTo>
                  <a:close/>
                </a:path>
                <a:path w="1924050" h="960120">
                  <a:moveTo>
                    <a:pt x="1923649" y="589279"/>
                  </a:moveTo>
                  <a:lnTo>
                    <a:pt x="1115266" y="589279"/>
                  </a:lnTo>
                  <a:lnTo>
                    <a:pt x="1118706" y="588009"/>
                  </a:lnTo>
                  <a:lnTo>
                    <a:pt x="1125313" y="585469"/>
                  </a:lnTo>
                  <a:lnTo>
                    <a:pt x="1138654" y="554989"/>
                  </a:lnTo>
                  <a:lnTo>
                    <a:pt x="1141792" y="511809"/>
                  </a:lnTo>
                  <a:lnTo>
                    <a:pt x="1151414" y="466089"/>
                  </a:lnTo>
                  <a:lnTo>
                    <a:pt x="1167003" y="422909"/>
                  </a:lnTo>
                  <a:lnTo>
                    <a:pt x="1188409" y="382269"/>
                  </a:lnTo>
                  <a:lnTo>
                    <a:pt x="1215390" y="344169"/>
                  </a:lnTo>
                  <a:lnTo>
                    <a:pt x="1222443" y="334009"/>
                  </a:lnTo>
                  <a:lnTo>
                    <a:pt x="1247366" y="295909"/>
                  </a:lnTo>
                  <a:lnTo>
                    <a:pt x="1266709" y="255269"/>
                  </a:lnTo>
                  <a:lnTo>
                    <a:pt x="1270624" y="243839"/>
                  </a:lnTo>
                  <a:lnTo>
                    <a:pt x="1274162" y="233679"/>
                  </a:lnTo>
                  <a:lnTo>
                    <a:pt x="1284467" y="189229"/>
                  </a:lnTo>
                  <a:lnTo>
                    <a:pt x="1288245" y="149859"/>
                  </a:lnTo>
                  <a:lnTo>
                    <a:pt x="1288334" y="147319"/>
                  </a:lnTo>
                  <a:lnTo>
                    <a:pt x="1288384" y="129539"/>
                  </a:lnTo>
                  <a:lnTo>
                    <a:pt x="1288208" y="124459"/>
                  </a:lnTo>
                  <a:lnTo>
                    <a:pt x="1288120" y="121919"/>
                  </a:lnTo>
                  <a:lnTo>
                    <a:pt x="1288076" y="120649"/>
                  </a:lnTo>
                  <a:lnTo>
                    <a:pt x="1287459" y="111759"/>
                  </a:lnTo>
                  <a:lnTo>
                    <a:pt x="1287370" y="110489"/>
                  </a:lnTo>
                  <a:lnTo>
                    <a:pt x="1287282" y="109219"/>
                  </a:lnTo>
                  <a:lnTo>
                    <a:pt x="1280140" y="63499"/>
                  </a:lnTo>
                  <a:lnTo>
                    <a:pt x="1270688" y="31749"/>
                  </a:lnTo>
                  <a:lnTo>
                    <a:pt x="1266780" y="20319"/>
                  </a:lnTo>
                  <a:lnTo>
                    <a:pt x="1262499" y="10159"/>
                  </a:lnTo>
                  <a:lnTo>
                    <a:pt x="1257844" y="0"/>
                  </a:lnTo>
                  <a:lnTo>
                    <a:pt x="1804491" y="0"/>
                  </a:lnTo>
                  <a:lnTo>
                    <a:pt x="1829878" y="5079"/>
                  </a:lnTo>
                  <a:lnTo>
                    <a:pt x="1836024" y="7619"/>
                  </a:lnTo>
                  <a:lnTo>
                    <a:pt x="1842077" y="8889"/>
                  </a:lnTo>
                  <a:lnTo>
                    <a:pt x="1848009" y="12699"/>
                  </a:lnTo>
                  <a:lnTo>
                    <a:pt x="1853790" y="15239"/>
                  </a:lnTo>
                  <a:lnTo>
                    <a:pt x="1859422" y="17779"/>
                  </a:lnTo>
                  <a:lnTo>
                    <a:pt x="1889389" y="43179"/>
                  </a:lnTo>
                  <a:lnTo>
                    <a:pt x="1910921" y="74929"/>
                  </a:lnTo>
                  <a:lnTo>
                    <a:pt x="1913553" y="81279"/>
                  </a:lnTo>
                  <a:lnTo>
                    <a:pt x="1915893" y="86359"/>
                  </a:lnTo>
                  <a:lnTo>
                    <a:pt x="1917929" y="92709"/>
                  </a:lnTo>
                  <a:lnTo>
                    <a:pt x="1919660" y="99059"/>
                  </a:lnTo>
                  <a:lnTo>
                    <a:pt x="1375086" y="99059"/>
                  </a:lnTo>
                  <a:lnTo>
                    <a:pt x="1368479" y="102869"/>
                  </a:lnTo>
                  <a:lnTo>
                    <a:pt x="1355138" y="121919"/>
                  </a:lnTo>
                  <a:lnTo>
                    <a:pt x="1355138" y="129539"/>
                  </a:lnTo>
                  <a:lnTo>
                    <a:pt x="1375086" y="152399"/>
                  </a:lnTo>
                  <a:lnTo>
                    <a:pt x="1923649" y="152399"/>
                  </a:lnTo>
                  <a:lnTo>
                    <a:pt x="1923649" y="589279"/>
                  </a:lnTo>
                  <a:close/>
                </a:path>
                <a:path w="1924050" h="960120">
                  <a:moveTo>
                    <a:pt x="635481" y="152399"/>
                  </a:moveTo>
                  <a:lnTo>
                    <a:pt x="548569" y="152399"/>
                  </a:lnTo>
                  <a:lnTo>
                    <a:pt x="555176" y="149859"/>
                  </a:lnTo>
                  <a:lnTo>
                    <a:pt x="558092" y="147319"/>
                  </a:lnTo>
                  <a:lnTo>
                    <a:pt x="563149" y="142239"/>
                  </a:lnTo>
                  <a:lnTo>
                    <a:pt x="565097" y="139699"/>
                  </a:lnTo>
                  <a:lnTo>
                    <a:pt x="567834" y="133349"/>
                  </a:lnTo>
                  <a:lnTo>
                    <a:pt x="568518" y="129539"/>
                  </a:lnTo>
                  <a:lnTo>
                    <a:pt x="568518" y="121919"/>
                  </a:lnTo>
                  <a:lnTo>
                    <a:pt x="555176" y="102869"/>
                  </a:lnTo>
                  <a:lnTo>
                    <a:pt x="548569" y="99059"/>
                  </a:lnTo>
                  <a:lnTo>
                    <a:pt x="637516" y="99059"/>
                  </a:lnTo>
                  <a:lnTo>
                    <a:pt x="636328" y="110489"/>
                  </a:lnTo>
                  <a:lnTo>
                    <a:pt x="635805" y="118109"/>
                  </a:lnTo>
                  <a:lnTo>
                    <a:pt x="635718" y="119379"/>
                  </a:lnTo>
                  <a:lnTo>
                    <a:pt x="635631" y="120649"/>
                  </a:lnTo>
                  <a:lnTo>
                    <a:pt x="635544" y="121919"/>
                  </a:lnTo>
                  <a:lnTo>
                    <a:pt x="635292" y="129539"/>
                  </a:lnTo>
                  <a:lnTo>
                    <a:pt x="635385" y="149859"/>
                  </a:lnTo>
                  <a:lnTo>
                    <a:pt x="635481" y="152399"/>
                  </a:lnTo>
                  <a:close/>
                </a:path>
                <a:path w="1924050" h="960120">
                  <a:moveTo>
                    <a:pt x="1923649" y="152399"/>
                  </a:moveTo>
                  <a:lnTo>
                    <a:pt x="1456852" y="152399"/>
                  </a:lnTo>
                  <a:lnTo>
                    <a:pt x="1463459" y="149859"/>
                  </a:lnTo>
                  <a:lnTo>
                    <a:pt x="1466375" y="147319"/>
                  </a:lnTo>
                  <a:lnTo>
                    <a:pt x="1471431" y="142239"/>
                  </a:lnTo>
                  <a:lnTo>
                    <a:pt x="1473380" y="139699"/>
                  </a:lnTo>
                  <a:lnTo>
                    <a:pt x="1476116" y="133349"/>
                  </a:lnTo>
                  <a:lnTo>
                    <a:pt x="1476801" y="129539"/>
                  </a:lnTo>
                  <a:lnTo>
                    <a:pt x="1476801" y="121919"/>
                  </a:lnTo>
                  <a:lnTo>
                    <a:pt x="1463459" y="102869"/>
                  </a:lnTo>
                  <a:lnTo>
                    <a:pt x="1456852" y="99059"/>
                  </a:lnTo>
                  <a:lnTo>
                    <a:pt x="1919660" y="99059"/>
                  </a:lnTo>
                  <a:lnTo>
                    <a:pt x="1921086" y="105409"/>
                  </a:lnTo>
                  <a:lnTo>
                    <a:pt x="1922202" y="111759"/>
                  </a:lnTo>
                  <a:lnTo>
                    <a:pt x="1923001" y="118109"/>
                  </a:lnTo>
                  <a:lnTo>
                    <a:pt x="1923483" y="124459"/>
                  </a:lnTo>
                  <a:lnTo>
                    <a:pt x="1923616" y="129539"/>
                  </a:lnTo>
                  <a:lnTo>
                    <a:pt x="1923649" y="152399"/>
                  </a:lnTo>
                  <a:close/>
                </a:path>
                <a:path w="1924050" h="960120">
                  <a:moveTo>
                    <a:pt x="1923649" y="803909"/>
                  </a:moveTo>
                  <a:lnTo>
                    <a:pt x="999601" y="803909"/>
                  </a:lnTo>
                  <a:lnTo>
                    <a:pt x="1006748" y="802639"/>
                  </a:lnTo>
                  <a:lnTo>
                    <a:pt x="1013860" y="802639"/>
                  </a:lnTo>
                  <a:lnTo>
                    <a:pt x="1020937" y="801369"/>
                  </a:lnTo>
                  <a:lnTo>
                    <a:pt x="1027945" y="798829"/>
                  </a:lnTo>
                  <a:lnTo>
                    <a:pt x="1034851" y="797559"/>
                  </a:lnTo>
                  <a:lnTo>
                    <a:pt x="1054921" y="789939"/>
                  </a:lnTo>
                  <a:lnTo>
                    <a:pt x="1090571" y="765809"/>
                  </a:lnTo>
                  <a:lnTo>
                    <a:pt x="1109819" y="744219"/>
                  </a:lnTo>
                  <a:lnTo>
                    <a:pt x="1113957" y="739139"/>
                  </a:lnTo>
                  <a:lnTo>
                    <a:pt x="1132320" y="699769"/>
                  </a:lnTo>
                  <a:lnTo>
                    <a:pt x="1134236" y="693419"/>
                  </a:lnTo>
                  <a:lnTo>
                    <a:pt x="1138652" y="657859"/>
                  </a:lnTo>
                  <a:lnTo>
                    <a:pt x="1138652" y="654049"/>
                  </a:lnTo>
                  <a:lnTo>
                    <a:pt x="1118704" y="631189"/>
                  </a:lnTo>
                  <a:lnTo>
                    <a:pt x="1923649" y="631189"/>
                  </a:lnTo>
                  <a:lnTo>
                    <a:pt x="1923649" y="8039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27398" y="3002347"/>
            <a:ext cx="102370" cy="10171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1872470" y="2859558"/>
            <a:ext cx="53975" cy="121920"/>
          </a:xfrm>
          <a:custGeom>
            <a:avLst/>
            <a:gdLst/>
            <a:ahLst/>
            <a:cxnLst/>
            <a:rect l="l" t="t" r="r" b="b"/>
            <a:pathLst>
              <a:path w="53975" h="121919">
                <a:moveTo>
                  <a:pt x="30539" y="121537"/>
                </a:moveTo>
                <a:lnTo>
                  <a:pt x="26963" y="121537"/>
                </a:lnTo>
                <a:lnTo>
                  <a:pt x="23387" y="121537"/>
                </a:lnTo>
                <a:lnTo>
                  <a:pt x="19948" y="120854"/>
                </a:lnTo>
                <a:lnTo>
                  <a:pt x="0" y="98173"/>
                </a:lnTo>
                <a:lnTo>
                  <a:pt x="0" y="23363"/>
                </a:lnTo>
                <a:lnTo>
                  <a:pt x="23387" y="0"/>
                </a:lnTo>
                <a:lnTo>
                  <a:pt x="30539" y="0"/>
                </a:lnTo>
                <a:lnTo>
                  <a:pt x="53927" y="23363"/>
                </a:lnTo>
                <a:lnTo>
                  <a:pt x="53927" y="98173"/>
                </a:lnTo>
                <a:lnTo>
                  <a:pt x="30539" y="1215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169099" y="3002360"/>
            <a:ext cx="102361" cy="10171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02247" y="2386063"/>
            <a:ext cx="104775" cy="1047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02247" y="3376662"/>
            <a:ext cx="104775" cy="10477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02247" y="4862563"/>
            <a:ext cx="104775" cy="10477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164134" y="2103671"/>
            <a:ext cx="6863715" cy="2997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8900">
              <a:lnSpc>
                <a:spcPct val="130000"/>
              </a:lnSpc>
              <a:spcBef>
                <a:spcPts val="95"/>
              </a:spcBef>
            </a:pPr>
            <a:r>
              <a:rPr sz="2500" spc="-70" dirty="0">
                <a:solidFill>
                  <a:srgbClr val="FFFFFF"/>
                </a:solidFill>
                <a:latin typeface="Verdana"/>
                <a:cs typeface="Verdana"/>
              </a:rPr>
              <a:t>Revoir</a:t>
            </a:r>
            <a:r>
              <a:rPr sz="25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25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Verdana"/>
                <a:cs typeface="Verdana"/>
              </a:rPr>
              <a:t>gestion</a:t>
            </a:r>
            <a:r>
              <a:rPr sz="25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25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Verdana"/>
                <a:cs typeface="Verdana"/>
              </a:rPr>
              <a:t>duplicatas</a:t>
            </a:r>
            <a:r>
              <a:rPr sz="25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FFFFFF"/>
                </a:solidFill>
                <a:latin typeface="Verdana"/>
                <a:cs typeface="Verdana"/>
              </a:rPr>
              <a:t>avec</a:t>
            </a:r>
            <a:r>
              <a:rPr sz="25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Verdana"/>
                <a:cs typeface="Verdana"/>
              </a:rPr>
              <a:t>une </a:t>
            </a:r>
            <a:r>
              <a:rPr sz="2500" spc="-30" dirty="0">
                <a:solidFill>
                  <a:srgbClr val="FFFFFF"/>
                </a:solidFill>
                <a:latin typeface="Verdana"/>
                <a:cs typeface="Verdana"/>
              </a:rPr>
              <a:t>méthode</a:t>
            </a:r>
            <a:r>
              <a:rPr sz="25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25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Verdana"/>
                <a:cs typeface="Verdana"/>
              </a:rPr>
              <a:t>affinée</a:t>
            </a:r>
            <a:r>
              <a:rPr sz="25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25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25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80" dirty="0">
                <a:solidFill>
                  <a:srgbClr val="FFFFFF"/>
                </a:solidFill>
                <a:latin typeface="Verdana"/>
                <a:cs typeface="Verdana"/>
              </a:rPr>
              <a:t>valeur</a:t>
            </a:r>
            <a:r>
              <a:rPr sz="25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55" dirty="0">
                <a:solidFill>
                  <a:srgbClr val="FFFFFF"/>
                </a:solidFill>
                <a:latin typeface="Verdana"/>
                <a:cs typeface="Verdana"/>
              </a:rPr>
              <a:t>médiane. </a:t>
            </a:r>
            <a:r>
              <a:rPr sz="2500" spc="-60" dirty="0">
                <a:solidFill>
                  <a:srgbClr val="FFFFFF"/>
                </a:solidFill>
                <a:latin typeface="Verdana"/>
                <a:cs typeface="Verdana"/>
              </a:rPr>
              <a:t>Obtenir</a:t>
            </a:r>
            <a:r>
              <a:rPr sz="25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25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5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FFFFFF"/>
                </a:solidFill>
                <a:latin typeface="Verdana"/>
                <a:cs typeface="Verdana"/>
              </a:rPr>
              <a:t>données</a:t>
            </a:r>
            <a:r>
              <a:rPr sz="25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FFFFFF"/>
                </a:solidFill>
                <a:latin typeface="Verdana"/>
                <a:cs typeface="Verdana"/>
              </a:rPr>
              <a:t>car</a:t>
            </a:r>
            <a:r>
              <a:rPr sz="25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5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125" dirty="0">
                <a:solidFill>
                  <a:srgbClr val="FFFFFF"/>
                </a:solidFill>
                <a:latin typeface="Verdana"/>
                <a:cs typeface="Verdana"/>
              </a:rPr>
              <a:t>jeu</a:t>
            </a:r>
            <a:r>
              <a:rPr sz="25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500" spc="6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Verdana"/>
                <a:cs typeface="Verdana"/>
              </a:rPr>
              <a:t>donné</a:t>
            </a:r>
            <a:r>
              <a:rPr sz="25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60" dirty="0">
                <a:solidFill>
                  <a:srgbClr val="FFFFFF"/>
                </a:solidFill>
                <a:latin typeface="Verdana"/>
                <a:cs typeface="Verdana"/>
              </a:rPr>
              <a:t>était</a:t>
            </a:r>
            <a:r>
              <a:rPr sz="25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75" dirty="0">
                <a:solidFill>
                  <a:srgbClr val="FFFFFF"/>
                </a:solidFill>
                <a:latin typeface="Verdana"/>
                <a:cs typeface="Verdana"/>
              </a:rPr>
              <a:t>relativement</a:t>
            </a:r>
            <a:r>
              <a:rPr sz="25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45" dirty="0">
                <a:solidFill>
                  <a:srgbClr val="FFFFFF"/>
                </a:solidFill>
                <a:latin typeface="Verdana"/>
                <a:cs typeface="Verdana"/>
              </a:rPr>
              <a:t>petit</a:t>
            </a:r>
            <a:r>
              <a:rPr sz="25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Verdana"/>
                <a:cs typeface="Verdana"/>
              </a:rPr>
              <a:t>après </a:t>
            </a:r>
            <a:r>
              <a:rPr sz="2500" spc="-20" dirty="0">
                <a:solidFill>
                  <a:srgbClr val="FFFFFF"/>
                </a:solidFill>
                <a:latin typeface="Verdana"/>
                <a:cs typeface="Verdana"/>
              </a:rPr>
              <a:t>suppression</a:t>
            </a:r>
            <a:r>
              <a:rPr sz="25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25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Verdana"/>
                <a:cs typeface="Verdana"/>
              </a:rPr>
              <a:t>duplicatas</a:t>
            </a:r>
            <a:endParaRPr sz="2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500" spc="-10" dirty="0">
                <a:solidFill>
                  <a:srgbClr val="FFFFFF"/>
                </a:solidFill>
                <a:latin typeface="Verdana"/>
                <a:cs typeface="Verdana"/>
              </a:rPr>
              <a:t>Aller</a:t>
            </a:r>
            <a:r>
              <a:rPr sz="25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Verdana"/>
                <a:cs typeface="Verdana"/>
              </a:rPr>
              <a:t>plus</a:t>
            </a:r>
            <a:r>
              <a:rPr sz="25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60" dirty="0">
                <a:solidFill>
                  <a:srgbClr val="FFFFFF"/>
                </a:solidFill>
                <a:latin typeface="Verdana"/>
                <a:cs typeface="Verdana"/>
              </a:rPr>
              <a:t>loin</a:t>
            </a:r>
            <a:r>
              <a:rPr sz="25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Verdana"/>
                <a:cs typeface="Verdana"/>
              </a:rPr>
              <a:t>dans</a:t>
            </a:r>
            <a:r>
              <a:rPr sz="25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FFFFFF"/>
                </a:solidFill>
                <a:latin typeface="Verdana"/>
                <a:cs typeface="Verdana"/>
              </a:rPr>
              <a:t>le</a:t>
            </a:r>
            <a:r>
              <a:rPr sz="25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45" dirty="0">
                <a:solidFill>
                  <a:srgbClr val="FFFFFF"/>
                </a:solidFill>
                <a:latin typeface="Verdana"/>
                <a:cs typeface="Verdana"/>
              </a:rPr>
              <a:t>feature</a:t>
            </a:r>
            <a:r>
              <a:rPr sz="25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Verdana"/>
                <a:cs typeface="Verdana"/>
              </a:rPr>
              <a:t>engineering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799" rIns="0" bIns="0" rtlCol="0">
            <a:spAutoFit/>
          </a:bodyPr>
          <a:lstStyle/>
          <a:p>
            <a:pPr marL="803275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Pistes</a:t>
            </a:r>
            <a:r>
              <a:rPr spc="-400" dirty="0"/>
              <a:t> </a:t>
            </a:r>
            <a:r>
              <a:rPr spc="-170" dirty="0"/>
              <a:t>d'améliorations</a:t>
            </a:r>
            <a:r>
              <a:rPr spc="-5" dirty="0"/>
              <a:t> </a:t>
            </a:r>
            <a:r>
              <a:rPr spc="-315" dirty="0"/>
              <a:t>possible</a:t>
            </a:r>
          </a:p>
        </p:txBody>
      </p:sp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91649" y="6404221"/>
            <a:ext cx="114300" cy="11429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91649" y="7280521"/>
            <a:ext cx="114300" cy="11429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91649" y="8156821"/>
            <a:ext cx="114300" cy="11429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9794030" y="6177989"/>
            <a:ext cx="7560945" cy="2654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0" marR="132715" algn="ctr">
              <a:lnSpc>
                <a:spcPct val="117300"/>
              </a:lnSpc>
              <a:spcBef>
                <a:spcPts val="95"/>
              </a:spcBef>
            </a:pPr>
            <a:r>
              <a:rPr sz="2450" spc="-35" dirty="0">
                <a:solidFill>
                  <a:srgbClr val="F5F5F5"/>
                </a:solidFill>
                <a:latin typeface="Lucida Sans Unicode"/>
                <a:cs typeface="Lucida Sans Unicode"/>
              </a:rPr>
              <a:t>Procéder</a:t>
            </a:r>
            <a:r>
              <a:rPr sz="2450" spc="-135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dirty="0">
                <a:solidFill>
                  <a:srgbClr val="F5F5F5"/>
                </a:solidFill>
                <a:latin typeface="Lucida Sans Unicode"/>
                <a:cs typeface="Lucida Sans Unicode"/>
              </a:rPr>
              <a:t>à</a:t>
            </a:r>
            <a:r>
              <a:rPr sz="2450" spc="-130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60" dirty="0">
                <a:solidFill>
                  <a:srgbClr val="F5F5F5"/>
                </a:solidFill>
                <a:latin typeface="Lucida Sans Unicode"/>
                <a:cs typeface="Lucida Sans Unicode"/>
              </a:rPr>
              <a:t>une</a:t>
            </a:r>
            <a:r>
              <a:rPr sz="2450" spc="-135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70" dirty="0">
                <a:solidFill>
                  <a:srgbClr val="F5F5F5"/>
                </a:solidFill>
                <a:latin typeface="Lucida Sans Unicode"/>
                <a:cs typeface="Lucida Sans Unicode"/>
              </a:rPr>
              <a:t>feature</a:t>
            </a:r>
            <a:r>
              <a:rPr sz="2450" spc="-130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90" dirty="0">
                <a:solidFill>
                  <a:srgbClr val="F5F5F5"/>
                </a:solidFill>
                <a:latin typeface="Lucida Sans Unicode"/>
                <a:cs typeface="Lucida Sans Unicode"/>
              </a:rPr>
              <a:t>selection</a:t>
            </a:r>
            <a:r>
              <a:rPr sz="2450" spc="-135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100" dirty="0">
                <a:solidFill>
                  <a:srgbClr val="F5F5F5"/>
                </a:solidFill>
                <a:latin typeface="Lucida Sans Unicode"/>
                <a:cs typeface="Lucida Sans Unicode"/>
              </a:rPr>
              <a:t>grâce</a:t>
            </a:r>
            <a:r>
              <a:rPr sz="2450" spc="-130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150" dirty="0">
                <a:solidFill>
                  <a:srgbClr val="F5F5F5"/>
                </a:solidFill>
                <a:latin typeface="Lucida Sans Unicode"/>
                <a:cs typeface="Lucida Sans Unicode"/>
              </a:rPr>
              <a:t>aux</a:t>
            </a:r>
            <a:r>
              <a:rPr sz="2450" spc="-130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25" dirty="0">
                <a:solidFill>
                  <a:srgbClr val="F5F5F5"/>
                </a:solidFill>
                <a:latin typeface="Lucida Sans Unicode"/>
                <a:cs typeface="Lucida Sans Unicode"/>
              </a:rPr>
              <a:t>features </a:t>
            </a:r>
            <a:r>
              <a:rPr sz="2450" spc="-114" dirty="0">
                <a:solidFill>
                  <a:srgbClr val="F5F5F5"/>
                </a:solidFill>
                <a:latin typeface="Lucida Sans Unicode"/>
                <a:cs typeface="Lucida Sans Unicode"/>
              </a:rPr>
              <a:t>mises </a:t>
            </a:r>
            <a:r>
              <a:rPr sz="2450" spc="-45" dirty="0">
                <a:solidFill>
                  <a:srgbClr val="F5F5F5"/>
                </a:solidFill>
                <a:latin typeface="Lucida Sans Unicode"/>
                <a:cs typeface="Lucida Sans Unicode"/>
              </a:rPr>
              <a:t>en</a:t>
            </a:r>
            <a:r>
              <a:rPr sz="2450" spc="-110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95" dirty="0">
                <a:solidFill>
                  <a:srgbClr val="F5F5F5"/>
                </a:solidFill>
                <a:latin typeface="Lucida Sans Unicode"/>
                <a:cs typeface="Lucida Sans Unicode"/>
              </a:rPr>
              <a:t>avant</a:t>
            </a:r>
            <a:r>
              <a:rPr sz="2450" spc="-114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85" dirty="0">
                <a:solidFill>
                  <a:srgbClr val="F5F5F5"/>
                </a:solidFill>
                <a:latin typeface="Lucida Sans Unicode"/>
                <a:cs typeface="Lucida Sans Unicode"/>
              </a:rPr>
              <a:t>avec</a:t>
            </a:r>
            <a:r>
              <a:rPr sz="2450" spc="-110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95" dirty="0">
                <a:solidFill>
                  <a:srgbClr val="F5F5F5"/>
                </a:solidFill>
                <a:latin typeface="Lucida Sans Unicode"/>
                <a:cs typeface="Lucida Sans Unicode"/>
              </a:rPr>
              <a:t>le</a:t>
            </a:r>
            <a:r>
              <a:rPr sz="2450" spc="-114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70" dirty="0">
                <a:solidFill>
                  <a:srgbClr val="F5F5F5"/>
                </a:solidFill>
                <a:latin typeface="Lucida Sans Unicode"/>
                <a:cs typeface="Lucida Sans Unicode"/>
              </a:rPr>
              <a:t>feature</a:t>
            </a:r>
            <a:r>
              <a:rPr sz="2450" spc="-110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10" dirty="0">
                <a:solidFill>
                  <a:srgbClr val="F5F5F5"/>
                </a:solidFill>
                <a:latin typeface="Lucida Sans Unicode"/>
                <a:cs typeface="Lucida Sans Unicode"/>
              </a:rPr>
              <a:t>importance</a:t>
            </a:r>
            <a:endParaRPr sz="2450">
              <a:latin typeface="Lucida Sans Unicode"/>
              <a:cs typeface="Lucida Sans Unicode"/>
            </a:endParaRPr>
          </a:p>
          <a:p>
            <a:pPr marL="114300" marR="106680" algn="ctr">
              <a:lnSpc>
                <a:spcPct val="117300"/>
              </a:lnSpc>
              <a:spcBef>
                <a:spcPts val="5"/>
              </a:spcBef>
            </a:pPr>
            <a:r>
              <a:rPr sz="2450" spc="-95" dirty="0">
                <a:solidFill>
                  <a:srgbClr val="F5F5F5"/>
                </a:solidFill>
                <a:latin typeface="Lucida Sans Unicode"/>
                <a:cs typeface="Lucida Sans Unicode"/>
              </a:rPr>
              <a:t>faire</a:t>
            </a:r>
            <a:r>
              <a:rPr sz="2450" spc="-120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80" dirty="0">
                <a:solidFill>
                  <a:srgbClr val="F5F5F5"/>
                </a:solidFill>
                <a:latin typeface="Lucida Sans Unicode"/>
                <a:cs typeface="Lucida Sans Unicode"/>
              </a:rPr>
              <a:t>un</a:t>
            </a:r>
            <a:r>
              <a:rPr sz="2450" spc="-114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80" dirty="0">
                <a:solidFill>
                  <a:srgbClr val="F5F5F5"/>
                </a:solidFill>
                <a:latin typeface="Lucida Sans Unicode"/>
                <a:cs typeface="Lucida Sans Unicode"/>
              </a:rPr>
              <a:t>bootstrap</a:t>
            </a:r>
            <a:r>
              <a:rPr sz="2450" spc="-114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200" dirty="0">
                <a:solidFill>
                  <a:srgbClr val="F5F5F5"/>
                </a:solidFill>
                <a:latin typeface="Lucida Sans Unicode"/>
                <a:cs typeface="Lucida Sans Unicode"/>
              </a:rPr>
              <a:t>:</a:t>
            </a:r>
            <a:r>
              <a:rPr sz="2450" spc="-114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70" dirty="0">
                <a:solidFill>
                  <a:srgbClr val="F5F5F5"/>
                </a:solidFill>
                <a:latin typeface="Lucida Sans Unicode"/>
                <a:cs typeface="Lucida Sans Unicode"/>
              </a:rPr>
              <a:t>entraîner</a:t>
            </a:r>
            <a:r>
              <a:rPr sz="2450" spc="-114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95" dirty="0">
                <a:solidFill>
                  <a:srgbClr val="F5F5F5"/>
                </a:solidFill>
                <a:latin typeface="Lucida Sans Unicode"/>
                <a:cs typeface="Lucida Sans Unicode"/>
              </a:rPr>
              <a:t>différents</a:t>
            </a:r>
            <a:r>
              <a:rPr sz="2450" spc="-114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90" dirty="0">
                <a:solidFill>
                  <a:srgbClr val="F5F5F5"/>
                </a:solidFill>
                <a:latin typeface="Lucida Sans Unicode"/>
                <a:cs typeface="Lucida Sans Unicode"/>
              </a:rPr>
              <a:t>modèles</a:t>
            </a:r>
            <a:r>
              <a:rPr sz="2450" spc="-114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25" dirty="0">
                <a:solidFill>
                  <a:srgbClr val="F5F5F5"/>
                </a:solidFill>
                <a:latin typeface="Lucida Sans Unicode"/>
                <a:cs typeface="Lucida Sans Unicode"/>
              </a:rPr>
              <a:t>sur </a:t>
            </a:r>
            <a:r>
              <a:rPr sz="2450" spc="-90" dirty="0">
                <a:solidFill>
                  <a:srgbClr val="F5F5F5"/>
                </a:solidFill>
                <a:latin typeface="Lucida Sans Unicode"/>
                <a:cs typeface="Lucida Sans Unicode"/>
              </a:rPr>
              <a:t>différentes</a:t>
            </a:r>
            <a:r>
              <a:rPr sz="2450" spc="-125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95" dirty="0">
                <a:solidFill>
                  <a:srgbClr val="F5F5F5"/>
                </a:solidFill>
                <a:latin typeface="Lucida Sans Unicode"/>
                <a:cs typeface="Lucida Sans Unicode"/>
              </a:rPr>
              <a:t>vues</a:t>
            </a:r>
            <a:r>
              <a:rPr sz="2450" spc="-120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45" dirty="0">
                <a:solidFill>
                  <a:srgbClr val="F5F5F5"/>
                </a:solidFill>
                <a:latin typeface="Lucida Sans Unicode"/>
                <a:cs typeface="Lucida Sans Unicode"/>
              </a:rPr>
              <a:t>de</a:t>
            </a:r>
            <a:r>
              <a:rPr sz="2450" spc="-125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10" dirty="0">
                <a:solidFill>
                  <a:srgbClr val="F5F5F5"/>
                </a:solidFill>
                <a:latin typeface="Lucida Sans Unicode"/>
                <a:cs typeface="Lucida Sans Unicode"/>
              </a:rPr>
              <a:t>données</a:t>
            </a:r>
            <a:endParaRPr sz="2450">
              <a:latin typeface="Lucida Sans Unicode"/>
              <a:cs typeface="Lucida Sans Unicode"/>
            </a:endParaRPr>
          </a:p>
          <a:p>
            <a:pPr marL="12700" marR="5080" algn="ctr">
              <a:lnSpc>
                <a:spcPct val="117300"/>
              </a:lnSpc>
            </a:pPr>
            <a:r>
              <a:rPr sz="2450" spc="-95" dirty="0">
                <a:solidFill>
                  <a:srgbClr val="F5F5F5"/>
                </a:solidFill>
                <a:latin typeface="Lucida Sans Unicode"/>
                <a:cs typeface="Lucida Sans Unicode"/>
              </a:rPr>
              <a:t>faire</a:t>
            </a:r>
            <a:r>
              <a:rPr sz="2450" spc="-114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80" dirty="0">
                <a:solidFill>
                  <a:srgbClr val="F5F5F5"/>
                </a:solidFill>
                <a:latin typeface="Lucida Sans Unicode"/>
                <a:cs typeface="Lucida Sans Unicode"/>
              </a:rPr>
              <a:t>un</a:t>
            </a:r>
            <a:r>
              <a:rPr sz="2450" spc="-114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140" dirty="0">
                <a:solidFill>
                  <a:srgbClr val="F5F5F5"/>
                </a:solidFill>
                <a:latin typeface="Lucida Sans Unicode"/>
                <a:cs typeface="Lucida Sans Unicode"/>
              </a:rPr>
              <a:t>stacking</a:t>
            </a:r>
            <a:r>
              <a:rPr sz="2450" spc="-110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200" dirty="0">
                <a:solidFill>
                  <a:srgbClr val="F5F5F5"/>
                </a:solidFill>
                <a:latin typeface="Lucida Sans Unicode"/>
                <a:cs typeface="Lucida Sans Unicode"/>
              </a:rPr>
              <a:t>:</a:t>
            </a:r>
            <a:r>
              <a:rPr sz="2450" spc="-114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85" dirty="0">
                <a:solidFill>
                  <a:srgbClr val="F5F5F5"/>
                </a:solidFill>
                <a:latin typeface="Lucida Sans Unicode"/>
                <a:cs typeface="Lucida Sans Unicode"/>
              </a:rPr>
              <a:t>combiner</a:t>
            </a:r>
            <a:r>
              <a:rPr sz="2450" spc="-110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75" dirty="0">
                <a:solidFill>
                  <a:srgbClr val="F5F5F5"/>
                </a:solidFill>
                <a:latin typeface="Lucida Sans Unicode"/>
                <a:cs typeface="Lucida Sans Unicode"/>
              </a:rPr>
              <a:t>au</a:t>
            </a:r>
            <a:r>
              <a:rPr sz="2450" spc="-114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140" dirty="0">
                <a:solidFill>
                  <a:srgbClr val="F5F5F5"/>
                </a:solidFill>
                <a:latin typeface="Lucida Sans Unicode"/>
                <a:cs typeface="Lucida Sans Unicode"/>
              </a:rPr>
              <a:t>mieux</a:t>
            </a:r>
            <a:r>
              <a:rPr sz="2450" spc="-114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105" dirty="0">
                <a:solidFill>
                  <a:srgbClr val="F5F5F5"/>
                </a:solidFill>
                <a:latin typeface="Lucida Sans Unicode"/>
                <a:cs typeface="Lucida Sans Unicode"/>
              </a:rPr>
              <a:t>les</a:t>
            </a:r>
            <a:r>
              <a:rPr sz="2450" spc="-110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90" dirty="0">
                <a:solidFill>
                  <a:srgbClr val="F5F5F5"/>
                </a:solidFill>
                <a:latin typeface="Lucida Sans Unicode"/>
                <a:cs typeface="Lucida Sans Unicode"/>
              </a:rPr>
              <a:t>modèles</a:t>
            </a:r>
            <a:r>
              <a:rPr sz="2450" spc="-114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25" dirty="0">
                <a:solidFill>
                  <a:srgbClr val="F5F5F5"/>
                </a:solidFill>
                <a:latin typeface="Lucida Sans Unicode"/>
                <a:cs typeface="Lucida Sans Unicode"/>
              </a:rPr>
              <a:t>qui </a:t>
            </a:r>
            <a:r>
              <a:rPr sz="2450" spc="-95" dirty="0">
                <a:solidFill>
                  <a:srgbClr val="F5F5F5"/>
                </a:solidFill>
                <a:latin typeface="Lucida Sans Unicode"/>
                <a:cs typeface="Lucida Sans Unicode"/>
              </a:rPr>
              <a:t>sont</a:t>
            </a:r>
            <a:r>
              <a:rPr sz="2450" spc="-100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105" dirty="0">
                <a:solidFill>
                  <a:srgbClr val="F5F5F5"/>
                </a:solidFill>
                <a:latin typeface="Lucida Sans Unicode"/>
                <a:cs typeface="Lucida Sans Unicode"/>
              </a:rPr>
              <a:t>individuellement</a:t>
            </a:r>
            <a:r>
              <a:rPr sz="2450" spc="-95" dirty="0">
                <a:solidFill>
                  <a:srgbClr val="F5F5F5"/>
                </a:solidFill>
                <a:latin typeface="Lucida Sans Unicode"/>
                <a:cs typeface="Lucida Sans Unicode"/>
              </a:rPr>
              <a:t> </a:t>
            </a:r>
            <a:r>
              <a:rPr sz="2450" spc="-10" dirty="0">
                <a:solidFill>
                  <a:srgbClr val="F5F5F5"/>
                </a:solidFill>
                <a:latin typeface="Lucida Sans Unicode"/>
                <a:cs typeface="Lucida Sans Unicode"/>
              </a:rPr>
              <a:t>performants</a:t>
            </a:r>
            <a:endParaRPr sz="2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2700" y="6216236"/>
            <a:ext cx="18207990" cy="2651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3500" b="1" spc="35" dirty="0">
                <a:solidFill>
                  <a:srgbClr val="FFFFFF"/>
                </a:solidFill>
                <a:latin typeface="Tahoma"/>
                <a:cs typeface="Tahoma"/>
              </a:rPr>
              <a:t>   </a:t>
            </a:r>
            <a:r>
              <a:rPr sz="3500" b="1" spc="35" dirty="0">
                <a:solidFill>
                  <a:srgbClr val="FFFFFF"/>
                </a:solidFill>
                <a:latin typeface="Tahoma"/>
                <a:cs typeface="Tahoma"/>
              </a:rPr>
              <a:t>Conclusion</a:t>
            </a:r>
            <a:endParaRPr sz="3500" dirty="0">
              <a:latin typeface="Tahoma"/>
              <a:cs typeface="Tahoma"/>
            </a:endParaRPr>
          </a:p>
          <a:p>
            <a:pPr marL="1786889">
              <a:lnSpc>
                <a:spcPct val="100000"/>
              </a:lnSpc>
              <a:spcBef>
                <a:spcPts val="3690"/>
              </a:spcBef>
            </a:pPr>
            <a:r>
              <a:rPr sz="2400" spc="15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95" dirty="0" err="1">
                <a:solidFill>
                  <a:srgbClr val="FFFFFF"/>
                </a:solidFill>
                <a:latin typeface="Tahoma"/>
                <a:cs typeface="Tahoma"/>
              </a:rPr>
              <a:t>obtien</a:t>
            </a:r>
            <a:r>
              <a:rPr lang="fr-FR" sz="2400" spc="9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0" dirty="0" err="1">
                <a:solidFill>
                  <a:srgbClr val="FFFFFF"/>
                </a:solidFill>
                <a:latin typeface="Tahoma"/>
                <a:cs typeface="Tahoma"/>
              </a:rPr>
              <a:t>d'assez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Tahoma"/>
                <a:cs typeface="Tahoma"/>
              </a:rPr>
              <a:t>bon</a:t>
            </a:r>
            <a:r>
              <a:rPr lang="fr-FR" sz="2400" spc="13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Tahoma"/>
                <a:cs typeface="Tahoma"/>
              </a:rPr>
              <a:t>score</a:t>
            </a:r>
            <a:r>
              <a:rPr lang="fr-FR" sz="2400" spc="8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Tahoma"/>
                <a:cs typeface="Tahoma"/>
              </a:rPr>
              <a:t>pour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10" dirty="0">
                <a:solidFill>
                  <a:srgbClr val="FFFFFF"/>
                </a:solidFill>
                <a:latin typeface="Tahoma"/>
                <a:cs typeface="Tahoma"/>
              </a:rPr>
              <a:t>nos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Tahoma"/>
                <a:cs typeface="Tahoma"/>
              </a:rPr>
              <a:t>modélisations</a:t>
            </a:r>
            <a:endParaRPr sz="2400" dirty="0">
              <a:latin typeface="Tahoma"/>
              <a:cs typeface="Tahoma"/>
            </a:endParaRPr>
          </a:p>
          <a:p>
            <a:pPr marL="1786889">
              <a:lnSpc>
                <a:spcPct val="100000"/>
              </a:lnSpc>
              <a:spcBef>
                <a:spcPts val="420"/>
              </a:spcBef>
            </a:pP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Le</a:t>
            </a:r>
            <a:r>
              <a:rPr sz="24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14" dirty="0">
                <a:solidFill>
                  <a:srgbClr val="FFFFFF"/>
                </a:solidFill>
                <a:latin typeface="Tahoma"/>
                <a:cs typeface="Tahoma"/>
              </a:rPr>
              <a:t>Random</a:t>
            </a:r>
            <a:r>
              <a:rPr sz="24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Tahoma"/>
                <a:cs typeface="Tahoma"/>
              </a:rPr>
              <a:t>Forest</a:t>
            </a:r>
            <a:r>
              <a:rPr sz="24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avec</a:t>
            </a:r>
            <a:r>
              <a:rPr sz="24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Tahoma"/>
                <a:cs typeface="Tahoma"/>
              </a:rPr>
              <a:t>les</a:t>
            </a:r>
            <a:r>
              <a:rPr sz="24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95" dirty="0" err="1">
                <a:solidFill>
                  <a:srgbClr val="FFFFFF"/>
                </a:solidFill>
                <a:latin typeface="Tahoma"/>
                <a:cs typeface="Tahoma"/>
              </a:rPr>
              <a:t>hyperparamètres</a:t>
            </a:r>
            <a:r>
              <a:rPr sz="24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75" dirty="0">
                <a:solidFill>
                  <a:srgbClr val="FFFFFF"/>
                </a:solidFill>
                <a:latin typeface="Tahoma"/>
                <a:cs typeface="Tahoma"/>
              </a:rPr>
              <a:t>trouvé</a:t>
            </a:r>
            <a:r>
              <a:rPr lang="fr-FR" sz="2400" spc="7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24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est</a:t>
            </a:r>
            <a:r>
              <a:rPr sz="24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le</a:t>
            </a:r>
            <a:r>
              <a:rPr sz="24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14" dirty="0">
                <a:solidFill>
                  <a:srgbClr val="FFFFFF"/>
                </a:solidFill>
                <a:latin typeface="Tahoma"/>
                <a:cs typeface="Tahoma"/>
              </a:rPr>
              <a:t>modèle</a:t>
            </a:r>
            <a:r>
              <a:rPr sz="24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Tahoma"/>
                <a:cs typeface="Tahoma"/>
              </a:rPr>
              <a:t>choisi</a:t>
            </a:r>
            <a:endParaRPr sz="2400" dirty="0">
              <a:latin typeface="Tahoma"/>
              <a:cs typeface="Tahoma"/>
            </a:endParaRPr>
          </a:p>
          <a:p>
            <a:pPr marL="1786889" marR="5080">
              <a:lnSpc>
                <a:spcPct val="114599"/>
              </a:lnSpc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L'Energy</a:t>
            </a:r>
            <a:r>
              <a:rPr sz="24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Tahoma"/>
                <a:cs typeface="Tahoma"/>
              </a:rPr>
              <a:t>star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est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Tahoma"/>
                <a:cs typeface="Tahoma"/>
              </a:rPr>
              <a:t>coûteux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00" dirty="0">
                <a:solidFill>
                  <a:srgbClr val="FFFFFF"/>
                </a:solidFill>
                <a:latin typeface="Tahoma"/>
                <a:cs typeface="Tahoma"/>
              </a:rPr>
              <a:t>en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Tahoma"/>
                <a:cs typeface="Tahoma"/>
              </a:rPr>
              <a:t>calcul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Tahoma"/>
                <a:cs typeface="Tahoma"/>
              </a:rPr>
              <a:t>préalable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et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Tahoma"/>
                <a:cs typeface="Tahoma"/>
              </a:rPr>
              <a:t>pas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95" dirty="0">
                <a:solidFill>
                  <a:srgbClr val="FFFFFF"/>
                </a:solidFill>
                <a:latin typeface="Tahoma"/>
                <a:cs typeface="Tahoma"/>
              </a:rPr>
              <a:t>disponible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95" dirty="0">
                <a:solidFill>
                  <a:srgbClr val="FFFFFF"/>
                </a:solidFill>
                <a:latin typeface="Tahoma"/>
                <a:cs typeface="Tahoma"/>
              </a:rPr>
              <a:t>sur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Tahoma"/>
                <a:cs typeface="Tahoma"/>
              </a:rPr>
              <a:t>tous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Tahoma"/>
                <a:cs typeface="Tahoma"/>
              </a:rPr>
              <a:t>les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Tahoma"/>
                <a:cs typeface="Tahoma"/>
              </a:rPr>
              <a:t>permis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Tahoma"/>
                <a:cs typeface="Tahoma"/>
              </a:rPr>
              <a:t>d'exploitations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10" dirty="0">
                <a:solidFill>
                  <a:srgbClr val="FFFFFF"/>
                </a:solidFill>
                <a:latin typeface="Tahoma"/>
                <a:cs typeface="Tahoma"/>
              </a:rPr>
              <a:t>donc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14" dirty="0">
                <a:solidFill>
                  <a:srgbClr val="FFFFFF"/>
                </a:solidFill>
                <a:latin typeface="Tahoma"/>
                <a:cs typeface="Tahoma"/>
              </a:rPr>
              <a:t>peu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Tahoma"/>
                <a:cs typeface="Tahoma"/>
              </a:rPr>
              <a:t>d'intérêt 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vu</a:t>
            </a:r>
            <a:r>
              <a:rPr sz="24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75" dirty="0">
                <a:solidFill>
                  <a:srgbClr val="FFFFFF"/>
                </a:solidFill>
                <a:latin typeface="Tahoma"/>
                <a:cs typeface="Tahoma"/>
              </a:rPr>
              <a:t>faible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95" dirty="0">
                <a:solidFill>
                  <a:srgbClr val="FFFFFF"/>
                </a:solidFill>
                <a:latin typeface="Tahoma"/>
                <a:cs typeface="Tahoma"/>
              </a:rPr>
              <a:t>amélioration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Tahoma"/>
                <a:cs typeface="Tahoma"/>
              </a:rPr>
              <a:t>observée</a:t>
            </a:r>
            <a:endParaRPr sz="2400" dirty="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39418"/>
            <a:ext cx="742949" cy="7429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53B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40875" y="1114342"/>
            <a:ext cx="14516100" cy="775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0" b="0" spc="-275" dirty="0">
                <a:solidFill>
                  <a:srgbClr val="FFFFFF"/>
                </a:solidFill>
                <a:latin typeface="Arial Black"/>
                <a:cs typeface="Arial Black"/>
              </a:rPr>
              <a:t>Merci</a:t>
            </a:r>
            <a:r>
              <a:rPr sz="9000" b="0" spc="-6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9000" b="0" spc="-360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9000" b="0" spc="-6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9000" b="0" spc="-110" dirty="0">
                <a:solidFill>
                  <a:srgbClr val="FFFFFF"/>
                </a:solidFill>
                <a:latin typeface="Arial Black"/>
                <a:cs typeface="Arial Black"/>
              </a:rPr>
              <a:t>votre</a:t>
            </a:r>
            <a:r>
              <a:rPr sz="9000" b="0" spc="-6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9000" b="0" spc="-25" dirty="0">
                <a:solidFill>
                  <a:srgbClr val="FFFFFF"/>
                </a:solidFill>
                <a:latin typeface="Arial Black"/>
                <a:cs typeface="Arial Black"/>
              </a:rPr>
              <a:t>attention</a:t>
            </a:r>
            <a:endParaRPr sz="90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90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90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90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</a:pPr>
            <a:r>
              <a:rPr sz="9000" b="0" spc="880" dirty="0">
                <a:solidFill>
                  <a:srgbClr val="FFFFFF"/>
                </a:solidFill>
                <a:latin typeface="Cambria"/>
                <a:cs typeface="Cambria"/>
              </a:rPr>
              <a:t>Questions</a:t>
            </a:r>
            <a:r>
              <a:rPr sz="9000" b="0" spc="6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0" b="0" spc="1165" dirty="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sz="9000" b="0" spc="6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000" b="0" spc="825" dirty="0">
                <a:solidFill>
                  <a:srgbClr val="FFFFFF"/>
                </a:solidFill>
                <a:latin typeface="Cambria"/>
                <a:cs typeface="Cambria"/>
              </a:rPr>
              <a:t>Réponses</a:t>
            </a:r>
            <a:endParaRPr sz="90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6725" y="2985580"/>
            <a:ext cx="2616612" cy="27431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904540" y="6139035"/>
            <a:ext cx="867410" cy="941069"/>
          </a:xfrm>
          <a:custGeom>
            <a:avLst/>
            <a:gdLst/>
            <a:ahLst/>
            <a:cxnLst/>
            <a:rect l="l" t="t" r="r" b="b"/>
            <a:pathLst>
              <a:path w="867409" h="941070">
                <a:moveTo>
                  <a:pt x="810713" y="39369"/>
                </a:moveTo>
                <a:lnTo>
                  <a:pt x="354088" y="39369"/>
                </a:lnTo>
                <a:lnTo>
                  <a:pt x="405704" y="35559"/>
                </a:lnTo>
                <a:lnTo>
                  <a:pt x="508758" y="25399"/>
                </a:lnTo>
                <a:lnTo>
                  <a:pt x="610619" y="12699"/>
                </a:lnTo>
                <a:lnTo>
                  <a:pt x="714235" y="2539"/>
                </a:lnTo>
                <a:lnTo>
                  <a:pt x="766341" y="0"/>
                </a:lnTo>
                <a:lnTo>
                  <a:pt x="772597" y="0"/>
                </a:lnTo>
                <a:lnTo>
                  <a:pt x="809962" y="31749"/>
                </a:lnTo>
                <a:lnTo>
                  <a:pt x="810463" y="36829"/>
                </a:lnTo>
                <a:lnTo>
                  <a:pt x="810588" y="38099"/>
                </a:lnTo>
                <a:lnTo>
                  <a:pt x="810713" y="39369"/>
                </a:lnTo>
                <a:close/>
              </a:path>
              <a:path w="867409" h="941070">
                <a:moveTo>
                  <a:pt x="524460" y="219709"/>
                </a:moveTo>
                <a:lnTo>
                  <a:pt x="34699" y="219709"/>
                </a:lnTo>
                <a:lnTo>
                  <a:pt x="36138" y="215899"/>
                </a:lnTo>
                <a:lnTo>
                  <a:pt x="64530" y="185419"/>
                </a:lnTo>
                <a:lnTo>
                  <a:pt x="116164" y="139699"/>
                </a:lnTo>
                <a:lnTo>
                  <a:pt x="173875" y="92709"/>
                </a:lnTo>
                <a:lnTo>
                  <a:pt x="189436" y="78739"/>
                </a:lnTo>
                <a:lnTo>
                  <a:pt x="204627" y="66039"/>
                </a:lnTo>
                <a:lnTo>
                  <a:pt x="231368" y="48259"/>
                </a:lnTo>
                <a:lnTo>
                  <a:pt x="258936" y="39369"/>
                </a:lnTo>
                <a:lnTo>
                  <a:pt x="286898" y="36829"/>
                </a:lnTo>
                <a:lnTo>
                  <a:pt x="314822" y="38099"/>
                </a:lnTo>
                <a:lnTo>
                  <a:pt x="324438" y="38099"/>
                </a:lnTo>
                <a:lnTo>
                  <a:pt x="334194" y="39369"/>
                </a:lnTo>
                <a:lnTo>
                  <a:pt x="810713" y="39369"/>
                </a:lnTo>
                <a:lnTo>
                  <a:pt x="810964" y="41909"/>
                </a:lnTo>
                <a:lnTo>
                  <a:pt x="810232" y="50799"/>
                </a:lnTo>
                <a:lnTo>
                  <a:pt x="807884" y="59689"/>
                </a:lnTo>
                <a:lnTo>
                  <a:pt x="804038" y="67309"/>
                </a:lnTo>
                <a:lnTo>
                  <a:pt x="806874" y="69849"/>
                </a:lnTo>
                <a:lnTo>
                  <a:pt x="809338" y="72389"/>
                </a:lnTo>
                <a:lnTo>
                  <a:pt x="811249" y="76199"/>
                </a:lnTo>
                <a:lnTo>
                  <a:pt x="814119" y="81279"/>
                </a:lnTo>
                <a:lnTo>
                  <a:pt x="815536" y="87629"/>
                </a:lnTo>
                <a:lnTo>
                  <a:pt x="815487" y="93979"/>
                </a:lnTo>
                <a:lnTo>
                  <a:pt x="814465" y="99059"/>
                </a:lnTo>
                <a:lnTo>
                  <a:pt x="696821" y="99059"/>
                </a:lnTo>
                <a:lnTo>
                  <a:pt x="614919" y="109219"/>
                </a:lnTo>
                <a:lnTo>
                  <a:pt x="568145" y="115569"/>
                </a:lnTo>
                <a:lnTo>
                  <a:pt x="473338" y="125729"/>
                </a:lnTo>
                <a:lnTo>
                  <a:pt x="425620" y="129539"/>
                </a:lnTo>
                <a:lnTo>
                  <a:pt x="401763" y="130809"/>
                </a:lnTo>
                <a:lnTo>
                  <a:pt x="276934" y="130809"/>
                </a:lnTo>
                <a:lnTo>
                  <a:pt x="266600" y="133349"/>
                </a:lnTo>
                <a:lnTo>
                  <a:pt x="255848" y="138429"/>
                </a:lnTo>
                <a:lnTo>
                  <a:pt x="245046" y="146049"/>
                </a:lnTo>
                <a:lnTo>
                  <a:pt x="234560" y="154939"/>
                </a:lnTo>
                <a:lnTo>
                  <a:pt x="229551" y="158749"/>
                </a:lnTo>
                <a:lnTo>
                  <a:pt x="224713" y="162559"/>
                </a:lnTo>
                <a:lnTo>
                  <a:pt x="220117" y="166369"/>
                </a:lnTo>
                <a:lnTo>
                  <a:pt x="213644" y="170179"/>
                </a:lnTo>
                <a:lnTo>
                  <a:pt x="200732" y="180339"/>
                </a:lnTo>
                <a:lnTo>
                  <a:pt x="194288" y="184149"/>
                </a:lnTo>
                <a:lnTo>
                  <a:pt x="304824" y="184149"/>
                </a:lnTo>
                <a:lnTo>
                  <a:pt x="354608" y="189229"/>
                </a:lnTo>
                <a:lnTo>
                  <a:pt x="404103" y="196849"/>
                </a:lnTo>
                <a:lnTo>
                  <a:pt x="453134" y="205739"/>
                </a:lnTo>
                <a:lnTo>
                  <a:pt x="501526" y="215899"/>
                </a:lnTo>
                <a:lnTo>
                  <a:pt x="524460" y="219709"/>
                </a:lnTo>
                <a:close/>
              </a:path>
              <a:path w="867409" h="941070">
                <a:moveTo>
                  <a:pt x="709012" y="227329"/>
                </a:moveTo>
                <a:lnTo>
                  <a:pt x="562035" y="227329"/>
                </a:lnTo>
                <a:lnTo>
                  <a:pt x="575164" y="214629"/>
                </a:lnTo>
                <a:lnTo>
                  <a:pt x="588102" y="203199"/>
                </a:lnTo>
                <a:lnTo>
                  <a:pt x="623698" y="167639"/>
                </a:lnTo>
                <a:lnTo>
                  <a:pt x="634154" y="157479"/>
                </a:lnTo>
                <a:lnTo>
                  <a:pt x="644750" y="147319"/>
                </a:lnTo>
                <a:lnTo>
                  <a:pt x="655473" y="137159"/>
                </a:lnTo>
                <a:lnTo>
                  <a:pt x="659928" y="133349"/>
                </a:lnTo>
                <a:lnTo>
                  <a:pt x="682648" y="111759"/>
                </a:lnTo>
                <a:lnTo>
                  <a:pt x="689605" y="105409"/>
                </a:lnTo>
                <a:lnTo>
                  <a:pt x="696821" y="99059"/>
                </a:lnTo>
                <a:lnTo>
                  <a:pt x="814465" y="99059"/>
                </a:lnTo>
                <a:lnTo>
                  <a:pt x="793453" y="134619"/>
                </a:lnTo>
                <a:lnTo>
                  <a:pt x="782765" y="146049"/>
                </a:lnTo>
                <a:lnTo>
                  <a:pt x="783288" y="147319"/>
                </a:lnTo>
                <a:lnTo>
                  <a:pt x="790549" y="199389"/>
                </a:lnTo>
                <a:lnTo>
                  <a:pt x="790821" y="205739"/>
                </a:lnTo>
                <a:lnTo>
                  <a:pt x="790930" y="208279"/>
                </a:lnTo>
                <a:lnTo>
                  <a:pt x="715880" y="208279"/>
                </a:lnTo>
                <a:lnTo>
                  <a:pt x="709012" y="227329"/>
                </a:lnTo>
                <a:close/>
              </a:path>
              <a:path w="867409" h="941070">
                <a:moveTo>
                  <a:pt x="328109" y="133349"/>
                </a:moveTo>
                <a:lnTo>
                  <a:pt x="276934" y="130809"/>
                </a:lnTo>
                <a:lnTo>
                  <a:pt x="401763" y="130809"/>
                </a:lnTo>
                <a:lnTo>
                  <a:pt x="377905" y="132079"/>
                </a:lnTo>
                <a:lnTo>
                  <a:pt x="353292" y="132079"/>
                </a:lnTo>
                <a:lnTo>
                  <a:pt x="328109" y="133349"/>
                </a:lnTo>
                <a:close/>
              </a:path>
              <a:path w="867409" h="941070">
                <a:moveTo>
                  <a:pt x="304824" y="184149"/>
                </a:moveTo>
                <a:lnTo>
                  <a:pt x="194288" y="184149"/>
                </a:lnTo>
                <a:lnTo>
                  <a:pt x="247086" y="181609"/>
                </a:lnTo>
                <a:lnTo>
                  <a:pt x="304824" y="184149"/>
                </a:lnTo>
                <a:close/>
              </a:path>
              <a:path w="867409" h="941070">
                <a:moveTo>
                  <a:pt x="788320" y="374649"/>
                </a:moveTo>
                <a:lnTo>
                  <a:pt x="622151" y="374649"/>
                </a:lnTo>
                <a:lnTo>
                  <a:pt x="624032" y="372109"/>
                </a:lnTo>
                <a:lnTo>
                  <a:pt x="642606" y="351789"/>
                </a:lnTo>
                <a:lnTo>
                  <a:pt x="683948" y="312419"/>
                </a:lnTo>
                <a:lnTo>
                  <a:pt x="706969" y="293369"/>
                </a:lnTo>
                <a:lnTo>
                  <a:pt x="708134" y="273049"/>
                </a:lnTo>
                <a:lnTo>
                  <a:pt x="709874" y="252729"/>
                </a:lnTo>
                <a:lnTo>
                  <a:pt x="712390" y="229869"/>
                </a:lnTo>
                <a:lnTo>
                  <a:pt x="715880" y="208279"/>
                </a:lnTo>
                <a:lnTo>
                  <a:pt x="790930" y="208279"/>
                </a:lnTo>
                <a:lnTo>
                  <a:pt x="792399" y="242569"/>
                </a:lnTo>
                <a:lnTo>
                  <a:pt x="792274" y="273049"/>
                </a:lnTo>
                <a:lnTo>
                  <a:pt x="792149" y="280669"/>
                </a:lnTo>
                <a:lnTo>
                  <a:pt x="792065" y="285749"/>
                </a:lnTo>
                <a:lnTo>
                  <a:pt x="791940" y="293369"/>
                </a:lnTo>
                <a:lnTo>
                  <a:pt x="791856" y="298449"/>
                </a:lnTo>
                <a:lnTo>
                  <a:pt x="789595" y="349249"/>
                </a:lnTo>
                <a:lnTo>
                  <a:pt x="788320" y="374649"/>
                </a:lnTo>
                <a:close/>
              </a:path>
              <a:path w="867409" h="941070">
                <a:moveTo>
                  <a:pt x="241043" y="941069"/>
                </a:moveTo>
                <a:lnTo>
                  <a:pt x="189259" y="939799"/>
                </a:lnTo>
                <a:lnTo>
                  <a:pt x="126796" y="927099"/>
                </a:lnTo>
                <a:lnTo>
                  <a:pt x="89716" y="902969"/>
                </a:lnTo>
                <a:lnTo>
                  <a:pt x="77838" y="869949"/>
                </a:lnTo>
                <a:lnTo>
                  <a:pt x="78682" y="857249"/>
                </a:lnTo>
                <a:lnTo>
                  <a:pt x="79688" y="850899"/>
                </a:lnTo>
                <a:lnTo>
                  <a:pt x="82394" y="843279"/>
                </a:lnTo>
                <a:lnTo>
                  <a:pt x="86407" y="838199"/>
                </a:lnTo>
                <a:lnTo>
                  <a:pt x="80845" y="835659"/>
                </a:lnTo>
                <a:lnTo>
                  <a:pt x="46748" y="787399"/>
                </a:lnTo>
                <a:lnTo>
                  <a:pt x="31881" y="739139"/>
                </a:lnTo>
                <a:lnTo>
                  <a:pt x="24435" y="685799"/>
                </a:lnTo>
                <a:lnTo>
                  <a:pt x="22100" y="634999"/>
                </a:lnTo>
                <a:lnTo>
                  <a:pt x="21884" y="539749"/>
                </a:lnTo>
                <a:lnTo>
                  <a:pt x="21772" y="533399"/>
                </a:lnTo>
                <a:lnTo>
                  <a:pt x="21704" y="529589"/>
                </a:lnTo>
                <a:lnTo>
                  <a:pt x="21441" y="519429"/>
                </a:lnTo>
                <a:lnTo>
                  <a:pt x="20187" y="458469"/>
                </a:lnTo>
                <a:lnTo>
                  <a:pt x="17634" y="391159"/>
                </a:lnTo>
                <a:lnTo>
                  <a:pt x="14275" y="350519"/>
                </a:lnTo>
                <a:lnTo>
                  <a:pt x="8641" y="316229"/>
                </a:lnTo>
                <a:lnTo>
                  <a:pt x="7263" y="307339"/>
                </a:lnTo>
                <a:lnTo>
                  <a:pt x="6007" y="299719"/>
                </a:lnTo>
                <a:lnTo>
                  <a:pt x="4948" y="290829"/>
                </a:lnTo>
                <a:lnTo>
                  <a:pt x="1750" y="285749"/>
                </a:lnTo>
                <a:lnTo>
                  <a:pt x="0" y="280669"/>
                </a:lnTo>
                <a:lnTo>
                  <a:pt x="100" y="270509"/>
                </a:lnTo>
                <a:lnTo>
                  <a:pt x="1387" y="266699"/>
                </a:lnTo>
                <a:lnTo>
                  <a:pt x="3771" y="262889"/>
                </a:lnTo>
                <a:lnTo>
                  <a:pt x="4176" y="255269"/>
                </a:lnTo>
                <a:lnTo>
                  <a:pt x="23970" y="219709"/>
                </a:lnTo>
                <a:lnTo>
                  <a:pt x="32547" y="218439"/>
                </a:lnTo>
                <a:lnTo>
                  <a:pt x="33271" y="218439"/>
                </a:lnTo>
                <a:lnTo>
                  <a:pt x="33985" y="219709"/>
                </a:lnTo>
                <a:lnTo>
                  <a:pt x="524460" y="219709"/>
                </a:lnTo>
                <a:lnTo>
                  <a:pt x="532105" y="220979"/>
                </a:lnTo>
                <a:lnTo>
                  <a:pt x="547160" y="224789"/>
                </a:lnTo>
                <a:lnTo>
                  <a:pt x="562035" y="227329"/>
                </a:lnTo>
                <a:lnTo>
                  <a:pt x="709012" y="227329"/>
                </a:lnTo>
                <a:lnTo>
                  <a:pt x="702602" y="245109"/>
                </a:lnTo>
                <a:lnTo>
                  <a:pt x="691095" y="264159"/>
                </a:lnTo>
                <a:lnTo>
                  <a:pt x="224110" y="264159"/>
                </a:lnTo>
                <a:lnTo>
                  <a:pt x="173140" y="265429"/>
                </a:lnTo>
                <a:lnTo>
                  <a:pt x="126460" y="273049"/>
                </a:lnTo>
                <a:lnTo>
                  <a:pt x="84214" y="283209"/>
                </a:lnTo>
                <a:lnTo>
                  <a:pt x="94720" y="322579"/>
                </a:lnTo>
                <a:lnTo>
                  <a:pt x="100734" y="365759"/>
                </a:lnTo>
                <a:lnTo>
                  <a:pt x="103716" y="407669"/>
                </a:lnTo>
                <a:lnTo>
                  <a:pt x="105125" y="448309"/>
                </a:lnTo>
                <a:lnTo>
                  <a:pt x="105734" y="468629"/>
                </a:lnTo>
                <a:lnTo>
                  <a:pt x="106045" y="476249"/>
                </a:lnTo>
                <a:lnTo>
                  <a:pt x="106533" y="486409"/>
                </a:lnTo>
                <a:lnTo>
                  <a:pt x="107294" y="500379"/>
                </a:lnTo>
                <a:lnTo>
                  <a:pt x="108586" y="529589"/>
                </a:lnTo>
                <a:lnTo>
                  <a:pt x="110482" y="575309"/>
                </a:lnTo>
                <a:lnTo>
                  <a:pt x="114596" y="640079"/>
                </a:lnTo>
                <a:lnTo>
                  <a:pt x="119654" y="683259"/>
                </a:lnTo>
                <a:lnTo>
                  <a:pt x="125804" y="713739"/>
                </a:lnTo>
                <a:lnTo>
                  <a:pt x="130535" y="736599"/>
                </a:lnTo>
                <a:lnTo>
                  <a:pt x="134248" y="759459"/>
                </a:lnTo>
                <a:lnTo>
                  <a:pt x="135844" y="782319"/>
                </a:lnTo>
                <a:lnTo>
                  <a:pt x="134312" y="803909"/>
                </a:lnTo>
                <a:lnTo>
                  <a:pt x="134222" y="805179"/>
                </a:lnTo>
                <a:lnTo>
                  <a:pt x="133166" y="812799"/>
                </a:lnTo>
                <a:lnTo>
                  <a:pt x="130380" y="819149"/>
                </a:lnTo>
                <a:lnTo>
                  <a:pt x="126407" y="824229"/>
                </a:lnTo>
                <a:lnTo>
                  <a:pt x="127926" y="824229"/>
                </a:lnTo>
                <a:lnTo>
                  <a:pt x="174554" y="836929"/>
                </a:lnTo>
                <a:lnTo>
                  <a:pt x="227720" y="840739"/>
                </a:lnTo>
                <a:lnTo>
                  <a:pt x="678635" y="840739"/>
                </a:lnTo>
                <a:lnTo>
                  <a:pt x="677009" y="842009"/>
                </a:lnTo>
                <a:lnTo>
                  <a:pt x="643158" y="867409"/>
                </a:lnTo>
                <a:lnTo>
                  <a:pt x="609602" y="890269"/>
                </a:lnTo>
                <a:lnTo>
                  <a:pt x="575110" y="890269"/>
                </a:lnTo>
                <a:lnTo>
                  <a:pt x="550510" y="896619"/>
                </a:lnTo>
                <a:lnTo>
                  <a:pt x="513422" y="904239"/>
                </a:lnTo>
                <a:lnTo>
                  <a:pt x="413252" y="923289"/>
                </a:lnTo>
                <a:lnTo>
                  <a:pt x="355908" y="930909"/>
                </a:lnTo>
                <a:lnTo>
                  <a:pt x="297548" y="937259"/>
                </a:lnTo>
                <a:lnTo>
                  <a:pt x="241043" y="941069"/>
                </a:lnTo>
                <a:close/>
              </a:path>
              <a:path w="867409" h="941070">
                <a:moveTo>
                  <a:pt x="520496" y="430529"/>
                </a:moveTo>
                <a:lnTo>
                  <a:pt x="514421" y="430529"/>
                </a:lnTo>
                <a:lnTo>
                  <a:pt x="505074" y="427989"/>
                </a:lnTo>
                <a:lnTo>
                  <a:pt x="497411" y="421639"/>
                </a:lnTo>
                <a:lnTo>
                  <a:pt x="492100" y="414019"/>
                </a:lnTo>
                <a:lnTo>
                  <a:pt x="489809" y="403859"/>
                </a:lnTo>
                <a:lnTo>
                  <a:pt x="491692" y="380999"/>
                </a:lnTo>
                <a:lnTo>
                  <a:pt x="498633" y="361949"/>
                </a:lnTo>
                <a:lnTo>
                  <a:pt x="508681" y="344169"/>
                </a:lnTo>
                <a:lnTo>
                  <a:pt x="519882" y="330199"/>
                </a:lnTo>
                <a:lnTo>
                  <a:pt x="517850" y="309879"/>
                </a:lnTo>
                <a:lnTo>
                  <a:pt x="475138" y="299719"/>
                </a:lnTo>
                <a:lnTo>
                  <a:pt x="428926" y="289559"/>
                </a:lnTo>
                <a:lnTo>
                  <a:pt x="380208" y="279399"/>
                </a:lnTo>
                <a:lnTo>
                  <a:pt x="329978" y="271779"/>
                </a:lnTo>
                <a:lnTo>
                  <a:pt x="279227" y="265429"/>
                </a:lnTo>
                <a:lnTo>
                  <a:pt x="224110" y="264159"/>
                </a:lnTo>
                <a:lnTo>
                  <a:pt x="691095" y="264159"/>
                </a:lnTo>
                <a:lnTo>
                  <a:pt x="682656" y="278129"/>
                </a:lnTo>
                <a:lnTo>
                  <a:pt x="659155" y="307339"/>
                </a:lnTo>
                <a:lnTo>
                  <a:pt x="635206" y="332739"/>
                </a:lnTo>
                <a:lnTo>
                  <a:pt x="629956" y="337819"/>
                </a:lnTo>
                <a:lnTo>
                  <a:pt x="624625" y="344169"/>
                </a:lnTo>
                <a:lnTo>
                  <a:pt x="619194" y="350519"/>
                </a:lnTo>
                <a:lnTo>
                  <a:pt x="621195" y="365759"/>
                </a:lnTo>
                <a:lnTo>
                  <a:pt x="622151" y="374649"/>
                </a:lnTo>
                <a:lnTo>
                  <a:pt x="788320" y="374649"/>
                </a:lnTo>
                <a:lnTo>
                  <a:pt x="788257" y="375919"/>
                </a:lnTo>
                <a:lnTo>
                  <a:pt x="787166" y="403859"/>
                </a:lnTo>
                <a:lnTo>
                  <a:pt x="786798" y="421639"/>
                </a:lnTo>
                <a:lnTo>
                  <a:pt x="786771" y="422909"/>
                </a:lnTo>
                <a:lnTo>
                  <a:pt x="786666" y="427989"/>
                </a:lnTo>
                <a:lnTo>
                  <a:pt x="527094" y="427989"/>
                </a:lnTo>
                <a:lnTo>
                  <a:pt x="525283" y="429259"/>
                </a:lnTo>
                <a:lnTo>
                  <a:pt x="523483" y="429259"/>
                </a:lnTo>
                <a:lnTo>
                  <a:pt x="520496" y="430529"/>
                </a:lnTo>
                <a:close/>
              </a:path>
              <a:path w="867409" h="941070">
                <a:moveTo>
                  <a:pt x="678635" y="840739"/>
                </a:moveTo>
                <a:lnTo>
                  <a:pt x="227720" y="840739"/>
                </a:lnTo>
                <a:lnTo>
                  <a:pt x="297607" y="835659"/>
                </a:lnTo>
                <a:lnTo>
                  <a:pt x="331015" y="830579"/>
                </a:lnTo>
                <a:lnTo>
                  <a:pt x="342089" y="829309"/>
                </a:lnTo>
                <a:lnTo>
                  <a:pt x="398236" y="821689"/>
                </a:lnTo>
                <a:lnTo>
                  <a:pt x="502495" y="803909"/>
                </a:lnTo>
                <a:lnTo>
                  <a:pt x="551243" y="792479"/>
                </a:lnTo>
                <a:lnTo>
                  <a:pt x="549728" y="786129"/>
                </a:lnTo>
                <a:lnTo>
                  <a:pt x="549127" y="779779"/>
                </a:lnTo>
                <a:lnTo>
                  <a:pt x="549448" y="773429"/>
                </a:lnTo>
                <a:lnTo>
                  <a:pt x="550699" y="767079"/>
                </a:lnTo>
                <a:lnTo>
                  <a:pt x="548367" y="732789"/>
                </a:lnTo>
                <a:lnTo>
                  <a:pt x="546015" y="695959"/>
                </a:lnTo>
                <a:lnTo>
                  <a:pt x="541738" y="623569"/>
                </a:lnTo>
                <a:lnTo>
                  <a:pt x="538923" y="576579"/>
                </a:lnTo>
                <a:lnTo>
                  <a:pt x="535814" y="525779"/>
                </a:lnTo>
                <a:lnTo>
                  <a:pt x="532609" y="477519"/>
                </a:lnTo>
                <a:lnTo>
                  <a:pt x="529153" y="431799"/>
                </a:lnTo>
                <a:lnTo>
                  <a:pt x="528960" y="429259"/>
                </a:lnTo>
                <a:lnTo>
                  <a:pt x="528864" y="427989"/>
                </a:lnTo>
                <a:lnTo>
                  <a:pt x="786666" y="427989"/>
                </a:lnTo>
                <a:lnTo>
                  <a:pt x="786788" y="458469"/>
                </a:lnTo>
                <a:lnTo>
                  <a:pt x="788050" y="497839"/>
                </a:lnTo>
                <a:lnTo>
                  <a:pt x="788832" y="510539"/>
                </a:lnTo>
                <a:lnTo>
                  <a:pt x="701658" y="510539"/>
                </a:lnTo>
                <a:lnTo>
                  <a:pt x="676798" y="547369"/>
                </a:lnTo>
                <a:lnTo>
                  <a:pt x="672031" y="553719"/>
                </a:lnTo>
                <a:lnTo>
                  <a:pt x="667210" y="561339"/>
                </a:lnTo>
                <a:lnTo>
                  <a:pt x="793107" y="561339"/>
                </a:lnTo>
                <a:lnTo>
                  <a:pt x="795730" y="584199"/>
                </a:lnTo>
                <a:lnTo>
                  <a:pt x="802947" y="618489"/>
                </a:lnTo>
                <a:lnTo>
                  <a:pt x="712762" y="618489"/>
                </a:lnTo>
                <a:lnTo>
                  <a:pt x="703852" y="626109"/>
                </a:lnTo>
                <a:lnTo>
                  <a:pt x="694747" y="634999"/>
                </a:lnTo>
                <a:lnTo>
                  <a:pt x="685452" y="643889"/>
                </a:lnTo>
                <a:lnTo>
                  <a:pt x="675971" y="654049"/>
                </a:lnTo>
                <a:lnTo>
                  <a:pt x="671949" y="659129"/>
                </a:lnTo>
                <a:lnTo>
                  <a:pt x="664141" y="669289"/>
                </a:lnTo>
                <a:lnTo>
                  <a:pt x="653380" y="684529"/>
                </a:lnTo>
                <a:lnTo>
                  <a:pt x="649699" y="689609"/>
                </a:lnTo>
                <a:lnTo>
                  <a:pt x="857770" y="689609"/>
                </a:lnTo>
                <a:lnTo>
                  <a:pt x="849556" y="701039"/>
                </a:lnTo>
                <a:lnTo>
                  <a:pt x="835973" y="713739"/>
                </a:lnTo>
                <a:lnTo>
                  <a:pt x="821548" y="723899"/>
                </a:lnTo>
                <a:lnTo>
                  <a:pt x="812587" y="728979"/>
                </a:lnTo>
                <a:lnTo>
                  <a:pt x="808363" y="732789"/>
                </a:lnTo>
                <a:lnTo>
                  <a:pt x="791652" y="745489"/>
                </a:lnTo>
                <a:lnTo>
                  <a:pt x="758061" y="773429"/>
                </a:lnTo>
                <a:lnTo>
                  <a:pt x="709529" y="816609"/>
                </a:lnTo>
                <a:lnTo>
                  <a:pt x="678635" y="840739"/>
                </a:lnTo>
                <a:close/>
              </a:path>
              <a:path w="867409" h="941070">
                <a:moveTo>
                  <a:pt x="793107" y="561339"/>
                </a:moveTo>
                <a:lnTo>
                  <a:pt x="667210" y="561339"/>
                </a:lnTo>
                <a:lnTo>
                  <a:pt x="672511" y="557529"/>
                </a:lnTo>
                <a:lnTo>
                  <a:pt x="677841" y="554989"/>
                </a:lnTo>
                <a:lnTo>
                  <a:pt x="698208" y="542289"/>
                </a:lnTo>
                <a:lnTo>
                  <a:pt x="700431" y="541019"/>
                </a:lnTo>
                <a:lnTo>
                  <a:pt x="702714" y="539749"/>
                </a:lnTo>
                <a:lnTo>
                  <a:pt x="702054" y="525779"/>
                </a:lnTo>
                <a:lnTo>
                  <a:pt x="701863" y="519429"/>
                </a:lnTo>
                <a:lnTo>
                  <a:pt x="701658" y="510539"/>
                </a:lnTo>
                <a:lnTo>
                  <a:pt x="788832" y="510539"/>
                </a:lnTo>
                <a:lnTo>
                  <a:pt x="790630" y="539749"/>
                </a:lnTo>
                <a:lnTo>
                  <a:pt x="793107" y="561339"/>
                </a:lnTo>
                <a:close/>
              </a:path>
              <a:path w="867409" h="941070">
                <a:moveTo>
                  <a:pt x="866574" y="669289"/>
                </a:moveTo>
                <a:lnTo>
                  <a:pt x="728412" y="669289"/>
                </a:lnTo>
                <a:lnTo>
                  <a:pt x="723836" y="657859"/>
                </a:lnTo>
                <a:lnTo>
                  <a:pt x="719708" y="645159"/>
                </a:lnTo>
                <a:lnTo>
                  <a:pt x="716021" y="632459"/>
                </a:lnTo>
                <a:lnTo>
                  <a:pt x="712762" y="618489"/>
                </a:lnTo>
                <a:lnTo>
                  <a:pt x="802947" y="618489"/>
                </a:lnTo>
                <a:lnTo>
                  <a:pt x="804551" y="626109"/>
                </a:lnTo>
                <a:lnTo>
                  <a:pt x="805043" y="628649"/>
                </a:lnTo>
                <a:lnTo>
                  <a:pt x="805587" y="631189"/>
                </a:lnTo>
                <a:lnTo>
                  <a:pt x="806100" y="633729"/>
                </a:lnTo>
                <a:lnTo>
                  <a:pt x="846241" y="633729"/>
                </a:lnTo>
                <a:lnTo>
                  <a:pt x="849097" y="634999"/>
                </a:lnTo>
                <a:lnTo>
                  <a:pt x="858008" y="640079"/>
                </a:lnTo>
                <a:lnTo>
                  <a:pt x="864141" y="647699"/>
                </a:lnTo>
                <a:lnTo>
                  <a:pt x="867238" y="656589"/>
                </a:lnTo>
                <a:lnTo>
                  <a:pt x="867150" y="661669"/>
                </a:lnTo>
                <a:lnTo>
                  <a:pt x="867040" y="668019"/>
                </a:lnTo>
                <a:lnTo>
                  <a:pt x="866574" y="669289"/>
                </a:lnTo>
                <a:close/>
              </a:path>
              <a:path w="867409" h="941070">
                <a:moveTo>
                  <a:pt x="846241" y="633729"/>
                </a:moveTo>
                <a:lnTo>
                  <a:pt x="806100" y="633729"/>
                </a:lnTo>
                <a:lnTo>
                  <a:pt x="814800" y="631189"/>
                </a:lnTo>
                <a:lnTo>
                  <a:pt x="823138" y="629919"/>
                </a:lnTo>
                <a:lnTo>
                  <a:pt x="837299" y="631189"/>
                </a:lnTo>
                <a:lnTo>
                  <a:pt x="843384" y="632459"/>
                </a:lnTo>
                <a:lnTo>
                  <a:pt x="846241" y="633729"/>
                </a:lnTo>
                <a:close/>
              </a:path>
              <a:path w="867409" h="941070">
                <a:moveTo>
                  <a:pt x="857770" y="689609"/>
                </a:moveTo>
                <a:lnTo>
                  <a:pt x="649699" y="689609"/>
                </a:lnTo>
                <a:lnTo>
                  <a:pt x="657595" y="684529"/>
                </a:lnTo>
                <a:lnTo>
                  <a:pt x="665322" y="679449"/>
                </a:lnTo>
                <a:lnTo>
                  <a:pt x="699318" y="660399"/>
                </a:lnTo>
                <a:lnTo>
                  <a:pt x="714532" y="660399"/>
                </a:lnTo>
                <a:lnTo>
                  <a:pt x="722317" y="664209"/>
                </a:lnTo>
                <a:lnTo>
                  <a:pt x="728412" y="669289"/>
                </a:lnTo>
                <a:lnTo>
                  <a:pt x="866574" y="669289"/>
                </a:lnTo>
                <a:lnTo>
                  <a:pt x="860508" y="685799"/>
                </a:lnTo>
                <a:lnTo>
                  <a:pt x="857770" y="689609"/>
                </a:lnTo>
                <a:close/>
              </a:path>
              <a:path w="867409" h="941070">
                <a:moveTo>
                  <a:pt x="595839" y="896619"/>
                </a:moveTo>
                <a:lnTo>
                  <a:pt x="589503" y="895349"/>
                </a:lnTo>
                <a:lnTo>
                  <a:pt x="584403" y="895349"/>
                </a:lnTo>
                <a:lnTo>
                  <a:pt x="579485" y="894079"/>
                </a:lnTo>
                <a:lnTo>
                  <a:pt x="575110" y="890269"/>
                </a:lnTo>
                <a:lnTo>
                  <a:pt x="609602" y="890269"/>
                </a:lnTo>
                <a:lnTo>
                  <a:pt x="607738" y="891539"/>
                </a:lnTo>
                <a:lnTo>
                  <a:pt x="602176" y="894079"/>
                </a:lnTo>
                <a:lnTo>
                  <a:pt x="595839" y="896619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</TotalTime>
  <Words>980</Words>
  <Application>Microsoft Office PowerPoint</Application>
  <PresentationFormat>Personnalisé</PresentationFormat>
  <Paragraphs>168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5" baseType="lpstr">
      <vt:lpstr>Arial</vt:lpstr>
      <vt:lpstr>Arial Black</vt:lpstr>
      <vt:lpstr>Calibri</vt:lpstr>
      <vt:lpstr>Cambria</vt:lpstr>
      <vt:lpstr>Lucida Sans Unicode</vt:lpstr>
      <vt:lpstr>Myriad Pro</vt:lpstr>
      <vt:lpstr>Palatino Linotype</vt:lpstr>
      <vt:lpstr>Tahoma</vt:lpstr>
      <vt:lpstr>Times New Roman</vt:lpstr>
      <vt:lpstr>Verdana</vt:lpstr>
      <vt:lpstr>Office Theme</vt:lpstr>
      <vt:lpstr>Data Scientist Projet 4</vt:lpstr>
      <vt:lpstr>Sommaire</vt:lpstr>
      <vt:lpstr>PROBLEMATIQUE</vt:lpstr>
      <vt:lpstr>Quelles sont les pistes de recherches ?</vt:lpstr>
      <vt:lpstr>Un DataSet contentant les informations sur les types et consommations en énergie des bâtiments</vt:lpstr>
      <vt:lpstr>Les différentes étapes du nettoyage Feature engineering</vt:lpstr>
      <vt:lpstr>Quelles sont les différentes étapes du nettoyage ?</vt:lpstr>
      <vt:lpstr>Feature engineering</vt:lpstr>
      <vt:lpstr>Analyse de la distribution des variables cibles</vt:lpstr>
      <vt:lpstr>Analyse exploratoire</vt:lpstr>
      <vt:lpstr>Présentation PowerPoint</vt:lpstr>
      <vt:lpstr>Démarche de modélisation Modèles pour la consommation en énergie  Modèles pour les émissions de Co2</vt:lpstr>
      <vt:lpstr>Démarche de modélisation</vt:lpstr>
      <vt:lpstr>Modèles pour la consommation totale d'énergie</vt:lpstr>
      <vt:lpstr>Feature importance pour la consommation totale d'énergie</vt:lpstr>
      <vt:lpstr>Modèles pour les émissions de C02</vt:lpstr>
      <vt:lpstr>Feature importance pour les emissions de CO2</vt:lpstr>
      <vt:lpstr>Comparaison de la métrique et du temps</vt:lpstr>
      <vt:lpstr>Entrainement du modèle Feature importance</vt:lpstr>
      <vt:lpstr>Entraînement du meilleur modèle</vt:lpstr>
      <vt:lpstr>Feature importance de l'Energy Star score</vt:lpstr>
      <vt:lpstr>Pistes d'améliorations possible</vt:lpstr>
      <vt:lpstr>Présentation PowerPoint</vt:lpstr>
      <vt:lpstr>Merci de votre attention    Questions - Réponses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Anticipez les besoins en consommation électrique de bâtiments</dc:title>
  <dc:creator>Dolores Valide</dc:creator>
  <cp:keywords>DAE86kF42Fc,BAExck_uUds</cp:keywords>
  <cp:lastModifiedBy>Souhaila El Haouzi</cp:lastModifiedBy>
  <cp:revision>2</cp:revision>
  <dcterms:created xsi:type="dcterms:W3CDTF">2025-04-07T20:14:56Z</dcterms:created>
  <dcterms:modified xsi:type="dcterms:W3CDTF">2025-04-11T19:40:40Z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2022-04-25T00:00:00Z</vt:filetime>
  </property>
  <property fmtid="{D5CDD505-2E9C-101B-9397-08002B2CF9AE}" pid="3" name="Creator">
    <vt:lpwstr>Canva</vt:lpwstr>
  </property>
  <property fmtid="{D5CDD505-2E9C-101B-9397-08002B2CF9AE}" pid="4" name="LastSaved">
    <vt:filetime>2025-04-07T00:00:00Z</vt:filetime>
  </property>
  <property fmtid="{D5CDD505-2E9C-101B-9397-08002B2CF9AE}" pid="5" name="Producer">
    <vt:lpwstr>Canva</vt:lpwstr>
  </property>
</Properties>
</file>